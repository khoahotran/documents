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1.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drawingml.chartshapes+xml" PartName="/ppt/drawings/drawing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Lst>
  <p:sldSz cy="6858000" cx="12192000"/>
  <p:notesSz cx="6858000" cy="9144000"/>
  <p:embeddedFontLst>
    <p:embeddedFont>
      <p:font typeface="Quattrocento Sans"/>
      <p:regular r:id="rId187"/>
      <p:bold r:id="rId188"/>
      <p:italic r:id="rId189"/>
      <p:boldItalic r:id="rId1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91" roundtripDataSignature="AMtx7mhAaLxRlqc2alrIeqXz2JhPHCDk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font" Target="fonts/QuattrocentoSans-bold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91" Type="http://customschemas.google.com/relationships/presentationmetadata" Target="metadata"/><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187" Type="http://schemas.openxmlformats.org/officeDocument/2006/relationships/font" Target="fonts/QuattrocentoSans-regular.fntdata"/><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89" Type="http://schemas.openxmlformats.org/officeDocument/2006/relationships/font" Target="fonts/QuattrocentoSans-italic.fntdata"/><Relationship Id="rId100" Type="http://schemas.openxmlformats.org/officeDocument/2006/relationships/slide" Target="slides/slide95.xml"/><Relationship Id="rId188" Type="http://schemas.openxmlformats.org/officeDocument/2006/relationships/font" Target="fonts/QuattrocentoSans-bold.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149" Type="http://schemas.openxmlformats.org/officeDocument/2006/relationships/slide" Target="slides/slide144.xml"/><Relationship Id="rId4" Type="http://schemas.openxmlformats.org/officeDocument/2006/relationships/slideMaster" Target="slideMasters/slideMaster2.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Data</a:t>
            </a:r>
            <a:r>
              <a:rPr lang="en-US" baseline="0" dirty="0"/>
              <a:t> Driven Comp VS Competitor’s </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None-Data driven</c:v>
                </c:pt>
              </c:strCache>
            </c:strRef>
          </c:tx>
          <c:spPr>
            <a:solidFill>
              <a:schemeClr val="accent1"/>
            </a:solidFill>
            <a:ln>
              <a:noFill/>
            </a:ln>
            <a:effectLst/>
          </c:spPr>
          <c:invertIfNegative val="0"/>
          <c:cat>
            <c:strRef>
              <c:f>Sheet1!$A$2:$A$3</c:f>
              <c:strCache>
                <c:ptCount val="2"/>
                <c:pt idx="0">
                  <c:v>PROFIT</c:v>
                </c:pt>
                <c:pt idx="1">
                  <c:v>PRODUCTIVE</c:v>
                </c:pt>
              </c:strCache>
            </c:strRef>
          </c:cat>
          <c:val>
            <c:numRef>
              <c:f>Sheet1!$B$2:$B$3</c:f>
              <c:numCache>
                <c:formatCode>General</c:formatCode>
                <c:ptCount val="2"/>
                <c:pt idx="0">
                  <c:v>94</c:v>
                </c:pt>
                <c:pt idx="1">
                  <c:v>45</c:v>
                </c:pt>
              </c:numCache>
            </c:numRef>
          </c:val>
          <c:extLst>
            <c:ext xmlns:c16="http://schemas.microsoft.com/office/drawing/2014/chart" uri="{C3380CC4-5D6E-409C-BE32-E72D297353CC}">
              <c16:uniqueId val="{00000000-931E-4775-9C55-5A64ED3D2196}"/>
            </c:ext>
          </c:extLst>
        </c:ser>
        <c:ser>
          <c:idx val="1"/>
          <c:order val="1"/>
          <c:tx>
            <c:strRef>
              <c:f>Sheet1!$C$1</c:f>
              <c:strCache>
                <c:ptCount val="1"/>
                <c:pt idx="0">
                  <c:v>Data Driven</c:v>
                </c:pt>
              </c:strCache>
            </c:strRef>
          </c:tx>
          <c:spPr>
            <a:solidFill>
              <a:schemeClr val="accent6"/>
            </a:solidFill>
            <a:ln>
              <a:noFill/>
            </a:ln>
            <a:effectLst/>
          </c:spPr>
          <c:invertIfNegative val="0"/>
          <c:cat>
            <c:strRef>
              <c:f>Sheet1!$A$2:$A$3</c:f>
              <c:strCache>
                <c:ptCount val="2"/>
                <c:pt idx="0">
                  <c:v>PROFIT</c:v>
                </c:pt>
                <c:pt idx="1">
                  <c:v>PRODUCTIVE</c:v>
                </c:pt>
              </c:strCache>
            </c:strRef>
          </c:cat>
          <c:val>
            <c:numRef>
              <c:f>Sheet1!$C$2:$C$3</c:f>
              <c:numCache>
                <c:formatCode>General</c:formatCode>
                <c:ptCount val="2"/>
                <c:pt idx="0">
                  <c:v>100</c:v>
                </c:pt>
                <c:pt idx="1">
                  <c:v>50</c:v>
                </c:pt>
              </c:numCache>
            </c:numRef>
          </c:val>
          <c:extLst>
            <c:ext xmlns:c16="http://schemas.microsoft.com/office/drawing/2014/chart" uri="{C3380CC4-5D6E-409C-BE32-E72D297353CC}">
              <c16:uniqueId val="{00000001-931E-4775-9C55-5A64ED3D2196}"/>
            </c:ext>
          </c:extLst>
        </c:ser>
        <c:dLbls>
          <c:showLegendKey val="0"/>
          <c:showVal val="0"/>
          <c:showCatName val="0"/>
          <c:showSerName val="0"/>
          <c:showPercent val="0"/>
          <c:showBubbleSize val="0"/>
        </c:dLbls>
        <c:gapWidth val="219"/>
        <c:overlap val="-27"/>
        <c:axId val="553338112"/>
        <c:axId val="480767872"/>
      </c:barChart>
      <c:catAx>
        <c:axId val="55333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0767872"/>
        <c:crosses val="autoZero"/>
        <c:auto val="1"/>
        <c:lblAlgn val="ctr"/>
        <c:lblOffset val="100"/>
        <c:noMultiLvlLbl val="0"/>
      </c:catAx>
      <c:valAx>
        <c:axId val="48076787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55333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0.13081</cdr:x>
      <cdr:y>0.12231</cdr:y>
    </cdr:from>
    <cdr:to>
      <cdr:x>0.40445</cdr:x>
      <cdr:y>0.20875</cdr:y>
    </cdr:to>
    <cdr:sp macro="" textlink="">
      <cdr:nvSpPr>
        <cdr:cNvPr id="2" name="TextBox 1">
          <a:extLst xmlns:a="http://schemas.openxmlformats.org/drawingml/2006/main">
            <a:ext uri="{FF2B5EF4-FFF2-40B4-BE49-F238E27FC236}">
              <a16:creationId xmlns:a16="http://schemas.microsoft.com/office/drawing/2014/main" id="{94C42DBC-7BD1-4A69-820E-5CBEFB326203}"/>
            </a:ext>
          </a:extLst>
        </cdr:cNvPr>
        <cdr:cNvSpPr txBox="1"/>
      </cdr:nvSpPr>
      <cdr:spPr>
        <a:xfrm xmlns:a="http://schemas.openxmlformats.org/drawingml/2006/main">
          <a:off x="675574" y="662781"/>
          <a:ext cx="1413164" cy="46838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100" dirty="0"/>
            <a:t>6% </a:t>
          </a:r>
          <a:br>
            <a:rPr lang="en-US" sz="1100" dirty="0"/>
          </a:br>
          <a:r>
            <a:rPr lang="en-US" sz="1100" dirty="0"/>
            <a:t>increase</a:t>
          </a:r>
        </a:p>
      </cdr:txBody>
    </cdr:sp>
  </cdr:relSizeAnchor>
  <cdr:relSizeAnchor xmlns:cdr="http://schemas.openxmlformats.org/drawingml/2006/chartDrawing">
    <cdr:from>
      <cdr:x>0.61893</cdr:x>
      <cdr:y>0.43412</cdr:y>
    </cdr:from>
    <cdr:to>
      <cdr:x>0.89257</cdr:x>
      <cdr:y>0.52056</cdr:y>
    </cdr:to>
    <cdr:sp macro="" textlink="">
      <cdr:nvSpPr>
        <cdr:cNvPr id="3" name="TextBox 1">
          <a:extLst xmlns:a="http://schemas.openxmlformats.org/drawingml/2006/main">
            <a:ext uri="{FF2B5EF4-FFF2-40B4-BE49-F238E27FC236}">
              <a16:creationId xmlns:a16="http://schemas.microsoft.com/office/drawing/2014/main" id="{6FB6CE61-BE05-46F2-A27D-2A5BC856DE4E}"/>
            </a:ext>
          </a:extLst>
        </cdr:cNvPr>
        <cdr:cNvSpPr txBox="1"/>
      </cdr:nvSpPr>
      <cdr:spPr>
        <a:xfrm xmlns:a="http://schemas.openxmlformats.org/drawingml/2006/main">
          <a:off x="3196441" y="2352376"/>
          <a:ext cx="1413164" cy="468385"/>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t>5</a:t>
          </a:r>
          <a:r>
            <a:rPr lang="en-US" sz="1100" dirty="0"/>
            <a:t>% </a:t>
          </a:r>
          <a:br>
            <a:rPr lang="en-US" sz="1100" dirty="0"/>
          </a:br>
          <a:r>
            <a:rPr lang="en-US" sz="1100" dirty="0"/>
            <a:t>increase</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artner.com/"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solutions/devops/devops-process-working-in-small-batches"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DevOps is the change in IT culture. It focuses on rapid IT service delivery through the adoption of agile and lean practices in the context of a system-oriented approach according to </a:t>
            </a:r>
            <a:r>
              <a:rPr b="0" i="0" lang="en-US" sz="1100" u="sng" cap="none" strike="noStrike">
                <a:solidFill>
                  <a:srgbClr val="000000"/>
                </a:solidFill>
                <a:latin typeface="Arial"/>
                <a:ea typeface="Arial"/>
                <a:cs typeface="Arial"/>
                <a:sym typeface="Arial"/>
                <a:hlinkClick r:id="rId2">
                  <a:extLst>
                    <a:ext uri="{A12FA001-AC4F-418D-AE19-62706E023703}">
                      <ahyp:hlinkClr val="tx"/>
                    </a:ext>
                  </a:extLst>
                </a:hlinkClick>
              </a:rPr>
              <a:t>Gartner</a:t>
            </a:r>
            <a:r>
              <a:rPr b="0" i="0" lang="en-US" sz="1100" u="none" cap="none" strike="noStrike">
                <a:solidFill>
                  <a:srgbClr val="000000"/>
                </a:solidFill>
                <a:latin typeface="Arial"/>
                <a:ea typeface="Arial"/>
                <a:cs typeface="Arial"/>
                <a:sym typeface="Arial"/>
              </a:rPr>
              <a:t>. An amalgamation of two words, ‘development’ and ‘operations’ it aims at combining software development and software operations. It breaks the barrier between development and operation teams. The collaborative work between them leads to the benefit of combined skill.</a:t>
            </a:r>
            <a:endParaRPr/>
          </a:p>
        </p:txBody>
      </p:sp>
      <p:sp>
        <p:nvSpPr>
          <p:cNvPr id="116" name="Google Shape;11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Font typeface="Arial"/>
              <a:buNone/>
            </a:pPr>
            <a:r>
              <a:t/>
            </a:r>
            <a:endParaRPr/>
          </a:p>
        </p:txBody>
      </p:sp>
      <p:sp>
        <p:nvSpPr>
          <p:cNvPr id="129" name="Google Shape;12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01600" lvl="0" marL="171450" rtl="0" algn="l">
              <a:lnSpc>
                <a:spcPct val="100000"/>
              </a:lnSpc>
              <a:spcBef>
                <a:spcPts val="0"/>
              </a:spcBef>
              <a:spcAft>
                <a:spcPts val="0"/>
              </a:spcAft>
              <a:buSzPts val="1100"/>
              <a:buFont typeface="Arial"/>
              <a:buNone/>
            </a:pPr>
            <a:r>
              <a:t/>
            </a:r>
            <a:endParaRPr/>
          </a:p>
        </p:txBody>
      </p:sp>
      <p:sp>
        <p:nvSpPr>
          <p:cNvPr id="140" name="Google Shape;14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DevOps team formation. (a) Traditional horizontal teams. (b) Vertical teams in DevOps. In DevOps, each team is responsible for a service and contains people with different skills, such as development and operations skills. The team members cooperate from the project's start to create more value for the particular service's end users</a:t>
            </a:r>
            <a:endParaRPr/>
          </a:p>
        </p:txBody>
      </p:sp>
      <p:sp>
        <p:nvSpPr>
          <p:cNvPr id="151" name="Google Shape;151;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01600" lvl="0" marL="171450" rtl="0" algn="l">
              <a:lnSpc>
                <a:spcPct val="100000"/>
              </a:lnSpc>
              <a:spcBef>
                <a:spcPts val="0"/>
              </a:spcBef>
              <a:spcAft>
                <a:spcPts val="0"/>
              </a:spcAft>
              <a:buSzPts val="1100"/>
              <a:buFont typeface="Arial"/>
              <a:buNone/>
            </a:pPr>
            <a:r>
              <a:t/>
            </a:r>
            <a:endParaRPr/>
          </a:p>
        </p:txBody>
      </p:sp>
      <p:sp>
        <p:nvSpPr>
          <p:cNvPr id="162" name="Google Shape;162;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01600" lvl="0" marL="171450" rtl="0" algn="l">
              <a:lnSpc>
                <a:spcPct val="100000"/>
              </a:lnSpc>
              <a:spcBef>
                <a:spcPts val="0"/>
              </a:spcBef>
              <a:spcAft>
                <a:spcPts val="0"/>
              </a:spcAft>
              <a:buSzPts val="1100"/>
              <a:buFont typeface="Arial"/>
              <a:buNone/>
            </a:pPr>
            <a:r>
              <a:t/>
            </a:r>
            <a:endParaRPr/>
          </a:p>
        </p:txBody>
      </p:sp>
      <p:sp>
        <p:nvSpPr>
          <p:cNvPr id="173" name="Google Shape;17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01600" lvl="0" marL="171450" rtl="0" algn="l">
              <a:lnSpc>
                <a:spcPct val="100000"/>
              </a:lnSpc>
              <a:spcBef>
                <a:spcPts val="0"/>
              </a:spcBef>
              <a:spcAft>
                <a:spcPts val="0"/>
              </a:spcAft>
              <a:buSzPts val="1100"/>
              <a:buFont typeface="Arial"/>
              <a:buNone/>
            </a:pPr>
            <a:r>
              <a:t/>
            </a:r>
            <a:endParaRPr/>
          </a:p>
        </p:txBody>
      </p:sp>
      <p:sp>
        <p:nvSpPr>
          <p:cNvPr id="183" name="Google Shape;183;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rtl="0" algn="l">
              <a:lnSpc>
                <a:spcPct val="100000"/>
              </a:lnSpc>
              <a:spcBef>
                <a:spcPts val="0"/>
              </a:spcBef>
              <a:spcAft>
                <a:spcPts val="0"/>
              </a:spcAft>
              <a:buSzPts val="1100"/>
              <a:buFont typeface="Arial"/>
              <a:buChar char="-"/>
            </a:pPr>
            <a:r>
              <a:rPr b="0" i="0" lang="en-US" sz="1100" u="none" cap="none" strike="noStrike">
                <a:solidFill>
                  <a:srgbClr val="000000"/>
                </a:solidFill>
                <a:latin typeface="Arial"/>
                <a:ea typeface="Arial"/>
                <a:cs typeface="Arial"/>
                <a:sym typeface="Arial"/>
              </a:rPr>
              <a:t>Commit in trunk at least once a day</a:t>
            </a:r>
            <a:endParaRPr/>
          </a:p>
          <a:p>
            <a:pPr indent="-171450" lvl="0" marL="171450" rtl="0" algn="l">
              <a:lnSpc>
                <a:spcPct val="100000"/>
              </a:lnSpc>
              <a:spcBef>
                <a:spcPts val="0"/>
              </a:spcBef>
              <a:spcAft>
                <a:spcPts val="0"/>
              </a:spcAft>
              <a:buSzPts val="1100"/>
              <a:buFont typeface="Arial"/>
              <a:buChar char="-"/>
            </a:pPr>
            <a:r>
              <a:rPr b="0" i="0" lang="en-US" sz="1100" u="none" cap="none" strike="noStrike">
                <a:solidFill>
                  <a:srgbClr val="000000"/>
                </a:solidFill>
                <a:latin typeface="Arial"/>
                <a:ea typeface="Arial"/>
                <a:cs typeface="Arial"/>
                <a:sym typeface="Arial"/>
              </a:rPr>
              <a:t>Trunk is always in releasable state</a:t>
            </a:r>
            <a:endParaRPr/>
          </a:p>
          <a:p>
            <a:pPr indent="-171450" lvl="0" marL="171450" rtl="0" algn="l">
              <a:lnSpc>
                <a:spcPct val="100000"/>
              </a:lnSpc>
              <a:spcBef>
                <a:spcPts val="0"/>
              </a:spcBef>
              <a:spcAft>
                <a:spcPts val="0"/>
              </a:spcAft>
              <a:buSzPts val="1100"/>
              <a:buFont typeface="Arial"/>
              <a:buChar char="-"/>
            </a:pPr>
            <a:r>
              <a:rPr b="0" i="0" lang="en-US" sz="1100" u="none" cap="none" strike="noStrike">
                <a:solidFill>
                  <a:srgbClr val="000000"/>
                </a:solidFill>
                <a:latin typeface="Arial"/>
                <a:ea typeface="Arial"/>
                <a:cs typeface="Arial"/>
                <a:sym typeface="Arial"/>
              </a:rPr>
              <a:t>Hide unfinished code with feature flag</a:t>
            </a:r>
            <a:endParaRPr/>
          </a:p>
          <a:p>
            <a:pPr indent="-171450" lvl="0" marL="171450" rtl="0" algn="l">
              <a:lnSpc>
                <a:spcPct val="100000"/>
              </a:lnSpc>
              <a:spcBef>
                <a:spcPts val="0"/>
              </a:spcBef>
              <a:spcAft>
                <a:spcPts val="0"/>
              </a:spcAft>
              <a:buSzPts val="1100"/>
              <a:buFont typeface="Arial"/>
              <a:buChar char="-"/>
            </a:pPr>
            <a:r>
              <a:rPr b="0" i="0" lang="en-US" sz="1100" u="none" cap="none" strike="noStrike">
                <a:solidFill>
                  <a:srgbClr val="000000"/>
                </a:solidFill>
                <a:latin typeface="Arial"/>
                <a:ea typeface="Arial"/>
                <a:cs typeface="Arial"/>
                <a:sym typeface="Arial"/>
              </a:rPr>
              <a:t>Refactor with branch by abstraction</a:t>
            </a:r>
            <a:endParaRPr/>
          </a:p>
          <a:p>
            <a:pPr indent="-171450" lvl="0" marL="171450" rtl="0" algn="l">
              <a:lnSpc>
                <a:spcPct val="100000"/>
              </a:lnSpc>
              <a:spcBef>
                <a:spcPts val="0"/>
              </a:spcBef>
              <a:spcAft>
                <a:spcPts val="0"/>
              </a:spcAft>
              <a:buSzPts val="1100"/>
              <a:buFont typeface="Arial"/>
              <a:buChar char="-"/>
            </a:pPr>
            <a:r>
              <a:rPr lang="en-US"/>
              <a:t>Do not break the trunk. Commits are reviewed and must pass automated tests.</a:t>
            </a:r>
            <a:br>
              <a:rPr b="0" i="0" lang="en-US" sz="1100" u="none" cap="none" strike="noStrike">
                <a:solidFill>
                  <a:srgbClr val="000000"/>
                </a:solidFill>
                <a:latin typeface="Arial"/>
                <a:ea typeface="Arial"/>
                <a:cs typeface="Arial"/>
                <a:sym typeface="Arial"/>
              </a:rPr>
            </a:br>
            <a:br>
              <a:rPr b="0"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Advances:</a:t>
            </a:r>
            <a:br>
              <a:rPr b="0" i="0" lang="en-US" sz="1100" u="none" cap="none" strike="noStrike">
                <a:solidFill>
                  <a:srgbClr val="000000"/>
                </a:solidFill>
                <a:latin typeface="Arial"/>
                <a:ea typeface="Arial"/>
                <a:cs typeface="Arial"/>
                <a:sym typeface="Arial"/>
              </a:rPr>
            </a:br>
            <a:endParaRPr b="0" i="0" sz="1100" u="none" cap="none" strike="noStrike">
              <a:solidFill>
                <a:srgbClr val="000000"/>
              </a:solidFill>
              <a:latin typeface="Arial"/>
              <a:ea typeface="Arial"/>
              <a:cs typeface="Arial"/>
              <a:sym typeface="Arial"/>
            </a:endParaRPr>
          </a:p>
          <a:p>
            <a:pPr indent="-171450" lvl="0" marL="171450" rtl="0" algn="l">
              <a:lnSpc>
                <a:spcPct val="100000"/>
              </a:lnSpc>
              <a:spcBef>
                <a:spcPts val="0"/>
              </a:spcBef>
              <a:spcAft>
                <a:spcPts val="0"/>
              </a:spcAft>
              <a:buSzPts val="1100"/>
              <a:buFont typeface="Arial"/>
              <a:buChar char="-"/>
            </a:pPr>
            <a:r>
              <a:rPr b="0" i="0" lang="en-US" sz="1100" u="none" cap="none" strike="noStrike">
                <a:solidFill>
                  <a:srgbClr val="000000"/>
                </a:solidFill>
                <a:latin typeface="Arial"/>
                <a:ea typeface="Arial"/>
                <a:cs typeface="Arial"/>
                <a:sym typeface="Arial"/>
              </a:rPr>
              <a:t>Lean</a:t>
            </a:r>
            <a:endParaRPr/>
          </a:p>
          <a:p>
            <a:pPr indent="-171450" lvl="0" marL="171450" rtl="0" algn="l">
              <a:lnSpc>
                <a:spcPct val="100000"/>
              </a:lnSpc>
              <a:spcBef>
                <a:spcPts val="0"/>
              </a:spcBef>
              <a:spcAft>
                <a:spcPts val="0"/>
              </a:spcAft>
              <a:buSzPts val="1100"/>
              <a:buFont typeface="Arial"/>
              <a:buChar char="-"/>
            </a:pPr>
            <a:r>
              <a:rPr b="0" i="0" lang="en-US" sz="1100" u="none" cap="none" strike="noStrike">
                <a:solidFill>
                  <a:srgbClr val="000000"/>
                </a:solidFill>
                <a:latin typeface="Arial"/>
                <a:ea typeface="Arial"/>
                <a:cs typeface="Arial"/>
                <a:sym typeface="Arial"/>
              </a:rPr>
              <a:t>Can release at any time</a:t>
            </a:r>
            <a:endParaRPr/>
          </a:p>
          <a:p>
            <a:pPr indent="-171450" lvl="0" marL="171450" rtl="0" algn="l">
              <a:lnSpc>
                <a:spcPct val="100000"/>
              </a:lnSpc>
              <a:spcBef>
                <a:spcPts val="0"/>
              </a:spcBef>
              <a:spcAft>
                <a:spcPts val="0"/>
              </a:spcAft>
              <a:buSzPts val="1100"/>
              <a:buFont typeface="Arial"/>
              <a:buChar char="-"/>
            </a:pPr>
            <a:r>
              <a:rPr b="0" i="0" lang="en-US" sz="1100" u="none" cap="none" strike="noStrike">
                <a:solidFill>
                  <a:srgbClr val="000000"/>
                </a:solidFill>
                <a:latin typeface="Arial"/>
                <a:ea typeface="Arial"/>
                <a:cs typeface="Arial"/>
                <a:sym typeface="Arial"/>
              </a:rPr>
              <a:t>No merge hell</a:t>
            </a:r>
            <a:br>
              <a:rPr b="0" i="0" lang="en-US" sz="1100" u="none" cap="none" strike="noStrike">
                <a:solidFill>
                  <a:srgbClr val="000000"/>
                </a:solidFill>
                <a:latin typeface="Arial"/>
                <a:ea typeface="Arial"/>
                <a:cs typeface="Arial"/>
                <a:sym typeface="Arial"/>
              </a:rPr>
            </a:br>
            <a:br>
              <a:rPr b="0" i="0" lang="en-US" sz="1100" u="none" cap="none" strike="noStrike">
                <a:solidFill>
                  <a:srgbClr val="000000"/>
                </a:solidFill>
                <a:latin typeface="Arial"/>
                <a:ea typeface="Arial"/>
                <a:cs typeface="Arial"/>
                <a:sym typeface="Arial"/>
              </a:rPr>
            </a:br>
            <a:endParaRPr b="0" i="0" sz="11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where each developer divides their own </a:t>
            </a:r>
            <a:r>
              <a:rPr b="0" i="0" lang="en-US" sz="1100" u="sng" cap="none" strike="noStrike">
                <a:solidFill>
                  <a:srgbClr val="000000"/>
                </a:solidFill>
                <a:latin typeface="Arial"/>
                <a:ea typeface="Arial"/>
                <a:cs typeface="Arial"/>
                <a:sym typeface="Arial"/>
                <a:hlinkClick r:id="rId2">
                  <a:extLst>
                    <a:ext uri="{A12FA001-AC4F-418D-AE19-62706E023703}">
                      <ahyp:hlinkClr val="tx"/>
                    </a:ext>
                  </a:extLst>
                </a:hlinkClick>
              </a:rPr>
              <a:t>work into small batches</a:t>
            </a:r>
            <a:r>
              <a:rPr b="0" i="0" lang="en-US" sz="1100" u="none" cap="none" strike="noStrike">
                <a:solidFill>
                  <a:srgbClr val="000000"/>
                </a:solidFill>
                <a:latin typeface="Arial"/>
                <a:ea typeface="Arial"/>
                <a:cs typeface="Arial"/>
                <a:sym typeface="Arial"/>
              </a:rPr>
              <a:t> and merges that work into trunk at least once (and potentially several times) a day.</a:t>
            </a:r>
            <a:br>
              <a:rPr b="0"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In trunk-based development, developers push code directly into trunk. Changes made in the release branches—snapshots of the code when it's ready to be released—are usually merged back to trunk (depicted by the downward arrows) as soon as possible.</a:t>
            </a:r>
            <a:br>
              <a:rPr b="0"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there are cases where bug fixes must be cherry picked and merged into releases</a:t>
            </a:r>
            <a:br>
              <a:rPr b="0"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reduces the complexity of merging events and keeps code current by having fewer development lines and by doing small and frequent merges.</a:t>
            </a:r>
            <a:endParaRPr/>
          </a:p>
        </p:txBody>
      </p:sp>
      <p:sp>
        <p:nvSpPr>
          <p:cNvPr id="311" name="Google Shape;311;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Because feature flags are implemented at the code level, you can control deep functional features and then target user segments. For example, let’s say I want to test a new sign-up flow and welcome tutorial (see above). I can flag the new functional components so that only certain users will receive the new flow.</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With a suite like LaunchDarkly, you can then analyze these feature tests using your Optimizely or New Relic goals. This will allow you to see, for example, which sign up flow is generating better conversions or which check out flow is generating more revenue.</a:t>
            </a:r>
            <a:endParaRPr/>
          </a:p>
        </p:txBody>
      </p:sp>
      <p:sp>
        <p:nvSpPr>
          <p:cNvPr id="324" name="Google Shape;32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Microservices: Small autonomous services that work together, modelled around a business domain</a:t>
            </a:r>
            <a:br>
              <a:rPr lang="en-US"/>
            </a:br>
            <a:br>
              <a:rPr lang="en-US"/>
            </a:br>
            <a:r>
              <a:rPr lang="en-US"/>
              <a:t>Traditional architect:</a:t>
            </a:r>
            <a:br>
              <a:rPr lang="en-US"/>
            </a:br>
            <a:r>
              <a:rPr lang="en-US"/>
              <a:t>- </a:t>
            </a:r>
            <a:r>
              <a:rPr b="0" i="0" lang="en-US" sz="1100" u="none" cap="none" strike="noStrike">
                <a:solidFill>
                  <a:srgbClr val="000000"/>
                </a:solidFill>
                <a:latin typeface="Arial"/>
                <a:ea typeface="Arial"/>
                <a:cs typeface="Arial"/>
                <a:sym typeface="Arial"/>
              </a:rPr>
              <a:t>Entire system deployed at once</a:t>
            </a:r>
            <a:endParaRPr/>
          </a:p>
          <a:p>
            <a:pPr indent="0" lvl="0" marL="0" rtl="0" algn="l">
              <a:lnSpc>
                <a:spcPct val="100000"/>
              </a:lnSpc>
              <a:spcBef>
                <a:spcPts val="0"/>
              </a:spcBef>
              <a:spcAft>
                <a:spcPts val="0"/>
              </a:spcAft>
              <a:buSzPts val="1100"/>
              <a:buFont typeface="Arial"/>
              <a:buNone/>
            </a:pPr>
            <a:r>
              <a:rPr b="0" i="0" lang="en-US" sz="1100" u="none" cap="none" strike="noStrike">
                <a:solidFill>
                  <a:srgbClr val="000000"/>
                </a:solidFill>
                <a:latin typeface="Arial"/>
                <a:ea typeface="Arial"/>
                <a:cs typeface="Arial"/>
                <a:sym typeface="Arial"/>
              </a:rPr>
              <a:t>- Release were large</a:t>
            </a:r>
            <a:endParaRPr/>
          </a:p>
          <a:p>
            <a:pPr indent="0" lvl="0" marL="0" rtl="0" algn="l">
              <a:lnSpc>
                <a:spcPct val="100000"/>
              </a:lnSpc>
              <a:spcBef>
                <a:spcPts val="0"/>
              </a:spcBef>
              <a:spcAft>
                <a:spcPts val="0"/>
              </a:spcAft>
              <a:buSzPts val="1100"/>
              <a:buFont typeface="Arial"/>
              <a:buNone/>
            </a:pPr>
            <a:r>
              <a:rPr b="0" i="0" lang="en-US" sz="1100" u="none" cap="none" strike="noStrike">
                <a:solidFill>
                  <a:srgbClr val="000000"/>
                </a:solidFill>
                <a:latin typeface="Arial"/>
                <a:ea typeface="Arial"/>
                <a:cs typeface="Arial"/>
                <a:sym typeface="Arial"/>
              </a:rPr>
              <a:t>- Browser tests are flaky</a:t>
            </a:r>
            <a:endParaRPr/>
          </a:p>
          <a:p>
            <a:pPr indent="0" lvl="0" marL="0" rtl="0" algn="l">
              <a:lnSpc>
                <a:spcPct val="100000"/>
              </a:lnSpc>
              <a:spcBef>
                <a:spcPts val="0"/>
              </a:spcBef>
              <a:spcAft>
                <a:spcPts val="0"/>
              </a:spcAft>
              <a:buSzPts val="1100"/>
              <a:buFont typeface="Arial"/>
              <a:buNone/>
            </a:pPr>
            <a:r>
              <a:rPr b="0" i="0" lang="en-US" sz="1100" u="none" cap="none" strike="noStrike">
                <a:solidFill>
                  <a:srgbClr val="000000"/>
                </a:solidFill>
                <a:latin typeface="Arial"/>
                <a:ea typeface="Arial"/>
                <a:cs typeface="Arial"/>
                <a:sym typeface="Arial"/>
              </a:rPr>
              <a:t>- Rollbacks were hard</a:t>
            </a:r>
            <a:br>
              <a:rPr b="0" i="0" lang="en-US" sz="1100" u="none" cap="none" strike="noStrike">
                <a:solidFill>
                  <a:srgbClr val="000000"/>
                </a:solidFill>
                <a:latin typeface="Arial"/>
                <a:ea typeface="Arial"/>
                <a:cs typeface="Arial"/>
                <a:sym typeface="Arial"/>
              </a:rPr>
            </a:br>
            <a:br>
              <a:rPr b="0" i="0" lang="en-US" sz="1100" u="none" cap="none" strike="noStrike">
                <a:solidFill>
                  <a:srgbClr val="000000"/>
                </a:solidFill>
                <a:latin typeface="Arial"/>
                <a:ea typeface="Arial"/>
                <a:cs typeface="Arial"/>
                <a:sym typeface="Arial"/>
              </a:rPr>
            </a:br>
            <a:endParaRPr/>
          </a:p>
        </p:txBody>
      </p:sp>
      <p:sp>
        <p:nvSpPr>
          <p:cNvPr id="337" name="Google Shape;337;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No management of server hosts or server processes.</a:t>
            </a:r>
            <a:endParaRPr/>
          </a:p>
          <a:p>
            <a:pPr indent="-298450" lvl="0" marL="457200" rtl="0" algn="l">
              <a:lnSpc>
                <a:spcPct val="100000"/>
              </a:lnSpc>
              <a:spcBef>
                <a:spcPts val="0"/>
              </a:spcBef>
              <a:spcAft>
                <a:spcPts val="0"/>
              </a:spcAft>
              <a:buSzPts val="1100"/>
              <a:buChar char="●"/>
            </a:pPr>
            <a:r>
              <a:rPr lang="en-US" sz="1100"/>
              <a:t>Self auto-scale and auto-provision based on load.</a:t>
            </a:r>
            <a:endParaRPr/>
          </a:p>
          <a:p>
            <a:pPr indent="-298450" lvl="0" marL="457200" rtl="0" algn="l">
              <a:lnSpc>
                <a:spcPct val="100000"/>
              </a:lnSpc>
              <a:spcBef>
                <a:spcPts val="0"/>
              </a:spcBef>
              <a:spcAft>
                <a:spcPts val="0"/>
              </a:spcAft>
              <a:buSzPts val="1100"/>
              <a:buChar char="●"/>
            </a:pPr>
            <a:r>
              <a:rPr lang="en-US" sz="1100"/>
              <a:t>Costs based on precise usage</a:t>
            </a:r>
            <a:endParaRPr/>
          </a:p>
          <a:p>
            <a:pPr indent="-298450" lvl="0" marL="457200" rtl="0" algn="l">
              <a:lnSpc>
                <a:spcPct val="100000"/>
              </a:lnSpc>
              <a:spcBef>
                <a:spcPts val="0"/>
              </a:spcBef>
              <a:spcAft>
                <a:spcPts val="0"/>
              </a:spcAft>
              <a:buSzPts val="1100"/>
              <a:buChar char="●"/>
            </a:pPr>
            <a:r>
              <a:rPr lang="en-US" sz="1100"/>
              <a:t>Performance capabilities defined in terms other than host size/count</a:t>
            </a:r>
            <a:endParaRPr/>
          </a:p>
          <a:p>
            <a:pPr indent="-298450" lvl="0" marL="457200" rtl="0" algn="l">
              <a:lnSpc>
                <a:spcPct val="100000"/>
              </a:lnSpc>
              <a:spcBef>
                <a:spcPts val="0"/>
              </a:spcBef>
              <a:spcAft>
                <a:spcPts val="0"/>
              </a:spcAft>
              <a:buSzPts val="1100"/>
              <a:buChar char="●"/>
            </a:pPr>
            <a:r>
              <a:rPr lang="en-US" sz="1100"/>
              <a:t>Implicit high availability and secure</a:t>
            </a:r>
            <a:endParaRPr/>
          </a:p>
          <a:p>
            <a:pPr indent="0" lvl="0" marL="114300" rtl="0" algn="l">
              <a:lnSpc>
                <a:spcPct val="100000"/>
              </a:lnSpc>
              <a:spcBef>
                <a:spcPts val="0"/>
              </a:spcBef>
              <a:spcAft>
                <a:spcPts val="0"/>
              </a:spcAft>
              <a:buSzPts val="1100"/>
              <a:buNone/>
            </a:pPr>
            <a:r>
              <a:t/>
            </a:r>
            <a:endParaRPr sz="1100"/>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b="1" i="0" lang="en-US" sz="1100" u="none" cap="none" strike="noStrike">
                <a:solidFill>
                  <a:srgbClr val="000000"/>
                </a:solidFill>
                <a:latin typeface="Arial"/>
                <a:ea typeface="Arial"/>
                <a:cs typeface="Arial"/>
                <a:sym typeface="Arial"/>
              </a:rPr>
              <a:t>Cons of a serverless architecture</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Vendor lock-in</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Vendor lock-in describes a situation when you give a vendor full control of your operations. As a result, changes to business logic are limited and migration from one vendor to another might be challenging.</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Not for long-term tasks</a:t>
            </a:r>
            <a:endParaRPr/>
          </a:p>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A serverless model isn’t suitable for long-term operations. Serverless apps are good for short real-time processes, but if a task takes more than five minutes, a serverless app will need additional FaaS functionality.</a:t>
            </a:r>
            <a:endParaRPr/>
          </a:p>
          <a:p>
            <a:pPr indent="-228600" lvl="0" marL="457200" rtl="0" algn="l">
              <a:lnSpc>
                <a:spcPct val="100000"/>
              </a:lnSpc>
              <a:spcBef>
                <a:spcPts val="0"/>
              </a:spcBef>
              <a:spcAft>
                <a:spcPts val="0"/>
              </a:spcAft>
              <a:buSzPts val="1100"/>
              <a:buNone/>
            </a:pPr>
            <a:r>
              <a:t/>
            </a:r>
            <a:endParaRPr sz="1100"/>
          </a:p>
          <a:p>
            <a:pPr indent="0" lvl="0" marL="0" rtl="0" algn="l">
              <a:lnSpc>
                <a:spcPct val="100000"/>
              </a:lnSpc>
              <a:spcBef>
                <a:spcPts val="0"/>
              </a:spcBef>
              <a:spcAft>
                <a:spcPts val="0"/>
              </a:spcAft>
              <a:buSzPts val="1100"/>
              <a:buNone/>
            </a:pPr>
            <a:r>
              <a:t/>
            </a:r>
            <a:endParaRPr/>
          </a:p>
        </p:txBody>
      </p:sp>
      <p:sp>
        <p:nvSpPr>
          <p:cNvPr id="360" name="Google Shape;360;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br>
              <a:rPr b="0" i="0" lang="en-US" sz="1100" u="none" cap="none" strike="noStrike">
                <a:solidFill>
                  <a:srgbClr val="000000"/>
                </a:solidFill>
                <a:latin typeface="Arial"/>
                <a:ea typeface="Arial"/>
                <a:cs typeface="Arial"/>
                <a:sym typeface="Arial"/>
              </a:rPr>
            </a:br>
            <a:br>
              <a:rPr b="0" i="0" lang="en-US" sz="1100" u="none" cap="none" strike="noStrike">
                <a:solidFill>
                  <a:srgbClr val="000000"/>
                </a:solidFill>
                <a:latin typeface="Arial"/>
                <a:ea typeface="Arial"/>
                <a:cs typeface="Arial"/>
                <a:sym typeface="Arial"/>
              </a:rPr>
            </a:br>
            <a:endParaRPr/>
          </a:p>
        </p:txBody>
      </p:sp>
      <p:sp>
        <p:nvSpPr>
          <p:cNvPr id="371" name="Google Shape;37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br>
              <a:rPr b="0" i="0" lang="en-US" sz="1100" u="none" cap="none" strike="noStrike">
                <a:solidFill>
                  <a:srgbClr val="000000"/>
                </a:solidFill>
                <a:latin typeface="Arial"/>
                <a:ea typeface="Arial"/>
                <a:cs typeface="Arial"/>
                <a:sym typeface="Arial"/>
              </a:rPr>
            </a:br>
            <a:br>
              <a:rPr b="0" i="0" lang="en-US" sz="1100" u="none" cap="none" strike="noStrike">
                <a:solidFill>
                  <a:srgbClr val="000000"/>
                </a:solidFill>
                <a:latin typeface="Arial"/>
                <a:ea typeface="Arial"/>
                <a:cs typeface="Arial"/>
                <a:sym typeface="Arial"/>
              </a:rPr>
            </a:br>
            <a:endParaRPr/>
          </a:p>
        </p:txBody>
      </p:sp>
      <p:sp>
        <p:nvSpPr>
          <p:cNvPr id="383" name="Google Shape;383;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Docker:</a:t>
            </a:r>
            <a:br>
              <a:rPr b="0"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Containers are a way to package software in a format that can run isolated on a shared operating system</a:t>
            </a:r>
            <a:endParaRPr/>
          </a:p>
          <a:p>
            <a:pPr indent="0" lvl="0" marL="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Makes for efficient, lightweight, self-contained system and guarantees that software will always run the same, regardless of where it’s deployed </a:t>
            </a:r>
            <a:br>
              <a:rPr b="0" i="0" lang="en-US" sz="1100" u="none" cap="none" strike="noStrike">
                <a:solidFill>
                  <a:srgbClr val="000000"/>
                </a:solidFill>
                <a:latin typeface="Arial"/>
                <a:ea typeface="Arial"/>
                <a:cs typeface="Arial"/>
                <a:sym typeface="Arial"/>
              </a:rPr>
            </a:br>
            <a:br>
              <a:rPr b="0"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Kubernetes:</a:t>
            </a:r>
            <a:br>
              <a:rPr b="0" i="0" lang="en-US" sz="1100" u="none" cap="none" strike="noStrike">
                <a:solidFill>
                  <a:srgbClr val="000000"/>
                </a:solidFill>
                <a:latin typeface="Arial"/>
                <a:ea typeface="Arial"/>
                <a:cs typeface="Arial"/>
                <a:sym typeface="Arial"/>
              </a:rPr>
            </a:br>
            <a:r>
              <a:rPr lang="en-US"/>
              <a:t>Inspired and informed by Google's experiences and internal systems</a:t>
            </a:r>
            <a:endParaRPr/>
          </a:p>
          <a:p>
            <a:pPr indent="0" lvl="0" marL="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Is an open-source system for automating deployment, scaling, and management of containerized applications</a:t>
            </a:r>
            <a:br>
              <a:rPr b="0" i="0" lang="en-US" sz="1100" u="none" cap="none" strike="noStrike">
                <a:solidFill>
                  <a:srgbClr val="000000"/>
                </a:solidFill>
                <a:latin typeface="Arial"/>
                <a:ea typeface="Arial"/>
                <a:cs typeface="Arial"/>
                <a:sym typeface="Arial"/>
              </a:rPr>
            </a:br>
            <a:r>
              <a:rPr lang="en-US"/>
              <a:t>Manage applications, not machines</a:t>
            </a:r>
            <a:br>
              <a:rPr b="0" i="0" lang="en-US" sz="1100" u="none" cap="none" strike="noStrike">
                <a:solidFill>
                  <a:srgbClr val="000000"/>
                </a:solidFill>
                <a:latin typeface="Arial"/>
                <a:ea typeface="Arial"/>
                <a:cs typeface="Arial"/>
                <a:sym typeface="Arial"/>
              </a:rPr>
            </a:br>
            <a:r>
              <a:rPr b="0" i="0" lang="en-US" sz="1100" u="none" cap="none" strike="noStrike">
                <a:solidFill>
                  <a:srgbClr val="000000"/>
                </a:solidFill>
                <a:latin typeface="Arial"/>
                <a:ea typeface="Arial"/>
                <a:cs typeface="Arial"/>
                <a:sym typeface="Arial"/>
              </a:rPr>
              <a:t>Kubernetes is a great platform for complex applications comprised of multiple microservices.</a:t>
            </a:r>
            <a:br>
              <a:rPr b="0" i="0" lang="en-US" sz="1100" u="none" cap="none" strike="noStrike">
                <a:solidFill>
                  <a:srgbClr val="000000"/>
                </a:solidFill>
                <a:latin typeface="Arial"/>
                <a:ea typeface="Arial"/>
                <a:cs typeface="Arial"/>
                <a:sym typeface="Arial"/>
              </a:rPr>
            </a:br>
            <a:r>
              <a:rPr lang="en-US"/>
              <a:t>Supports multiple cloud and bare-metal environments</a:t>
            </a:r>
            <a:br>
              <a:rPr lang="en-US"/>
            </a:br>
            <a:endParaRPr/>
          </a:p>
        </p:txBody>
      </p:sp>
      <p:sp>
        <p:nvSpPr>
          <p:cNvPr id="393" name="Google Shape;393;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5" name="Google Shape;405;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8" name="Google Shape;43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489" name="Google Shape;48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517" name="Google Shape;517;p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0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0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0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0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1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0" name="Google Shape;1160;p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161" name="Google Shape;1161;p1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p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p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p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p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p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p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p1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4" name="Google Shape;1374;p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375" name="Google Shape;1375;p16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p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p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p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p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p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p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p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p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p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p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p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p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p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p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p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p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p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7" name="Google Shape;1557;p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p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9" name="Google Shape;1569;p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p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2" name="Google Shape;1582;p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0" i="0" lang="en-US" sz="1100" u="none" cap="none" strike="noStrike">
                <a:solidFill>
                  <a:srgbClr val="000000"/>
                </a:solidFill>
                <a:latin typeface="Arial"/>
                <a:ea typeface="Arial"/>
                <a:cs typeface="Arial"/>
                <a:sym typeface="Arial"/>
              </a:rPr>
              <a:t>data-driven means that our progress in design sprints and projects is compelled by data derived from end-users.</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p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9" name="Google Shape;1589;p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p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US"/>
              <a:t>Not digital:</a:t>
            </a:r>
            <a:br>
              <a:rPr lang="en-US"/>
            </a:br>
            <a:r>
              <a:rPr lang="en-US"/>
              <a:t>Using email</a:t>
            </a:r>
            <a:endParaRPr/>
          </a:p>
          <a:p>
            <a:pPr indent="0" lvl="0" marL="0" marR="0" rtl="0" algn="l">
              <a:lnSpc>
                <a:spcPct val="100000"/>
              </a:lnSpc>
              <a:spcBef>
                <a:spcPts val="0"/>
              </a:spcBef>
              <a:spcAft>
                <a:spcPts val="0"/>
              </a:spcAft>
              <a:buClr>
                <a:srgbClr val="000000"/>
              </a:buClr>
              <a:buSzPts val="1100"/>
              <a:buFont typeface="Arial"/>
              <a:buNone/>
            </a:pPr>
            <a:r>
              <a:rPr lang="en-US"/>
              <a:t>Have website</a:t>
            </a:r>
            <a:endParaRPr/>
          </a:p>
          <a:p>
            <a:pPr indent="0" lvl="0" marL="0" marR="0" rtl="0" algn="l">
              <a:lnSpc>
                <a:spcPct val="100000"/>
              </a:lnSpc>
              <a:spcBef>
                <a:spcPts val="0"/>
              </a:spcBef>
              <a:spcAft>
                <a:spcPts val="0"/>
              </a:spcAft>
              <a:buClr>
                <a:srgbClr val="000000"/>
              </a:buClr>
              <a:buSzPts val="1100"/>
              <a:buFont typeface="Arial"/>
              <a:buNone/>
            </a:pPr>
            <a:r>
              <a:rPr lang="en-US"/>
              <a:t>Use social media</a:t>
            </a:r>
            <a:br>
              <a:rPr lang="en-US"/>
            </a:br>
            <a:r>
              <a:rPr lang="en-US"/>
              <a:t>Video conferencing</a:t>
            </a:r>
            <a:endParaRPr/>
          </a:p>
          <a:p>
            <a:pPr indent="0" lvl="0" marL="0" marR="0" rtl="0" algn="l">
              <a:lnSpc>
                <a:spcPct val="100000"/>
              </a:lnSpc>
              <a:spcBef>
                <a:spcPts val="0"/>
              </a:spcBef>
              <a:spcAft>
                <a:spcPts val="0"/>
              </a:spcAft>
              <a:buClr>
                <a:srgbClr val="000000"/>
              </a:buClr>
              <a:buSzPts val="1100"/>
              <a:buFont typeface="Arial"/>
              <a:buNone/>
            </a:pPr>
            <a:r>
              <a:rPr lang="en-US"/>
              <a:t>Chatbots</a:t>
            </a:r>
            <a:endParaRPr/>
          </a:p>
        </p:txBody>
      </p:sp>
      <p:sp>
        <p:nvSpPr>
          <p:cNvPr id="1597" name="Google Shape;1597;p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p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8" name="Google Shape;1608;p1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p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Data source: We will have many type azure, git, sonar, excel, forms,... </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Extractor, transformer: can be any type of tool, language you like (the tool in the image I prefer but you can change if you want) </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Using Azure Data Lake Storage for the destination data, it can be json, csv, table,....</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End user services: reporting, dashboard,…</a:t>
            </a:r>
            <a:endParaRPr/>
          </a:p>
        </p:txBody>
      </p:sp>
      <p:sp>
        <p:nvSpPr>
          <p:cNvPr id="1619" name="Google Shape;1619;p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p1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0" name="Google Shape;1630;p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0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0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0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0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7" name="Shape 37"/>
        <p:cNvGrpSpPr/>
        <p:nvPr/>
      </p:nvGrpSpPr>
      <p:grpSpPr>
        <a:xfrm>
          <a:off x="0" y="0"/>
          <a:ext cx="0" cy="0"/>
          <a:chOff x="0" y="0"/>
          <a:chExt cx="0" cy="0"/>
        </a:xfrm>
      </p:grpSpPr>
      <p:sp>
        <p:nvSpPr>
          <p:cNvPr id="38" name="Google Shape;38;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0" name="Google Shape;40;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1" name="Google Shape;4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 name="Shape 44"/>
        <p:cNvGrpSpPr/>
        <p:nvPr/>
      </p:nvGrpSpPr>
      <p:grpSpPr>
        <a:xfrm>
          <a:off x="0" y="0"/>
          <a:ext cx="0" cy="0"/>
          <a:chOff x="0" y="0"/>
          <a:chExt cx="0" cy="0"/>
        </a:xfrm>
      </p:grpSpPr>
      <p:sp>
        <p:nvSpPr>
          <p:cNvPr id="45" name="Google Shape;45;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3" name="Google Shape;5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 name="Google Shape;68;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5" name="Google Shape;75;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1" Type="http://schemas.openxmlformats.org/officeDocument/2006/relationships/theme" Target="../theme/theme1.xml"/><Relationship Id="rId10" Type="http://schemas.openxmlformats.org/officeDocument/2006/relationships/slideLayout" Target="../slideLayouts/slideLayout12.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0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0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0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0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sp>
        <p:nvSpPr>
          <p:cNvPr id="22" name="Google Shape;2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5" name="Google Shape;2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6" name="Google Shape;2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24.png"/><Relationship Id="rId7" Type="http://schemas.openxmlformats.org/officeDocument/2006/relationships/image" Target="../media/image14.png"/><Relationship Id="rId8"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jpg"/><Relationship Id="rId4" Type="http://schemas.openxmlformats.org/officeDocument/2006/relationships/image" Target="../media/image34.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4.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8.png"/><Relationship Id="rId4" Type="http://schemas.openxmlformats.org/officeDocument/2006/relationships/image" Target="../media/image69.png"/><Relationship Id="rId5" Type="http://schemas.openxmlformats.org/officeDocument/2006/relationships/image" Target="../media/image41.png"/><Relationship Id="rId6" Type="http://schemas.openxmlformats.org/officeDocument/2006/relationships/image" Target="../media/image33.png"/><Relationship Id="rId7" Type="http://schemas.openxmlformats.org/officeDocument/2006/relationships/image" Target="../media/image50.png"/><Relationship Id="rId8"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7.png"/><Relationship Id="rId4" Type="http://schemas.openxmlformats.org/officeDocument/2006/relationships/image" Target="../media/image36.png"/><Relationship Id="rId11" Type="http://schemas.openxmlformats.org/officeDocument/2006/relationships/image" Target="../media/image48.jpg"/><Relationship Id="rId10" Type="http://schemas.openxmlformats.org/officeDocument/2006/relationships/image" Target="../media/image42.png"/><Relationship Id="rId12" Type="http://schemas.openxmlformats.org/officeDocument/2006/relationships/image" Target="../media/image40.png"/><Relationship Id="rId9" Type="http://schemas.openxmlformats.org/officeDocument/2006/relationships/image" Target="../media/image39.png"/><Relationship Id="rId5" Type="http://schemas.openxmlformats.org/officeDocument/2006/relationships/image" Target="../media/image43.png"/><Relationship Id="rId6" Type="http://schemas.openxmlformats.org/officeDocument/2006/relationships/image" Target="../media/image46.png"/><Relationship Id="rId7" Type="http://schemas.openxmlformats.org/officeDocument/2006/relationships/image" Target="../media/image35.png"/><Relationship Id="rId8"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azure.microsoft.com/en-in/services/devops/" TargetMode="External"/><Relationship Id="rId4" Type="http://schemas.openxmlformats.org/officeDocument/2006/relationships/hyperlink" Target="https://git-scm.com/downloads" TargetMode="External"/><Relationship Id="rId5" Type="http://schemas.openxmlformats.org/officeDocument/2006/relationships/hyperlink" Target="https://sonarcloud.io/" TargetMode="External"/><Relationship Id="rId6" Type="http://schemas.openxmlformats.org/officeDocument/2006/relationships/hyperlink" Target="https://dotnet.microsoft.com/download/dotnet-core/2.1" TargetMode="External"/><Relationship Id="rId7" Type="http://schemas.openxmlformats.org/officeDocument/2006/relationships/hyperlink" Target="https://www.sourcetreeapp.com/" TargetMode="External"/><Relationship Id="rId8" Type="http://schemas.openxmlformats.org/officeDocument/2006/relationships/hyperlink" Target="https://visualstudio.microsoft.com/download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sonarcloud.io/sessions/new" TargetMode="External"/><Relationship Id="rId4" Type="http://schemas.openxmlformats.org/officeDocument/2006/relationships/image" Target="../media/image49.png"/><Relationship Id="rId5" Type="http://schemas.openxmlformats.org/officeDocument/2006/relationships/image" Target="../media/image60.png"/><Relationship Id="rId6"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6.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1.png"/><Relationship Id="rId4" Type="http://schemas.openxmlformats.org/officeDocument/2006/relationships/image" Target="../media/image61.png"/><Relationship Id="rId5"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dev.azure.com/" TargetMode="External"/><Relationship Id="rId4" Type="http://schemas.openxmlformats.org/officeDocument/2006/relationships/image" Target="../media/image74.png"/><Relationship Id="rId5"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6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6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7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5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6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7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6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6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7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7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6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8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9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7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7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8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8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7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8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8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8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8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8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8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9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9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9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8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9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9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9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0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hyperlink" Target="https://marketplace.visualstudio.com/azuredevops" TargetMode="External"/><Relationship Id="rId4" Type="http://schemas.openxmlformats.org/officeDocument/2006/relationships/image" Target="../media/image9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9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9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3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2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02.png"/><Relationship Id="rId4" Type="http://schemas.openxmlformats.org/officeDocument/2006/relationships/image" Target="../media/image11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0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0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0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0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07.png"/><Relationship Id="rId4" Type="http://schemas.openxmlformats.org/officeDocument/2006/relationships/hyperlink" Target="https://sonarcloud.io/organizations/workshop/projects"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 Id="rId3" Type="http://schemas.openxmlformats.org/officeDocument/2006/relationships/image" Target="../media/image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1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1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0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2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0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06.png"/><Relationship Id="rId4" Type="http://schemas.openxmlformats.org/officeDocument/2006/relationships/image" Target="../media/image11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14.png"/><Relationship Id="rId4" Type="http://schemas.openxmlformats.org/officeDocument/2006/relationships/image" Target="../media/image12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1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1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1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1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1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25.png"/><Relationship Id="rId4" Type="http://schemas.openxmlformats.org/officeDocument/2006/relationships/image" Target="../media/image12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12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12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2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12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 Id="rId3" Type="http://schemas.openxmlformats.org/officeDocument/2006/relationships/image" Target="../media/image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15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2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3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13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13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31.png"/><Relationship Id="rId4" Type="http://schemas.openxmlformats.org/officeDocument/2006/relationships/image" Target="../media/image13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4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3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3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38.png"/><Relationship Id="rId4" Type="http://schemas.openxmlformats.org/officeDocument/2006/relationships/image" Target="../media/image14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44.png"/><Relationship Id="rId4" Type="http://schemas.openxmlformats.org/officeDocument/2006/relationships/image" Target="../media/image135.png"/><Relationship Id="rId5" Type="http://schemas.openxmlformats.org/officeDocument/2006/relationships/image" Target="../media/image140.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14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4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47.png"/><Relationship Id="rId4" Type="http://schemas.openxmlformats.org/officeDocument/2006/relationships/image" Target="../media/image14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56.png"/><Relationship Id="rId4" Type="http://schemas.openxmlformats.org/officeDocument/2006/relationships/image" Target="../media/image151.png"/><Relationship Id="rId5" Type="http://schemas.openxmlformats.org/officeDocument/2006/relationships/image" Target="../media/image15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6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6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149.png"/><Relationship Id="rId4" Type="http://schemas.openxmlformats.org/officeDocument/2006/relationships/image" Target="../media/image150.png"/><Relationship Id="rId5" Type="http://schemas.openxmlformats.org/officeDocument/2006/relationships/image" Target="../media/image157.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154.png"/><Relationship Id="rId4" Type="http://schemas.openxmlformats.org/officeDocument/2006/relationships/image" Target="../media/image148.png"/><Relationship Id="rId5" Type="http://schemas.openxmlformats.org/officeDocument/2006/relationships/image" Target="../media/image15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16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158.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155.png"/><Relationship Id="rId4" Type="http://schemas.openxmlformats.org/officeDocument/2006/relationships/image" Target="../media/image16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174.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169.png"/><Relationship Id="rId4" Type="http://schemas.openxmlformats.org/officeDocument/2006/relationships/image" Target="../media/image17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168.png"/><Relationship Id="rId4" Type="http://schemas.openxmlformats.org/officeDocument/2006/relationships/image" Target="../media/image16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171.png"/><Relationship Id="rId4" Type="http://schemas.openxmlformats.org/officeDocument/2006/relationships/image" Target="../media/image179.png"/><Relationship Id="rId5" Type="http://schemas.openxmlformats.org/officeDocument/2006/relationships/image" Target="../media/image170.png"/><Relationship Id="rId6" Type="http://schemas.openxmlformats.org/officeDocument/2006/relationships/image" Target="../media/image177.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181.png"/><Relationship Id="rId4" Type="http://schemas.openxmlformats.org/officeDocument/2006/relationships/image" Target="../media/image175.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173.png"/><Relationship Id="rId4" Type="http://schemas.openxmlformats.org/officeDocument/2006/relationships/image" Target="../media/image180.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178.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17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18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18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195.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18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image" Target="../media/image185.png"/><Relationship Id="rId4" Type="http://schemas.openxmlformats.org/officeDocument/2006/relationships/image" Target="../media/image18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190.png"/><Relationship Id="rId4" Type="http://schemas.openxmlformats.org/officeDocument/2006/relationships/image" Target="../media/image18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18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14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8.xml"/><Relationship Id="rId3" Type="http://schemas.openxmlformats.org/officeDocument/2006/relationships/image" Target="../media/image5.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9.xml"/><Relationship Id="rId3" Type="http://schemas.openxmlformats.org/officeDocument/2006/relationships/hyperlink" Target="https://docs.microsoft.com/en-us/azure/devops/pipelines/yaml-schema?view=azure-devops&amp;tabs=schema" TargetMode="Externa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196.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193.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image" Target="../media/image192.png"/><Relationship Id="rId4" Type="http://schemas.openxmlformats.org/officeDocument/2006/relationships/image" Target="../media/image194.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20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 Id="rId3" Type="http://schemas.openxmlformats.org/officeDocument/2006/relationships/image" Target="../media/image189.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19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 Id="rId3" Type="http://schemas.openxmlformats.org/officeDocument/2006/relationships/image" Target="../media/image199.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 Id="rId3" Type="http://schemas.openxmlformats.org/officeDocument/2006/relationships/image" Target="../media/image197.png"/><Relationship Id="rId4" Type="http://schemas.openxmlformats.org/officeDocument/2006/relationships/image" Target="../media/image200.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9.xml"/><Relationship Id="rId3" Type="http://schemas.openxmlformats.org/officeDocument/2006/relationships/hyperlink" Target="https://marketplace.visualstudio.com/items?itemName=SimondeLang.sonar-buildbreaker" TargetMode="Externa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208.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207.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198.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 Id="rId3" Type="http://schemas.openxmlformats.org/officeDocument/2006/relationships/image" Target="../media/image20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4.xml"/><Relationship Id="rId3" Type="http://schemas.openxmlformats.org/officeDocument/2006/relationships/hyperlink" Target="https://docs.sonarqube.org/latest/analysis/scan/sonarscanner-for-azure-devops/" TargetMode="Externa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20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7.xml"/><Relationship Id="rId3" Type="http://schemas.openxmlformats.org/officeDocument/2006/relationships/hyperlink" Target="https://docs.microsoft.com/en-us/azure/devops/pipelines/integrations/microsoft-teams?view=azure-devops" TargetMode="Externa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203.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9.xml"/><Relationship Id="rId3" Type="http://schemas.openxmlformats.org/officeDocument/2006/relationships/hyperlink" Target="https://docs.microsoft.com/en-us/azure/devops/test/run-automated-tests-from-test-hub?view=azure-devops" TargetMode="Externa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212.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 Id="rId3" Type="http://schemas.openxmlformats.org/officeDocument/2006/relationships/image" Target="../media/image209.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211.png"/><Relationship Id="rId4" Type="http://schemas.openxmlformats.org/officeDocument/2006/relationships/hyperlink" Target="https://www.visualstudiogeeks.com/DevOps/SpecflowPlusSpecRunVstsPipelineForBddStyleAutomatedGherkinFunctionalTests" TargetMode="Externa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 Id="rId3" Type="http://schemas.openxmlformats.org/officeDocument/2006/relationships/image" Target="../media/image210.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 Id="rId3" Type="http://schemas.openxmlformats.org/officeDocument/2006/relationships/image" Target="../media/image213.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 Id="rId3" Type="http://schemas.openxmlformats.org/officeDocument/2006/relationships/image" Target="../media/image205.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20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 Id="rId3" Type="http://schemas.openxmlformats.org/officeDocument/2006/relationships/chart" Target="../charts/char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216.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 Id="rId3" Type="http://schemas.openxmlformats.org/officeDocument/2006/relationships/image" Target="../media/image215.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2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picture containing vector graphics&#10;&#10;Description generated with high confidence" id="96" name="Google Shape;96;p1"/>
          <p:cNvPicPr preferRelativeResize="0"/>
          <p:nvPr/>
        </p:nvPicPr>
        <p:blipFill rotWithShape="1">
          <a:blip r:embed="rId3">
            <a:alphaModFix/>
          </a:blip>
          <a:srcRect b="-1" l="0" r="7569" t="6250"/>
          <a:stretch/>
        </p:blipFill>
        <p:spPr>
          <a:xfrm>
            <a:off x="3523488" y="10"/>
            <a:ext cx="8668512" cy="6857990"/>
          </a:xfrm>
          <a:prstGeom prst="rect">
            <a:avLst/>
          </a:prstGeom>
          <a:noFill/>
          <a:ln>
            <a:noFill/>
          </a:ln>
        </p:spPr>
      </p:pic>
      <p:sp>
        <p:nvSpPr>
          <p:cNvPr id="97" name="Google Shape;97;p1"/>
          <p:cNvSpPr/>
          <p:nvPr/>
        </p:nvSpPr>
        <p:spPr>
          <a:xfrm>
            <a:off x="0" y="0"/>
            <a:ext cx="9756601" cy="6858000"/>
          </a:xfrm>
          <a:prstGeom prst="rect">
            <a:avLst/>
          </a:prstGeom>
          <a:gradFill>
            <a:gsLst>
              <a:gs pos="0">
                <a:srgbClr val="FFFFFF">
                  <a:alpha val="0"/>
                </a:srgbClr>
              </a:gs>
              <a:gs pos="19000">
                <a:srgbClr val="FFFFFF">
                  <a:alpha val="37647"/>
                </a:srgbClr>
              </a:gs>
              <a:gs pos="35000">
                <a:srgbClr val="FFFFFF">
                  <a:alpha val="78823"/>
                </a:srgbClr>
              </a:gs>
              <a:gs pos="5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 name="Google Shape;98;p1"/>
          <p:cNvSpPr txBox="1"/>
          <p:nvPr/>
        </p:nvSpPr>
        <p:spPr>
          <a:xfrm>
            <a:off x="477981" y="3063145"/>
            <a:ext cx="7057138" cy="1263352"/>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1" i="0" lang="en-US" sz="4400" u="none" cap="none" strike="noStrike">
                <a:solidFill>
                  <a:schemeClr val="accent1"/>
                </a:solidFill>
                <a:latin typeface="Arial"/>
                <a:ea typeface="Arial"/>
                <a:cs typeface="Arial"/>
                <a:sym typeface="Arial"/>
              </a:rPr>
              <a:t>DevSecOps</a:t>
            </a:r>
            <a:endParaRPr b="0" i="0" sz="4400" u="none" cap="none" strike="noStrike">
              <a:solidFill>
                <a:schemeClr val="accent1"/>
              </a:solidFill>
              <a:latin typeface="Arial"/>
              <a:ea typeface="Arial"/>
              <a:cs typeface="Arial"/>
              <a:sym typeface="Arial"/>
            </a:endParaRPr>
          </a:p>
        </p:txBody>
      </p:sp>
      <p:sp>
        <p:nvSpPr>
          <p:cNvPr id="99" name="Google Shape;99;p1"/>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100" name="Google Shape;100;p1"/>
          <p:cNvSpPr/>
          <p:nvPr/>
        </p:nvSpPr>
        <p:spPr>
          <a:xfrm>
            <a:off x="481029" y="4546920"/>
            <a:ext cx="397764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2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06" name="Google Shape;106;p28"/>
          <p:cNvPicPr preferRelativeResize="0"/>
          <p:nvPr/>
        </p:nvPicPr>
        <p:blipFill rotWithShape="1">
          <a:blip r:embed="rId3">
            <a:alphaModFix amt="14000"/>
          </a:blip>
          <a:srcRect b="-1" l="0" r="2130" t="0"/>
          <a:stretch/>
        </p:blipFill>
        <p:spPr>
          <a:xfrm>
            <a:off x="910799" y="3752509"/>
            <a:ext cx="5692230" cy="4085039"/>
          </a:xfrm>
          <a:prstGeom prst="rect">
            <a:avLst/>
          </a:prstGeom>
          <a:noFill/>
          <a:ln>
            <a:noFill/>
          </a:ln>
          <a:effectLst>
            <a:outerShdw sx="1000" rotWithShape="0" algn="ctr" dir="5400000" dist="50800" sy="1000">
              <a:schemeClr val="lt1">
                <a:alpha val="0"/>
              </a:schemeClr>
            </a:outerShdw>
            <a:reflection blurRad="0" dir="5400000" dist="50800" endA="0" endPos="65000" fadeDir="5400000" kx="0" rotWithShape="0" algn="bl" stA="97000" stPos="0" sy="-100000" ky="0"/>
          </a:effectLst>
        </p:spPr>
      </p:pic>
      <p:sp>
        <p:nvSpPr>
          <p:cNvPr id="107" name="Google Shape;107;p28"/>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8" name="Google Shape;108;p28"/>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 name="Google Shape;109;p28"/>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 name="Google Shape;110;p28"/>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1" name="Google Shape;11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Agenda</a:t>
            </a:r>
            <a:endParaRPr/>
          </a:p>
        </p:txBody>
      </p:sp>
      <p:sp>
        <p:nvSpPr>
          <p:cNvPr id="112" name="Google Shape;112;p28"/>
          <p:cNvSpPr txBox="1"/>
          <p:nvPr>
            <p:ph idx="1" type="body"/>
          </p:nvPr>
        </p:nvSpPr>
        <p:spPr>
          <a:xfrm>
            <a:off x="838200" y="1825625"/>
            <a:ext cx="544068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t>DevSecOps</a:t>
            </a:r>
            <a:endParaRPr sz="2400"/>
          </a:p>
          <a:p>
            <a:pPr indent="-342900" lvl="1" marL="914400" rtl="0" algn="l">
              <a:lnSpc>
                <a:spcPct val="90000"/>
              </a:lnSpc>
              <a:spcBef>
                <a:spcPts val="500"/>
              </a:spcBef>
              <a:spcAft>
                <a:spcPts val="0"/>
              </a:spcAft>
              <a:buSzPts val="1800"/>
              <a:buFont typeface="Courier New"/>
              <a:buChar char="o"/>
            </a:pPr>
            <a:r>
              <a:rPr lang="en-US"/>
              <a:t>What is DevOps?</a:t>
            </a:r>
            <a:endParaRPr/>
          </a:p>
          <a:p>
            <a:pPr indent="-342900" lvl="1" marL="914400" rtl="0" algn="l">
              <a:lnSpc>
                <a:spcPct val="90000"/>
              </a:lnSpc>
              <a:spcBef>
                <a:spcPts val="500"/>
              </a:spcBef>
              <a:spcAft>
                <a:spcPts val="0"/>
              </a:spcAft>
              <a:buSzPts val="1800"/>
              <a:buFont typeface="Courier New"/>
              <a:buChar char="o"/>
            </a:pPr>
            <a:r>
              <a:rPr lang="en-US"/>
              <a:t>The Transition to DevOps</a:t>
            </a:r>
            <a:endParaRPr/>
          </a:p>
          <a:p>
            <a:pPr indent="-342900" lvl="1" marL="914400" rtl="0" algn="l">
              <a:lnSpc>
                <a:spcPct val="90000"/>
              </a:lnSpc>
              <a:spcBef>
                <a:spcPts val="500"/>
              </a:spcBef>
              <a:spcAft>
                <a:spcPts val="0"/>
              </a:spcAft>
              <a:buSzPts val="1800"/>
              <a:buFont typeface="Courier New"/>
              <a:buChar char="o"/>
            </a:pPr>
            <a:r>
              <a:rPr lang="en-US"/>
              <a:t>Why DevOps?</a:t>
            </a:r>
            <a:endParaRPr/>
          </a:p>
          <a:p>
            <a:pPr indent="-342900" lvl="1" marL="914400" rtl="0" algn="l">
              <a:lnSpc>
                <a:spcPct val="90000"/>
              </a:lnSpc>
              <a:spcBef>
                <a:spcPts val="500"/>
              </a:spcBef>
              <a:spcAft>
                <a:spcPts val="0"/>
              </a:spcAft>
              <a:buSzPts val="1800"/>
              <a:buFont typeface="Courier New"/>
              <a:buChar char="o"/>
            </a:pPr>
            <a:r>
              <a:rPr lang="en-US"/>
              <a:t>DevSecOps</a:t>
            </a:r>
            <a:endParaRPr/>
          </a:p>
          <a:p>
            <a:pPr indent="-342900" lvl="0" marL="457200" rtl="0" algn="l">
              <a:lnSpc>
                <a:spcPct val="90000"/>
              </a:lnSpc>
              <a:spcBef>
                <a:spcPts val="1000"/>
              </a:spcBef>
              <a:spcAft>
                <a:spcPts val="0"/>
              </a:spcAft>
              <a:buClr>
                <a:schemeClr val="dk1"/>
              </a:buClr>
              <a:buSzPts val="1800"/>
              <a:buChar char="•"/>
            </a:pPr>
            <a:r>
              <a:rPr lang="en-US" sz="2400"/>
              <a:t>About CI/CD</a:t>
            </a:r>
            <a:endParaRPr/>
          </a:p>
          <a:p>
            <a:pPr indent="-342900" lvl="1" marL="914400" rtl="0" algn="l">
              <a:lnSpc>
                <a:spcPct val="90000"/>
              </a:lnSpc>
              <a:spcBef>
                <a:spcPts val="500"/>
              </a:spcBef>
              <a:spcAft>
                <a:spcPts val="0"/>
              </a:spcAft>
              <a:buSzPts val="1800"/>
              <a:buFont typeface="Courier New"/>
              <a:buChar char="o"/>
            </a:pPr>
            <a:r>
              <a:rPr lang="en-US"/>
              <a:t>What’s CI/CD</a:t>
            </a:r>
            <a:endParaRPr/>
          </a:p>
          <a:p>
            <a:pPr indent="-342900" lvl="1" marL="914400" rtl="0" algn="l">
              <a:lnSpc>
                <a:spcPct val="90000"/>
              </a:lnSpc>
              <a:spcBef>
                <a:spcPts val="500"/>
              </a:spcBef>
              <a:spcAft>
                <a:spcPts val="0"/>
              </a:spcAft>
              <a:buSzPts val="1800"/>
              <a:buFont typeface="Courier New"/>
              <a:buChar char="o"/>
            </a:pPr>
            <a:r>
              <a:rPr lang="en-US"/>
              <a:t>CI/CD in DevOps</a:t>
            </a:r>
            <a:endParaRPr/>
          </a:p>
          <a:p>
            <a:pPr indent="-342900" lvl="1" marL="914400" rtl="0" algn="l">
              <a:lnSpc>
                <a:spcPct val="90000"/>
              </a:lnSpc>
              <a:spcBef>
                <a:spcPts val="500"/>
              </a:spcBef>
              <a:spcAft>
                <a:spcPts val="0"/>
              </a:spcAft>
              <a:buSzPts val="1800"/>
              <a:buFont typeface="Courier New"/>
              <a:buChar char="o"/>
            </a:pPr>
            <a:r>
              <a:rPr lang="en-US"/>
              <a:t>Why’s CI/CD</a:t>
            </a:r>
            <a:endParaRPr/>
          </a:p>
          <a:p>
            <a:pPr indent="-228600" lvl="1" marL="914400" rtl="0" algn="l">
              <a:lnSpc>
                <a:spcPct val="90000"/>
              </a:lnSpc>
              <a:spcBef>
                <a:spcPts val="500"/>
              </a:spcBef>
              <a:spcAft>
                <a:spcPts val="0"/>
              </a:spcAft>
              <a:buSzPts val="1800"/>
              <a:buNone/>
            </a:pPr>
            <a:r>
              <a:t/>
            </a:r>
            <a:endParaRPr/>
          </a:p>
          <a:p>
            <a:pPr indent="-228600" lvl="1" marL="914400" rtl="0" algn="l">
              <a:lnSpc>
                <a:spcPct val="90000"/>
              </a:lnSpc>
              <a:spcBef>
                <a:spcPts val="500"/>
              </a:spcBef>
              <a:spcAft>
                <a:spcPts val="0"/>
              </a:spcAft>
              <a:buSzPts val="1800"/>
              <a:buNone/>
            </a:pPr>
            <a:r>
              <a:t/>
            </a:r>
            <a:endParaRPr/>
          </a:p>
        </p:txBody>
      </p:sp>
      <p:sp>
        <p:nvSpPr>
          <p:cNvPr id="113" name="Google Shape;113;p28"/>
          <p:cNvSpPr txBox="1"/>
          <p:nvPr/>
        </p:nvSpPr>
        <p:spPr>
          <a:xfrm>
            <a:off x="6351479" y="1828915"/>
            <a:ext cx="5440680" cy="4351338"/>
          </a:xfrm>
          <a:prstGeom prst="rect">
            <a:avLst/>
          </a:prstGeom>
          <a:noFill/>
          <a:ln>
            <a:noFill/>
          </a:ln>
        </p:spPr>
        <p:txBody>
          <a:bodyPr anchorCtr="0" anchor="t" bIns="45700" lIns="91425" spcFirstLastPara="1" rIns="91425" wrap="square" tIns="45700">
            <a:normAutofit/>
          </a:bodyPr>
          <a:lstStyle/>
          <a:p>
            <a:pPr indent="-342900" lvl="0" marL="457200" marR="0" rtl="0" algn="l">
              <a:lnSpc>
                <a:spcPct val="70000"/>
              </a:lnSpc>
              <a:spcBef>
                <a:spcPts val="1000"/>
              </a:spcBef>
              <a:spcAft>
                <a:spcPts val="0"/>
              </a:spcAft>
              <a:buClr>
                <a:schemeClr val="dk1"/>
              </a:buClr>
              <a:buSzPts val="1800"/>
              <a:buFont typeface="Arial"/>
              <a:buChar char="•"/>
            </a:pPr>
            <a:r>
              <a:rPr b="0" i="0" lang="en-US" sz="2590" u="none" cap="none" strike="noStrike">
                <a:solidFill>
                  <a:schemeClr val="dk1"/>
                </a:solidFill>
                <a:latin typeface="Calibri"/>
                <a:ea typeface="Calibri"/>
                <a:cs typeface="Calibri"/>
                <a:sym typeface="Calibri"/>
              </a:rPr>
              <a:t>Modern continuous delivery</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Trunk base development</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Feature flags</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Microservices</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Serverless </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Docker and Kubernetes</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Security testing</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Other techniques and tools</a:t>
            </a:r>
            <a:endParaRPr/>
          </a:p>
          <a:p>
            <a:pPr indent="-342900" lvl="0" marL="457200" marR="0" rtl="0" algn="l">
              <a:lnSpc>
                <a:spcPct val="70000"/>
              </a:lnSpc>
              <a:spcBef>
                <a:spcPts val="1000"/>
              </a:spcBef>
              <a:spcAft>
                <a:spcPts val="0"/>
              </a:spcAft>
              <a:buClr>
                <a:schemeClr val="dk1"/>
              </a:buClr>
              <a:buSzPts val="1800"/>
              <a:buFont typeface="Arial"/>
              <a:buChar char="•"/>
            </a:pPr>
            <a:r>
              <a:rPr b="0" i="0" lang="en-US" sz="2590" u="none" cap="none" strike="noStrike">
                <a:solidFill>
                  <a:schemeClr val="dk1"/>
                </a:solidFill>
                <a:latin typeface="Calibri"/>
                <a:ea typeface="Calibri"/>
                <a:cs typeface="Calibri"/>
                <a:sym typeface="Calibri"/>
              </a:rPr>
              <a:t>Demo &amp; Practice</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Azure Pipeline</a:t>
            </a:r>
            <a:endParaRPr/>
          </a:p>
          <a:p>
            <a:pPr indent="-342900" lvl="1" marL="914400" marR="0" rtl="0" algn="l">
              <a:lnSpc>
                <a:spcPct val="70000"/>
              </a:lnSpc>
              <a:spcBef>
                <a:spcPts val="500"/>
              </a:spcBef>
              <a:spcAft>
                <a:spcPts val="0"/>
              </a:spcAft>
              <a:buClr>
                <a:schemeClr val="dk1"/>
              </a:buClr>
              <a:buSzPts val="1800"/>
              <a:buFont typeface="Courier New"/>
              <a:buChar char="o"/>
            </a:pPr>
            <a:r>
              <a:rPr b="0" i="0" lang="en-US" sz="2220" u="none" cap="none" strike="noStrike">
                <a:solidFill>
                  <a:schemeClr val="dk1"/>
                </a:solidFill>
                <a:latin typeface="Calibri"/>
                <a:ea typeface="Calibri"/>
                <a:cs typeface="Calibri"/>
                <a:sym typeface="Calibri"/>
              </a:rPr>
              <a:t>Azure Pipeline &amp; Google Cloud Platform</a:t>
            </a:r>
            <a:endParaRPr/>
          </a:p>
          <a:p>
            <a:pPr indent="-342900" lvl="0" marL="457200" marR="0" rtl="0" algn="l">
              <a:lnSpc>
                <a:spcPct val="70000"/>
              </a:lnSpc>
              <a:spcBef>
                <a:spcPts val="1000"/>
              </a:spcBef>
              <a:spcAft>
                <a:spcPts val="0"/>
              </a:spcAft>
              <a:buClr>
                <a:schemeClr val="dk1"/>
              </a:buClr>
              <a:buSzPts val="1800"/>
              <a:buFont typeface="Arial"/>
              <a:buChar char="•"/>
            </a:pPr>
            <a:r>
              <a:rPr b="0" i="0" lang="en-US" sz="2590" u="none" cap="none" strike="noStrike">
                <a:solidFill>
                  <a:schemeClr val="dk1"/>
                </a:solidFill>
                <a:latin typeface="Calibri"/>
                <a:ea typeface="Calibri"/>
                <a:cs typeface="Calibri"/>
                <a:sym typeface="Calibri"/>
              </a:rPr>
              <a:t>Data-driven Design</a:t>
            </a:r>
            <a:endParaRPr/>
          </a:p>
          <a:p>
            <a:pPr indent="-228600" lvl="0" marL="457200" marR="0" rtl="0" algn="l">
              <a:lnSpc>
                <a:spcPct val="70000"/>
              </a:lnSpc>
              <a:spcBef>
                <a:spcPts val="1000"/>
              </a:spcBef>
              <a:spcAft>
                <a:spcPts val="0"/>
              </a:spcAft>
              <a:buClr>
                <a:schemeClr val="dk1"/>
              </a:buClr>
              <a:buSzPts val="1800"/>
              <a:buFont typeface="Arial"/>
              <a:buNone/>
            </a:pPr>
            <a:r>
              <a:t/>
            </a:r>
            <a:endParaRPr b="0" i="0" sz="259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2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 name="Google Shape;119;p29"/>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0" name="Google Shape;120;p29"/>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1" name="Google Shape;121;p29"/>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2" name="Google Shape;122;p29"/>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3" name="Google Shape;123;p29"/>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4" name="Google Shape;124;p29"/>
          <p:cNvSpPr txBox="1"/>
          <p:nvPr>
            <p:ph type="title"/>
          </p:nvPr>
        </p:nvSpPr>
        <p:spPr>
          <a:xfrm>
            <a:off x="643467" y="640080"/>
            <a:ext cx="3096427" cy="56132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C65E1"/>
              </a:buClr>
              <a:buSzPts val="4400"/>
              <a:buNone/>
            </a:pPr>
            <a:r>
              <a:rPr lang="en-US">
                <a:solidFill>
                  <a:srgbClr val="FFFFFF"/>
                </a:solidFill>
              </a:rPr>
              <a:t>DevSecOps</a:t>
            </a:r>
            <a:endParaRPr>
              <a:solidFill>
                <a:srgbClr val="FFFFFF"/>
              </a:solidFill>
            </a:endParaRPr>
          </a:p>
        </p:txBody>
      </p:sp>
      <p:sp>
        <p:nvSpPr>
          <p:cNvPr id="125" name="Google Shape;125;p29"/>
          <p:cNvSpPr txBox="1"/>
          <p:nvPr/>
        </p:nvSpPr>
        <p:spPr>
          <a:xfrm>
            <a:off x="5222735" y="5265399"/>
            <a:ext cx="6641916" cy="1186204"/>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2C65E1"/>
              </a:buClr>
              <a:buSzPts val="4400"/>
              <a:buFont typeface="Calibri"/>
              <a:buNone/>
            </a:pPr>
            <a:r>
              <a:rPr b="0" i="1" lang="en-US" sz="2000" u="none" cap="none" strike="noStrike">
                <a:solidFill>
                  <a:schemeClr val="dk1"/>
                </a:solidFill>
                <a:latin typeface="Calibri"/>
                <a:ea typeface="Calibri"/>
                <a:cs typeface="Calibri"/>
                <a:sym typeface="Calibri"/>
              </a:rPr>
              <a:t>“If you fear to release your system at any time, you are not DevOps yet”</a:t>
            </a:r>
            <a:endParaRPr/>
          </a:p>
          <a:p>
            <a:pPr indent="0" lvl="0" marL="0" marR="0" rtl="0" algn="r">
              <a:lnSpc>
                <a:spcPct val="90000"/>
              </a:lnSpc>
              <a:spcBef>
                <a:spcPts val="0"/>
              </a:spcBef>
              <a:spcAft>
                <a:spcPts val="0"/>
              </a:spcAft>
              <a:buClr>
                <a:srgbClr val="2C65E1"/>
              </a:buClr>
              <a:buSzPts val="4400"/>
              <a:buFont typeface="Calibri"/>
              <a:buNone/>
            </a:pPr>
            <a:r>
              <a:rPr b="0" i="1" lang="en-US" sz="2000" u="none" cap="none" strike="noStrike">
                <a:solidFill>
                  <a:schemeClr val="dk1"/>
                </a:solidFill>
                <a:latin typeface="Calibri"/>
                <a:ea typeface="Calibri"/>
                <a:cs typeface="Calibri"/>
                <a:sym typeface="Calibri"/>
              </a:rPr>
              <a:t>Gene Kim, co-founder of DevOps</a:t>
            </a:r>
            <a:endParaRPr/>
          </a:p>
        </p:txBody>
      </p:sp>
      <p:pic>
        <p:nvPicPr>
          <p:cNvPr descr="DevSecOps: A Complete Guide - Plutora - Medium" id="126" name="Google Shape;126;p29"/>
          <p:cNvPicPr preferRelativeResize="0"/>
          <p:nvPr/>
        </p:nvPicPr>
        <p:blipFill rotWithShape="1">
          <a:blip r:embed="rId3">
            <a:alphaModFix/>
          </a:blip>
          <a:srcRect b="0" l="0" r="0" t="0"/>
          <a:stretch/>
        </p:blipFill>
        <p:spPr>
          <a:xfrm>
            <a:off x="5420868" y="876913"/>
            <a:ext cx="5868924" cy="35115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3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2" name="Google Shape;132;p30"/>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3" name="Google Shape;133;p30"/>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4" name="Google Shape;134;p30"/>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5" name="Google Shape;135;p30"/>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6" name="Google Shape;13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What is DevOps</a:t>
            </a:r>
            <a:endParaRPr/>
          </a:p>
        </p:txBody>
      </p:sp>
      <p:pic>
        <p:nvPicPr>
          <p:cNvPr id="137" name="Google Shape;137;p30"/>
          <p:cNvPicPr preferRelativeResize="0"/>
          <p:nvPr/>
        </p:nvPicPr>
        <p:blipFill rotWithShape="1">
          <a:blip r:embed="rId3">
            <a:alphaModFix/>
          </a:blip>
          <a:srcRect b="0" l="0" r="0" t="0"/>
          <a:stretch/>
        </p:blipFill>
        <p:spPr>
          <a:xfrm>
            <a:off x="2347912" y="1996929"/>
            <a:ext cx="7496175" cy="3971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 name="Shape 141"/>
        <p:cNvGrpSpPr/>
        <p:nvPr/>
      </p:nvGrpSpPr>
      <p:grpSpPr>
        <a:xfrm>
          <a:off x="0" y="0"/>
          <a:ext cx="0" cy="0"/>
          <a:chOff x="0" y="0"/>
          <a:chExt cx="0" cy="0"/>
        </a:xfrm>
      </p:grpSpPr>
      <p:sp>
        <p:nvSpPr>
          <p:cNvPr id="142" name="Google Shape;142;p3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31"/>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4" name="Google Shape;144;p31"/>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5" name="Google Shape;145;p31"/>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6" name="Google Shape;146;p31"/>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7" name="Google Shape;14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The Transition to DevOps</a:t>
            </a:r>
            <a:endParaRPr/>
          </a:p>
        </p:txBody>
      </p:sp>
      <p:pic>
        <p:nvPicPr>
          <p:cNvPr id="148" name="Google Shape;148;p31"/>
          <p:cNvPicPr preferRelativeResize="0"/>
          <p:nvPr/>
        </p:nvPicPr>
        <p:blipFill rotWithShape="1">
          <a:blip r:embed="rId3">
            <a:alphaModFix/>
          </a:blip>
          <a:srcRect b="0" l="0" r="0" t="0"/>
          <a:stretch/>
        </p:blipFill>
        <p:spPr>
          <a:xfrm>
            <a:off x="2218108" y="1412811"/>
            <a:ext cx="8340518" cy="53468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3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4" name="Google Shape;154;p32"/>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5" name="Google Shape;155;p32"/>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 name="Google Shape;156;p32"/>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7" name="Google Shape;157;p32"/>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 name="Google Shape;15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DevOps Team Formation</a:t>
            </a:r>
            <a:endParaRPr/>
          </a:p>
        </p:txBody>
      </p:sp>
      <p:pic>
        <p:nvPicPr>
          <p:cNvPr descr="DevOps team formation. (a) Traditional horizontal teams. (b) Vertical teams in DevOps. In DevOps, each team is responsible for a service and contains people with different skills, such as development and operations skills. The team members cooperate from the project's start to create more value for the particular service's end users." id="159" name="Google Shape;159;p32"/>
          <p:cNvPicPr preferRelativeResize="0"/>
          <p:nvPr/>
        </p:nvPicPr>
        <p:blipFill rotWithShape="1">
          <a:blip r:embed="rId3">
            <a:alphaModFix/>
          </a:blip>
          <a:srcRect b="0" l="0" r="0" t="0"/>
          <a:stretch/>
        </p:blipFill>
        <p:spPr>
          <a:xfrm>
            <a:off x="2047875" y="1552163"/>
            <a:ext cx="8096250" cy="4819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3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5" name="Google Shape;165;p33"/>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6" name="Google Shape;166;p33"/>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7" name="Google Shape;167;p33"/>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8" name="Google Shape;168;p33"/>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9" name="Google Shape;16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Why DevOps?</a:t>
            </a:r>
            <a:endParaRPr/>
          </a:p>
        </p:txBody>
      </p:sp>
      <p:pic>
        <p:nvPicPr>
          <p:cNvPr id="170" name="Google Shape;170;p33"/>
          <p:cNvPicPr preferRelativeResize="0"/>
          <p:nvPr/>
        </p:nvPicPr>
        <p:blipFill rotWithShape="1">
          <a:blip r:embed="rId3">
            <a:alphaModFix/>
          </a:blip>
          <a:srcRect b="0" l="0" r="0" t="0"/>
          <a:stretch/>
        </p:blipFill>
        <p:spPr>
          <a:xfrm>
            <a:off x="1512673" y="1788745"/>
            <a:ext cx="9841127" cy="42224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3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6" name="Google Shape;176;p34"/>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7" name="Google Shape;177;p34"/>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8" name="Google Shape;178;p34"/>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34"/>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80" name="Google Shape;180;p34"/>
          <p:cNvPicPr preferRelativeResize="0"/>
          <p:nvPr/>
        </p:nvPicPr>
        <p:blipFill rotWithShape="1">
          <a:blip r:embed="rId3">
            <a:alphaModFix/>
          </a:blip>
          <a:srcRect b="0" l="0" r="0" t="0"/>
          <a:stretch/>
        </p:blipFill>
        <p:spPr>
          <a:xfrm>
            <a:off x="571021" y="514097"/>
            <a:ext cx="11049958" cy="58298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35"/>
          <p:cNvSpPr txBox="1"/>
          <p:nvPr>
            <p:ph type="title"/>
          </p:nvPr>
        </p:nvSpPr>
        <p:spPr>
          <a:xfrm>
            <a:off x="648929" y="629266"/>
            <a:ext cx="3505495" cy="162232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solidFill>
                  <a:schemeClr val="accent1"/>
                </a:solidFill>
                <a:latin typeface="Arial"/>
                <a:ea typeface="Arial"/>
                <a:cs typeface="Arial"/>
                <a:sym typeface="Arial"/>
              </a:rPr>
              <a:t>DevSecOps?</a:t>
            </a:r>
            <a:endParaRPr/>
          </a:p>
        </p:txBody>
      </p:sp>
      <p:sp>
        <p:nvSpPr>
          <p:cNvPr id="186" name="Google Shape;186;p35"/>
          <p:cNvSpPr/>
          <p:nvPr/>
        </p:nvSpPr>
        <p:spPr>
          <a:xfrm>
            <a:off x="648931" y="2438400"/>
            <a:ext cx="3505494" cy="378541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000"/>
              <a:buFont typeface="Arial"/>
              <a:buChar char="•"/>
            </a:pPr>
            <a:r>
              <a:rPr b="0" i="0" lang="en-US" sz="2000" u="none" cap="none" strike="noStrike">
                <a:solidFill>
                  <a:schemeClr val="dk1"/>
                </a:solidFill>
                <a:latin typeface="Arial"/>
                <a:ea typeface="Arial"/>
                <a:cs typeface="Arial"/>
                <a:sym typeface="Arial"/>
              </a:rPr>
              <a:t>Security is not just a STEP in a pipeline!</a:t>
            </a:r>
            <a:endParaRPr/>
          </a:p>
          <a:p>
            <a:pPr indent="0" lvl="0" marL="0" marR="0" rtl="0" algn="l">
              <a:lnSpc>
                <a:spcPct val="90000"/>
              </a:lnSpc>
              <a:spcBef>
                <a:spcPts val="600"/>
              </a:spcBef>
              <a:spcAft>
                <a:spcPts val="0"/>
              </a:spcAft>
              <a:buClr>
                <a:srgbClr val="000000"/>
              </a:buClr>
              <a:buSzPts val="2000"/>
              <a:buFont typeface="Arial"/>
              <a:buChar char="•"/>
            </a:pPr>
            <a:r>
              <a:rPr b="0" i="0" lang="en-US" sz="2000" u="none" cap="none" strike="noStrike">
                <a:solidFill>
                  <a:schemeClr val="dk1"/>
                </a:solidFill>
                <a:latin typeface="Arial"/>
                <a:ea typeface="Arial"/>
                <a:cs typeface="Arial"/>
                <a:sym typeface="Arial"/>
              </a:rPr>
              <a:t>Involves everything we do, from the CEO to the developers</a:t>
            </a:r>
            <a:endParaRPr/>
          </a:p>
        </p:txBody>
      </p:sp>
      <p:sp>
        <p:nvSpPr>
          <p:cNvPr id="187" name="Google Shape;187;p35"/>
          <p:cNvSpPr/>
          <p:nvPr/>
        </p:nvSpPr>
        <p:spPr>
          <a:xfrm>
            <a:off x="4639056" y="0"/>
            <a:ext cx="7552944" cy="6858000"/>
          </a:xfrm>
          <a:prstGeom prst="rect">
            <a:avLst/>
          </a:prstGeom>
          <a:solidFill>
            <a:srgbClr val="C8CA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 name="Google Shape;188;p35"/>
          <p:cNvSpPr/>
          <p:nvPr/>
        </p:nvSpPr>
        <p:spPr>
          <a:xfrm>
            <a:off x="5123688" y="557784"/>
            <a:ext cx="6584098" cy="5739187"/>
          </a:xfrm>
          <a:prstGeom prst="roundRect">
            <a:avLst>
              <a:gd fmla="val 0" name="adj"/>
            </a:avLst>
          </a:prstGeom>
          <a:solidFill>
            <a:srgbClr val="FFFFFF"/>
          </a:solidFill>
          <a:ln cap="flat" cmpd="sng" w="9525">
            <a:solidFill>
              <a:srgbClr val="C8CACA"/>
            </a:solidFill>
            <a:prstDash val="solid"/>
            <a:round/>
            <a:headEnd len="sm" w="sm" type="none"/>
            <a:tailEnd len="sm" w="sm" type="none"/>
          </a:ln>
          <a:effectLst>
            <a:outerShdw blurRad="57150" rotWithShape="0" algn="t" dir="5400000" dist="19050">
              <a:srgbClr val="000000">
                <a:alpha val="6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close up of a logo&#10;&#10;Description automatically generated" id="189" name="Google Shape;189;p35"/>
          <p:cNvPicPr preferRelativeResize="0"/>
          <p:nvPr/>
        </p:nvPicPr>
        <p:blipFill rotWithShape="1">
          <a:blip r:embed="rId3">
            <a:alphaModFix/>
          </a:blip>
          <a:srcRect b="0" l="0" r="0" t="0"/>
          <a:stretch/>
        </p:blipFill>
        <p:spPr>
          <a:xfrm>
            <a:off x="5405862" y="1666723"/>
            <a:ext cx="6019331" cy="352130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3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 name="Google Shape;195;p36"/>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6" name="Google Shape;196;p36"/>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7" name="Google Shape;197;p36"/>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8" name="Google Shape;198;p36"/>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 name="Google Shape;199;p36"/>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0" name="Google Shape;200;p36"/>
          <p:cNvSpPr txBox="1"/>
          <p:nvPr>
            <p:ph type="title"/>
          </p:nvPr>
        </p:nvSpPr>
        <p:spPr>
          <a:xfrm>
            <a:off x="643467" y="640080"/>
            <a:ext cx="3096427" cy="56132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C65E1"/>
              </a:buClr>
              <a:buSzPts val="4400"/>
              <a:buNone/>
            </a:pPr>
            <a:r>
              <a:rPr lang="en-US">
                <a:solidFill>
                  <a:srgbClr val="FFFFFF"/>
                </a:solidFill>
              </a:rPr>
              <a:t>About CI/CD</a:t>
            </a:r>
            <a:endParaRPr/>
          </a:p>
        </p:txBody>
      </p:sp>
      <p:pic>
        <p:nvPicPr>
          <p:cNvPr id="201" name="Google Shape;201;p36"/>
          <p:cNvPicPr preferRelativeResize="0"/>
          <p:nvPr/>
        </p:nvPicPr>
        <p:blipFill rotWithShape="1">
          <a:blip r:embed="rId3">
            <a:alphaModFix/>
          </a:blip>
          <a:srcRect b="4968" l="4962" r="4995" t="2032"/>
          <a:stretch/>
        </p:blipFill>
        <p:spPr>
          <a:xfrm>
            <a:off x="5621411" y="407124"/>
            <a:ext cx="5297557" cy="567767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What’s CI/CD</a:t>
            </a:r>
            <a:endParaRPr/>
          </a:p>
        </p:txBody>
      </p:sp>
      <p:pic>
        <p:nvPicPr>
          <p:cNvPr descr="What are the differences between continuous integration, continuous delivery, and continuous deployment? | Atlassian CI/CD" id="207" name="Google Shape;207;p37"/>
          <p:cNvPicPr preferRelativeResize="0"/>
          <p:nvPr/>
        </p:nvPicPr>
        <p:blipFill rotWithShape="1">
          <a:blip r:embed="rId3">
            <a:alphaModFix/>
          </a:blip>
          <a:srcRect b="0" l="0" r="0" t="0"/>
          <a:stretch/>
        </p:blipFill>
        <p:spPr>
          <a:xfrm>
            <a:off x="769256" y="873578"/>
            <a:ext cx="10638971" cy="59844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cxnSp>
        <p:nvCxnSpPr>
          <p:cNvPr id="212" name="Google Shape;212;p9"/>
          <p:cNvCxnSpPr>
            <a:stCxn id="213" idx="3"/>
            <a:endCxn id="214" idx="1"/>
          </p:cNvCxnSpPr>
          <p:nvPr/>
        </p:nvCxnSpPr>
        <p:spPr>
          <a:xfrm>
            <a:off x="2851150" y="2368081"/>
            <a:ext cx="308700" cy="0"/>
          </a:xfrm>
          <a:prstGeom prst="straightConnector1">
            <a:avLst/>
          </a:prstGeom>
          <a:noFill/>
          <a:ln cap="sq" cmpd="sng" w="31750">
            <a:solidFill>
              <a:srgbClr val="505050"/>
            </a:solidFill>
            <a:prstDash val="solid"/>
            <a:miter lim="800000"/>
            <a:headEnd len="sm" w="sm" type="none"/>
            <a:tailEnd len="med" w="med" type="stealth"/>
          </a:ln>
        </p:spPr>
      </p:cxnSp>
      <p:cxnSp>
        <p:nvCxnSpPr>
          <p:cNvPr id="215" name="Google Shape;215;p9"/>
          <p:cNvCxnSpPr>
            <a:stCxn id="214" idx="3"/>
            <a:endCxn id="216" idx="1"/>
          </p:cNvCxnSpPr>
          <p:nvPr/>
        </p:nvCxnSpPr>
        <p:spPr>
          <a:xfrm>
            <a:off x="4840721" y="2368081"/>
            <a:ext cx="375300" cy="0"/>
          </a:xfrm>
          <a:prstGeom prst="straightConnector1">
            <a:avLst/>
          </a:prstGeom>
          <a:noFill/>
          <a:ln cap="sq" cmpd="sng" w="31750">
            <a:solidFill>
              <a:srgbClr val="505050"/>
            </a:solidFill>
            <a:prstDash val="solid"/>
            <a:miter lim="800000"/>
            <a:headEnd len="sm" w="sm" type="none"/>
            <a:tailEnd len="med" w="med" type="stealth"/>
          </a:ln>
        </p:spPr>
      </p:cxnSp>
      <p:cxnSp>
        <p:nvCxnSpPr>
          <p:cNvPr id="217" name="Google Shape;217;p9"/>
          <p:cNvCxnSpPr>
            <a:stCxn id="216" idx="3"/>
            <a:endCxn id="218" idx="1"/>
          </p:cNvCxnSpPr>
          <p:nvPr/>
        </p:nvCxnSpPr>
        <p:spPr>
          <a:xfrm>
            <a:off x="6896947" y="2368081"/>
            <a:ext cx="384000" cy="0"/>
          </a:xfrm>
          <a:prstGeom prst="straightConnector1">
            <a:avLst/>
          </a:prstGeom>
          <a:noFill/>
          <a:ln cap="sq" cmpd="sng" w="31750">
            <a:solidFill>
              <a:srgbClr val="505050"/>
            </a:solidFill>
            <a:prstDash val="solid"/>
            <a:miter lim="800000"/>
            <a:headEnd len="sm" w="sm" type="none"/>
            <a:tailEnd len="med" w="med" type="stealth"/>
          </a:ln>
        </p:spPr>
      </p:cxnSp>
      <p:cxnSp>
        <p:nvCxnSpPr>
          <p:cNvPr id="219" name="Google Shape;219;p9"/>
          <p:cNvCxnSpPr>
            <a:stCxn id="218" idx="3"/>
            <a:endCxn id="220" idx="1"/>
          </p:cNvCxnSpPr>
          <p:nvPr/>
        </p:nvCxnSpPr>
        <p:spPr>
          <a:xfrm>
            <a:off x="8961969" y="2368081"/>
            <a:ext cx="550500" cy="0"/>
          </a:xfrm>
          <a:prstGeom prst="straightConnector1">
            <a:avLst/>
          </a:prstGeom>
          <a:noFill/>
          <a:ln cap="sq" cmpd="sng" w="31750">
            <a:solidFill>
              <a:srgbClr val="505050"/>
            </a:solidFill>
            <a:prstDash val="solid"/>
            <a:miter lim="800000"/>
            <a:headEnd len="sm" w="sm" type="none"/>
            <a:tailEnd len="med" w="med" type="stealth"/>
          </a:ln>
        </p:spPr>
      </p:cxnSp>
      <p:cxnSp>
        <p:nvCxnSpPr>
          <p:cNvPr id="221" name="Google Shape;221;p9"/>
          <p:cNvCxnSpPr>
            <a:endCxn id="222" idx="0"/>
          </p:cNvCxnSpPr>
          <p:nvPr/>
        </p:nvCxnSpPr>
        <p:spPr>
          <a:xfrm>
            <a:off x="2047449" y="3215750"/>
            <a:ext cx="0" cy="2204700"/>
          </a:xfrm>
          <a:prstGeom prst="straightConnector1">
            <a:avLst/>
          </a:prstGeom>
          <a:noFill/>
          <a:ln cap="flat" cmpd="sng" w="38100">
            <a:solidFill>
              <a:srgbClr val="505050"/>
            </a:solidFill>
            <a:prstDash val="dot"/>
            <a:round/>
            <a:headEnd len="sm" w="sm" type="none"/>
            <a:tailEnd len="sm" w="sm" type="none"/>
          </a:ln>
        </p:spPr>
      </p:cxnSp>
      <p:sp>
        <p:nvSpPr>
          <p:cNvPr id="213" name="Google Shape;213;p9"/>
          <p:cNvSpPr/>
          <p:nvPr/>
        </p:nvSpPr>
        <p:spPr>
          <a:xfrm>
            <a:off x="778169" y="1571969"/>
            <a:ext cx="2072981" cy="1592224"/>
          </a:xfrm>
          <a:prstGeom prst="rect">
            <a:avLst/>
          </a:prstGeom>
          <a:solidFill>
            <a:srgbClr val="002060"/>
          </a:solidFill>
          <a:ln>
            <a:noFill/>
          </a:ln>
        </p:spPr>
        <p:txBody>
          <a:bodyPr anchorCtr="0" anchor="t" bIns="146275" lIns="182850" spcFirstLastPara="1" rIns="182850" wrap="square" tIns="14627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Quattrocento Sans"/>
                <a:ea typeface="Quattrocento Sans"/>
                <a:cs typeface="Quattrocento Sans"/>
                <a:sym typeface="Quattrocento Sans"/>
              </a:rPr>
              <a:t>SOURCE CONTROL</a:t>
            </a:r>
            <a:endParaRPr/>
          </a:p>
        </p:txBody>
      </p:sp>
      <p:sp>
        <p:nvSpPr>
          <p:cNvPr id="214" name="Google Shape;214;p9"/>
          <p:cNvSpPr/>
          <p:nvPr/>
        </p:nvSpPr>
        <p:spPr>
          <a:xfrm>
            <a:off x="3159760" y="1571969"/>
            <a:ext cx="1680961" cy="1592224"/>
          </a:xfrm>
          <a:prstGeom prst="rect">
            <a:avLst/>
          </a:prstGeom>
          <a:solidFill>
            <a:srgbClr val="002060"/>
          </a:solidFill>
          <a:ln>
            <a:noFill/>
          </a:ln>
        </p:spPr>
        <p:txBody>
          <a:bodyPr anchorCtr="0" anchor="t" bIns="146275" lIns="182850" spcFirstLastPara="1" rIns="182850" wrap="square" tIns="14627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Quattrocento Sans"/>
                <a:ea typeface="Quattrocento Sans"/>
                <a:cs typeface="Quattrocento Sans"/>
                <a:sym typeface="Quattrocento Sans"/>
              </a:rPr>
              <a:t>BUILD</a:t>
            </a:r>
            <a:endParaRPr/>
          </a:p>
        </p:txBody>
      </p:sp>
      <p:sp>
        <p:nvSpPr>
          <p:cNvPr id="223" name="Google Shape;223;p9"/>
          <p:cNvSpPr txBox="1"/>
          <p:nvPr/>
        </p:nvSpPr>
        <p:spPr>
          <a:xfrm>
            <a:off x="97557" y="112886"/>
            <a:ext cx="11887200" cy="1181862"/>
          </a:xfrm>
          <a:prstGeom prst="rect">
            <a:avLst/>
          </a:prstGeom>
          <a:noFill/>
          <a:ln>
            <a:noFill/>
          </a:ln>
        </p:spPr>
        <p:txBody>
          <a:bodyPr anchorCtr="0" anchor="t" bIns="91425" lIns="146300" spcFirstLastPara="1" rIns="146300" wrap="square" tIns="91425">
            <a:spAutoFit/>
          </a:bodyPr>
          <a:lstStyle/>
          <a:p>
            <a:pPr indent="0" lvl="0" marL="0" marR="0" rtl="0" algn="l">
              <a:lnSpc>
                <a:spcPct val="90000"/>
              </a:lnSpc>
              <a:spcBef>
                <a:spcPts val="0"/>
              </a:spcBef>
              <a:spcAft>
                <a:spcPts val="0"/>
              </a:spcAft>
              <a:buClr>
                <a:srgbClr val="FFFFFF"/>
              </a:buClr>
              <a:buSzPts val="7200"/>
              <a:buFont typeface="Arial"/>
              <a:buNone/>
            </a:pPr>
            <a:r>
              <a:rPr b="0" i="0" lang="en-US" sz="7200" u="none" cap="none" strike="noStrike">
                <a:solidFill>
                  <a:srgbClr val="FFFFFF"/>
                </a:solidFill>
                <a:latin typeface="Quattrocento Sans"/>
                <a:ea typeface="Quattrocento Sans"/>
                <a:cs typeface="Quattrocento Sans"/>
                <a:sym typeface="Quattrocento Sans"/>
              </a:rPr>
              <a:t>Continuous Delivery</a:t>
            </a:r>
            <a:endParaRPr/>
          </a:p>
        </p:txBody>
      </p:sp>
      <p:grpSp>
        <p:nvGrpSpPr>
          <p:cNvPr id="224" name="Google Shape;224;p9"/>
          <p:cNvGrpSpPr/>
          <p:nvPr/>
        </p:nvGrpSpPr>
        <p:grpSpPr>
          <a:xfrm>
            <a:off x="1063980" y="5420450"/>
            <a:ext cx="1939570" cy="1118749"/>
            <a:chOff x="940119" y="5293964"/>
            <a:chExt cx="1940093" cy="1119051"/>
          </a:xfrm>
        </p:grpSpPr>
        <p:sp>
          <p:nvSpPr>
            <p:cNvPr id="222" name="Google Shape;222;p9"/>
            <p:cNvSpPr/>
            <p:nvPr/>
          </p:nvSpPr>
          <p:spPr>
            <a:xfrm>
              <a:off x="1171231" y="5293964"/>
              <a:ext cx="1505245" cy="1027824"/>
            </a:xfrm>
            <a:prstGeom prst="rect">
              <a:avLst/>
            </a:prstGeom>
            <a:solidFill>
              <a:srgbClr val="001E35"/>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Quattrocento Sans"/>
                <a:ea typeface="Quattrocento Sans"/>
                <a:cs typeface="Quattrocento Sans"/>
                <a:sym typeface="Quattrocento Sans"/>
              </a:endParaRPr>
            </a:p>
          </p:txBody>
        </p:sp>
        <p:sp>
          <p:nvSpPr>
            <p:cNvPr id="225" name="Google Shape;225;p9"/>
            <p:cNvSpPr/>
            <p:nvPr/>
          </p:nvSpPr>
          <p:spPr>
            <a:xfrm>
              <a:off x="1224447" y="5359343"/>
              <a:ext cx="1398813" cy="897066"/>
            </a:xfrm>
            <a:prstGeom prst="rect">
              <a:avLst/>
            </a:prstGeom>
            <a:solidFill>
              <a:srgbClr val="FFFFFF"/>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Quattrocento Sans"/>
                <a:ea typeface="Quattrocento Sans"/>
                <a:cs typeface="Quattrocento Sans"/>
                <a:sym typeface="Quattrocento Sans"/>
              </a:endParaRPr>
            </a:p>
          </p:txBody>
        </p:sp>
        <p:sp>
          <p:nvSpPr>
            <p:cNvPr id="226" name="Google Shape;226;p9"/>
            <p:cNvSpPr/>
            <p:nvPr/>
          </p:nvSpPr>
          <p:spPr>
            <a:xfrm>
              <a:off x="940119" y="6336991"/>
              <a:ext cx="1940093" cy="76024"/>
            </a:xfrm>
            <a:custGeom>
              <a:rect b="b" l="l" r="r" t="t"/>
              <a:pathLst>
                <a:path extrusionOk="0" h="57" w="1454">
                  <a:moveTo>
                    <a:pt x="0" y="0"/>
                  </a:moveTo>
                  <a:cubicBezTo>
                    <a:pt x="0" y="4"/>
                    <a:pt x="0" y="4"/>
                    <a:pt x="0" y="4"/>
                  </a:cubicBezTo>
                  <a:cubicBezTo>
                    <a:pt x="0" y="33"/>
                    <a:pt x="24" y="57"/>
                    <a:pt x="53" y="57"/>
                  </a:cubicBezTo>
                  <a:cubicBezTo>
                    <a:pt x="1400" y="57"/>
                    <a:pt x="1400" y="57"/>
                    <a:pt x="1400" y="57"/>
                  </a:cubicBezTo>
                  <a:cubicBezTo>
                    <a:pt x="1430" y="57"/>
                    <a:pt x="1454" y="33"/>
                    <a:pt x="1454" y="4"/>
                  </a:cubicBezTo>
                  <a:cubicBezTo>
                    <a:pt x="1454" y="0"/>
                    <a:pt x="1454" y="0"/>
                    <a:pt x="1454" y="0"/>
                  </a:cubicBezTo>
                  <a:lnTo>
                    <a:pt x="0" y="0"/>
                  </a:lnTo>
                  <a:close/>
                </a:path>
              </a:pathLst>
            </a:custGeom>
            <a:solidFill>
              <a:srgbClr val="001E35"/>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Quattrocento Sans"/>
                <a:ea typeface="Quattrocento Sans"/>
                <a:cs typeface="Quattrocento Sans"/>
                <a:sym typeface="Quattrocento Sans"/>
              </a:endParaRPr>
            </a:p>
          </p:txBody>
        </p:sp>
      </p:grpSp>
      <p:grpSp>
        <p:nvGrpSpPr>
          <p:cNvPr id="227" name="Google Shape;227;p9"/>
          <p:cNvGrpSpPr/>
          <p:nvPr/>
        </p:nvGrpSpPr>
        <p:grpSpPr>
          <a:xfrm>
            <a:off x="3496226" y="2065584"/>
            <a:ext cx="1175522" cy="952200"/>
            <a:chOff x="4035596" y="2092847"/>
            <a:chExt cx="1175522" cy="952200"/>
          </a:xfrm>
        </p:grpSpPr>
        <p:pic>
          <p:nvPicPr>
            <p:cNvPr id="228" name="Google Shape;228;p9"/>
            <p:cNvPicPr preferRelativeResize="0"/>
            <p:nvPr/>
          </p:nvPicPr>
          <p:blipFill rotWithShape="1">
            <a:blip r:embed="rId3">
              <a:alphaModFix/>
            </a:blip>
            <a:srcRect b="35074" l="0" r="0" t="0"/>
            <a:stretch/>
          </p:blipFill>
          <p:spPr>
            <a:xfrm>
              <a:off x="4035596" y="2092847"/>
              <a:ext cx="1025153" cy="880482"/>
            </a:xfrm>
            <a:prstGeom prst="rect">
              <a:avLst/>
            </a:prstGeom>
            <a:noFill/>
            <a:ln>
              <a:noFill/>
            </a:ln>
          </p:spPr>
        </p:pic>
        <p:grpSp>
          <p:nvGrpSpPr>
            <p:cNvPr id="229" name="Google Shape;229;p9"/>
            <p:cNvGrpSpPr/>
            <p:nvPr/>
          </p:nvGrpSpPr>
          <p:grpSpPr>
            <a:xfrm>
              <a:off x="4754389" y="2588318"/>
              <a:ext cx="456729" cy="456729"/>
              <a:chOff x="4382751" y="3909289"/>
              <a:chExt cx="456852" cy="456852"/>
            </a:xfrm>
          </p:grpSpPr>
          <p:sp>
            <p:nvSpPr>
              <p:cNvPr id="230" name="Google Shape;230;p9"/>
              <p:cNvSpPr/>
              <p:nvPr/>
            </p:nvSpPr>
            <p:spPr>
              <a:xfrm>
                <a:off x="4382751" y="3909289"/>
                <a:ext cx="456852" cy="456852"/>
              </a:xfrm>
              <a:prstGeom prst="ellipse">
                <a:avLst/>
              </a:prstGeom>
              <a:solidFill>
                <a:srgbClr val="505050"/>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800"/>
                  <a:buFont typeface="Arial"/>
                  <a:buNone/>
                </a:pPr>
                <a:r>
                  <a:t/>
                </a:r>
                <a:endParaRPr b="1" i="0" sz="2800" u="none" cap="none" strike="noStrike">
                  <a:solidFill>
                    <a:srgbClr val="FFFFFF"/>
                  </a:solidFill>
                  <a:latin typeface="Quattrocento Sans"/>
                  <a:ea typeface="Quattrocento Sans"/>
                  <a:cs typeface="Quattrocento Sans"/>
                  <a:sym typeface="Quattrocento Sans"/>
                </a:endParaRPr>
              </a:p>
            </p:txBody>
          </p:sp>
          <p:sp>
            <p:nvSpPr>
              <p:cNvPr id="231" name="Google Shape;231;p9"/>
              <p:cNvSpPr/>
              <p:nvPr/>
            </p:nvSpPr>
            <p:spPr>
              <a:xfrm>
                <a:off x="4460627" y="4004450"/>
                <a:ext cx="301100" cy="266531"/>
              </a:xfrm>
              <a:custGeom>
                <a:rect b="b" l="l" r="r" t="t"/>
                <a:pathLst>
                  <a:path extrusionOk="0" h="1064" w="1202">
                    <a:moveTo>
                      <a:pt x="1202" y="175"/>
                    </a:moveTo>
                    <a:lnTo>
                      <a:pt x="975" y="0"/>
                    </a:lnTo>
                    <a:lnTo>
                      <a:pt x="458" y="676"/>
                    </a:lnTo>
                    <a:lnTo>
                      <a:pt x="163" y="449"/>
                    </a:lnTo>
                    <a:lnTo>
                      <a:pt x="0" y="662"/>
                    </a:lnTo>
                    <a:lnTo>
                      <a:pt x="522" y="1064"/>
                    </a:lnTo>
                    <a:lnTo>
                      <a:pt x="685" y="851"/>
                    </a:lnTo>
                    <a:lnTo>
                      <a:pt x="685" y="851"/>
                    </a:lnTo>
                    <a:lnTo>
                      <a:pt x="1202" y="175"/>
                    </a:lnTo>
                    <a:close/>
                  </a:path>
                </a:pathLst>
              </a:custGeom>
              <a:solidFill>
                <a:srgbClr val="92D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Quattrocento Sans"/>
                  <a:ea typeface="Quattrocento Sans"/>
                  <a:cs typeface="Quattrocento Sans"/>
                  <a:sym typeface="Quattrocento Sans"/>
                </a:endParaRPr>
              </a:p>
            </p:txBody>
          </p:sp>
        </p:grpSp>
      </p:grpSp>
      <p:pic>
        <p:nvPicPr>
          <p:cNvPr id="232" name="Google Shape;232;p9"/>
          <p:cNvPicPr preferRelativeResize="0"/>
          <p:nvPr/>
        </p:nvPicPr>
        <p:blipFill rotWithShape="1">
          <a:blip r:embed="rId4">
            <a:alphaModFix/>
          </a:blip>
          <a:srcRect b="0" l="0" r="0" t="0"/>
          <a:stretch/>
        </p:blipFill>
        <p:spPr>
          <a:xfrm>
            <a:off x="-134273" y="4265341"/>
            <a:ext cx="1405957" cy="2516459"/>
          </a:xfrm>
          <a:prstGeom prst="rect">
            <a:avLst/>
          </a:prstGeom>
          <a:noFill/>
          <a:ln>
            <a:noFill/>
          </a:ln>
        </p:spPr>
      </p:pic>
      <p:sp>
        <p:nvSpPr>
          <p:cNvPr id="233" name="Google Shape;233;p9"/>
          <p:cNvSpPr txBox="1"/>
          <p:nvPr/>
        </p:nvSpPr>
        <p:spPr>
          <a:xfrm>
            <a:off x="631522" y="5313227"/>
            <a:ext cx="328574" cy="19374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1399"/>
              <a:buFont typeface="Arial"/>
              <a:buNone/>
            </a:pPr>
            <a:r>
              <a:rPr b="0" i="0" lang="en-US" sz="1399" u="none" cap="none" strike="noStrike">
                <a:solidFill>
                  <a:srgbClr val="FFFFFF"/>
                </a:solidFill>
                <a:latin typeface="Quattrocento Sans"/>
                <a:ea typeface="Quattrocento Sans"/>
                <a:cs typeface="Quattrocento Sans"/>
                <a:sym typeface="Quattrocento Sans"/>
              </a:rPr>
              <a:t>DEV</a:t>
            </a:r>
            <a:endParaRPr/>
          </a:p>
        </p:txBody>
      </p:sp>
      <p:pic>
        <p:nvPicPr>
          <p:cNvPr id="234" name="Google Shape;234;p9"/>
          <p:cNvPicPr preferRelativeResize="0"/>
          <p:nvPr/>
        </p:nvPicPr>
        <p:blipFill rotWithShape="1">
          <a:blip r:embed="rId5">
            <a:alphaModFix/>
          </a:blip>
          <a:srcRect b="0" l="0" r="0" t="0"/>
          <a:stretch/>
        </p:blipFill>
        <p:spPr>
          <a:xfrm>
            <a:off x="3019046" y="4549741"/>
            <a:ext cx="1095754" cy="2151068"/>
          </a:xfrm>
          <a:prstGeom prst="rect">
            <a:avLst/>
          </a:prstGeom>
          <a:noFill/>
          <a:ln>
            <a:noFill/>
          </a:ln>
        </p:spPr>
      </p:pic>
      <p:sp>
        <p:nvSpPr>
          <p:cNvPr id="235" name="Google Shape;235;p9"/>
          <p:cNvSpPr txBox="1"/>
          <p:nvPr/>
        </p:nvSpPr>
        <p:spPr>
          <a:xfrm>
            <a:off x="3168075" y="5313227"/>
            <a:ext cx="330177" cy="19374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FFFFFF"/>
              </a:buClr>
              <a:buSzPts val="1399"/>
              <a:buFont typeface="Arial"/>
              <a:buNone/>
            </a:pPr>
            <a:r>
              <a:rPr b="0" i="0" lang="en-US" sz="1399" u="none" cap="none" strike="noStrike">
                <a:solidFill>
                  <a:srgbClr val="FFFFFF"/>
                </a:solidFill>
                <a:latin typeface="Quattrocento Sans"/>
                <a:ea typeface="Quattrocento Sans"/>
                <a:cs typeface="Quattrocento Sans"/>
                <a:sym typeface="Quattrocento Sans"/>
              </a:rPr>
              <a:t>OPS</a:t>
            </a:r>
            <a:endParaRPr/>
          </a:p>
        </p:txBody>
      </p:sp>
      <p:grpSp>
        <p:nvGrpSpPr>
          <p:cNvPr id="236" name="Google Shape;236;p9"/>
          <p:cNvGrpSpPr/>
          <p:nvPr/>
        </p:nvGrpSpPr>
        <p:grpSpPr>
          <a:xfrm>
            <a:off x="1830806" y="5677216"/>
            <a:ext cx="434280" cy="450531"/>
            <a:chOff x="1707792" y="5550508"/>
            <a:chExt cx="434335" cy="450589"/>
          </a:xfrm>
        </p:grpSpPr>
        <p:grpSp>
          <p:nvGrpSpPr>
            <p:cNvPr id="237" name="Google Shape;237;p9"/>
            <p:cNvGrpSpPr/>
            <p:nvPr/>
          </p:nvGrpSpPr>
          <p:grpSpPr>
            <a:xfrm>
              <a:off x="1707792" y="5550508"/>
              <a:ext cx="433342" cy="450589"/>
              <a:chOff x="652595" y="2571201"/>
              <a:chExt cx="609169" cy="633414"/>
            </a:xfrm>
          </p:grpSpPr>
          <p:sp>
            <p:nvSpPr>
              <p:cNvPr id="238" name="Google Shape;238;p9"/>
              <p:cNvSpPr/>
              <p:nvPr/>
            </p:nvSpPr>
            <p:spPr>
              <a:xfrm>
                <a:off x="652595" y="2571201"/>
                <a:ext cx="609169" cy="633414"/>
              </a:xfrm>
              <a:custGeom>
                <a:rect b="b" l="l" r="r" t="t"/>
                <a:pathLst>
                  <a:path extrusionOk="0" h="671" w="644">
                    <a:moveTo>
                      <a:pt x="67" y="0"/>
                    </a:moveTo>
                    <a:cubicBezTo>
                      <a:pt x="30" y="0"/>
                      <a:pt x="0" y="30"/>
                      <a:pt x="0" y="68"/>
                    </a:cubicBezTo>
                    <a:cubicBezTo>
                      <a:pt x="0" y="603"/>
                      <a:pt x="0" y="603"/>
                      <a:pt x="0" y="603"/>
                    </a:cubicBezTo>
                    <a:cubicBezTo>
                      <a:pt x="0" y="641"/>
                      <a:pt x="30" y="671"/>
                      <a:pt x="67" y="671"/>
                    </a:cubicBezTo>
                    <a:cubicBezTo>
                      <a:pt x="576" y="671"/>
                      <a:pt x="576" y="671"/>
                      <a:pt x="576" y="671"/>
                    </a:cubicBezTo>
                    <a:cubicBezTo>
                      <a:pt x="613" y="671"/>
                      <a:pt x="644" y="641"/>
                      <a:pt x="644" y="603"/>
                    </a:cubicBezTo>
                    <a:cubicBezTo>
                      <a:pt x="644" y="193"/>
                      <a:pt x="644" y="193"/>
                      <a:pt x="644" y="193"/>
                    </a:cubicBezTo>
                    <a:cubicBezTo>
                      <a:pt x="644" y="156"/>
                      <a:pt x="644" y="127"/>
                      <a:pt x="644" y="127"/>
                    </a:cubicBezTo>
                    <a:cubicBezTo>
                      <a:pt x="515" y="0"/>
                      <a:pt x="515" y="0"/>
                      <a:pt x="515" y="0"/>
                    </a:cubicBezTo>
                    <a:cubicBezTo>
                      <a:pt x="515" y="0"/>
                      <a:pt x="482" y="0"/>
                      <a:pt x="445" y="0"/>
                    </a:cubicBezTo>
                    <a:lnTo>
                      <a:pt x="67" y="0"/>
                    </a:lnTo>
                    <a:close/>
                  </a:path>
                </a:pathLst>
              </a:custGeom>
              <a:solidFill>
                <a:srgbClr val="B9B9B9"/>
              </a:solidFill>
              <a:ln>
                <a:noFill/>
              </a:ln>
            </p:spPr>
            <p:txBody>
              <a:bodyPr anchorCtr="0" anchor="t" bIns="45675" lIns="91375" spcFirstLastPara="1" rIns="91375" wrap="square" tIns="45675">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sp>
            <p:nvSpPr>
              <p:cNvPr id="239" name="Google Shape;239;p9"/>
              <p:cNvSpPr/>
              <p:nvPr/>
            </p:nvSpPr>
            <p:spPr>
              <a:xfrm>
                <a:off x="828249" y="2734135"/>
                <a:ext cx="107771" cy="333265"/>
              </a:xfrm>
              <a:custGeom>
                <a:rect b="b" l="l" r="r" t="t"/>
                <a:pathLst>
                  <a:path extrusionOk="0" h="265" w="86">
                    <a:moveTo>
                      <a:pt x="23" y="56"/>
                    </a:moveTo>
                    <a:lnTo>
                      <a:pt x="23" y="90"/>
                    </a:lnTo>
                    <a:cubicBezTo>
                      <a:pt x="23" y="109"/>
                      <a:pt x="16" y="119"/>
                      <a:pt x="0" y="119"/>
                    </a:cubicBezTo>
                    <a:lnTo>
                      <a:pt x="0" y="146"/>
                    </a:lnTo>
                    <a:cubicBezTo>
                      <a:pt x="16" y="146"/>
                      <a:pt x="23" y="156"/>
                      <a:pt x="23" y="174"/>
                    </a:cubicBezTo>
                    <a:lnTo>
                      <a:pt x="23" y="210"/>
                    </a:lnTo>
                    <a:cubicBezTo>
                      <a:pt x="23" y="229"/>
                      <a:pt x="27" y="243"/>
                      <a:pt x="36" y="251"/>
                    </a:cubicBezTo>
                    <a:cubicBezTo>
                      <a:pt x="45" y="260"/>
                      <a:pt x="62" y="265"/>
                      <a:pt x="86" y="265"/>
                    </a:cubicBezTo>
                    <a:lnTo>
                      <a:pt x="86" y="237"/>
                    </a:lnTo>
                    <a:cubicBezTo>
                      <a:pt x="77" y="237"/>
                      <a:pt x="71" y="235"/>
                      <a:pt x="67" y="231"/>
                    </a:cubicBezTo>
                    <a:cubicBezTo>
                      <a:pt x="64" y="227"/>
                      <a:pt x="62" y="220"/>
                      <a:pt x="62" y="210"/>
                    </a:cubicBezTo>
                    <a:lnTo>
                      <a:pt x="62" y="179"/>
                    </a:lnTo>
                    <a:cubicBezTo>
                      <a:pt x="62" y="154"/>
                      <a:pt x="54" y="139"/>
                      <a:pt x="39" y="133"/>
                    </a:cubicBezTo>
                    <a:lnTo>
                      <a:pt x="39" y="132"/>
                    </a:lnTo>
                    <a:cubicBezTo>
                      <a:pt x="54" y="126"/>
                      <a:pt x="62" y="111"/>
                      <a:pt x="62" y="87"/>
                    </a:cubicBezTo>
                    <a:lnTo>
                      <a:pt x="62" y="55"/>
                    </a:lnTo>
                    <a:cubicBezTo>
                      <a:pt x="62" y="37"/>
                      <a:pt x="70" y="28"/>
                      <a:pt x="86" y="28"/>
                    </a:cubicBezTo>
                    <a:lnTo>
                      <a:pt x="86" y="0"/>
                    </a:lnTo>
                    <a:cubicBezTo>
                      <a:pt x="62" y="0"/>
                      <a:pt x="46" y="5"/>
                      <a:pt x="36" y="14"/>
                    </a:cubicBezTo>
                    <a:cubicBezTo>
                      <a:pt x="28" y="23"/>
                      <a:pt x="23" y="37"/>
                      <a:pt x="23" y="56"/>
                    </a:cubicBezTo>
                    <a:close/>
                  </a:path>
                </a:pathLst>
              </a:custGeom>
              <a:solidFill>
                <a:srgbClr val="505050"/>
              </a:solidFill>
              <a:ln>
                <a:noFill/>
              </a:ln>
            </p:spPr>
            <p:txBody>
              <a:bodyPr anchorCtr="0" anchor="t" bIns="45675" lIns="91375" spcFirstLastPara="1" rIns="91375" wrap="square" tIns="45675">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sp>
            <p:nvSpPr>
              <p:cNvPr id="240" name="Google Shape;240;p9"/>
              <p:cNvSpPr/>
              <p:nvPr/>
            </p:nvSpPr>
            <p:spPr>
              <a:xfrm>
                <a:off x="1000685" y="2734135"/>
                <a:ext cx="107771" cy="333265"/>
              </a:xfrm>
              <a:custGeom>
                <a:rect b="b" l="l" r="r" t="t"/>
                <a:pathLst>
                  <a:path extrusionOk="0" h="265" w="85">
                    <a:moveTo>
                      <a:pt x="62" y="90"/>
                    </a:moveTo>
                    <a:lnTo>
                      <a:pt x="62" y="56"/>
                    </a:lnTo>
                    <a:cubicBezTo>
                      <a:pt x="62" y="37"/>
                      <a:pt x="58" y="23"/>
                      <a:pt x="50" y="15"/>
                    </a:cubicBezTo>
                    <a:cubicBezTo>
                      <a:pt x="40" y="5"/>
                      <a:pt x="23" y="0"/>
                      <a:pt x="0" y="0"/>
                    </a:cubicBezTo>
                    <a:lnTo>
                      <a:pt x="0" y="28"/>
                    </a:lnTo>
                    <a:cubicBezTo>
                      <a:pt x="16" y="28"/>
                      <a:pt x="24" y="37"/>
                      <a:pt x="24" y="55"/>
                    </a:cubicBezTo>
                    <a:lnTo>
                      <a:pt x="24" y="85"/>
                    </a:lnTo>
                    <a:cubicBezTo>
                      <a:pt x="24" y="110"/>
                      <a:pt x="32" y="126"/>
                      <a:pt x="47" y="132"/>
                    </a:cubicBezTo>
                    <a:lnTo>
                      <a:pt x="47" y="133"/>
                    </a:lnTo>
                    <a:cubicBezTo>
                      <a:pt x="32" y="139"/>
                      <a:pt x="24" y="154"/>
                      <a:pt x="24" y="178"/>
                    </a:cubicBezTo>
                    <a:lnTo>
                      <a:pt x="24" y="210"/>
                    </a:lnTo>
                    <a:cubicBezTo>
                      <a:pt x="24" y="219"/>
                      <a:pt x="22" y="226"/>
                      <a:pt x="19" y="231"/>
                    </a:cubicBezTo>
                    <a:cubicBezTo>
                      <a:pt x="15" y="235"/>
                      <a:pt x="9" y="237"/>
                      <a:pt x="0" y="237"/>
                    </a:cubicBezTo>
                    <a:lnTo>
                      <a:pt x="0" y="265"/>
                    </a:lnTo>
                    <a:cubicBezTo>
                      <a:pt x="24" y="265"/>
                      <a:pt x="41" y="260"/>
                      <a:pt x="50" y="251"/>
                    </a:cubicBezTo>
                    <a:cubicBezTo>
                      <a:pt x="58" y="242"/>
                      <a:pt x="62" y="229"/>
                      <a:pt x="62" y="209"/>
                    </a:cubicBezTo>
                    <a:lnTo>
                      <a:pt x="62" y="174"/>
                    </a:lnTo>
                    <a:cubicBezTo>
                      <a:pt x="62" y="156"/>
                      <a:pt x="70" y="146"/>
                      <a:pt x="85" y="146"/>
                    </a:cubicBezTo>
                    <a:lnTo>
                      <a:pt x="85" y="119"/>
                    </a:lnTo>
                    <a:cubicBezTo>
                      <a:pt x="70" y="119"/>
                      <a:pt x="62" y="109"/>
                      <a:pt x="62" y="90"/>
                    </a:cubicBezTo>
                    <a:close/>
                  </a:path>
                </a:pathLst>
              </a:custGeom>
              <a:solidFill>
                <a:srgbClr val="505050"/>
              </a:solidFill>
              <a:ln>
                <a:noFill/>
              </a:ln>
            </p:spPr>
            <p:txBody>
              <a:bodyPr anchorCtr="0" anchor="t" bIns="45675" lIns="91375" spcFirstLastPara="1" rIns="91375" wrap="square" tIns="45675">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grpSp>
        <p:sp>
          <p:nvSpPr>
            <p:cNvPr id="241" name="Google Shape;241;p9"/>
            <p:cNvSpPr/>
            <p:nvPr/>
          </p:nvSpPr>
          <p:spPr>
            <a:xfrm>
              <a:off x="2052638" y="5550508"/>
              <a:ext cx="89489" cy="85748"/>
            </a:xfrm>
            <a:custGeom>
              <a:rect b="b" l="l" r="r" t="t"/>
              <a:pathLst>
                <a:path extrusionOk="0" h="79" w="81">
                  <a:moveTo>
                    <a:pt x="81" y="79"/>
                  </a:moveTo>
                  <a:lnTo>
                    <a:pt x="0" y="0"/>
                  </a:lnTo>
                  <a:lnTo>
                    <a:pt x="0" y="79"/>
                  </a:lnTo>
                  <a:lnTo>
                    <a:pt x="81" y="79"/>
                  </a:lnTo>
                  <a:close/>
                </a:path>
              </a:pathLst>
            </a:custGeom>
            <a:solidFill>
              <a:srgbClr val="969696"/>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grpSp>
      <p:grpSp>
        <p:nvGrpSpPr>
          <p:cNvPr id="242" name="Google Shape;242;p9"/>
          <p:cNvGrpSpPr/>
          <p:nvPr/>
        </p:nvGrpSpPr>
        <p:grpSpPr>
          <a:xfrm>
            <a:off x="9512412" y="5215163"/>
            <a:ext cx="2384228" cy="1592224"/>
            <a:chOff x="9674972" y="4990400"/>
            <a:chExt cx="2384228" cy="1592224"/>
          </a:xfrm>
        </p:grpSpPr>
        <p:sp>
          <p:nvSpPr>
            <p:cNvPr id="243" name="Google Shape;243;p9"/>
            <p:cNvSpPr/>
            <p:nvPr/>
          </p:nvSpPr>
          <p:spPr>
            <a:xfrm>
              <a:off x="9674972" y="4990400"/>
              <a:ext cx="2384228" cy="1592224"/>
            </a:xfrm>
            <a:prstGeom prst="rect">
              <a:avLst/>
            </a:prstGeom>
            <a:solidFill>
              <a:srgbClr val="002060"/>
            </a:solidFill>
            <a:ln>
              <a:noFill/>
            </a:ln>
          </p:spPr>
          <p:txBody>
            <a:bodyPr anchorCtr="0" anchor="t" bIns="146275" lIns="182850" spcFirstLastPara="1" rIns="182850" wrap="square" tIns="14627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Quattrocento Sans"/>
                  <a:ea typeface="Quattrocento Sans"/>
                  <a:cs typeface="Quattrocento Sans"/>
                  <a:sym typeface="Quattrocento Sans"/>
                </a:rPr>
                <a:t>PRODUCTION</a:t>
              </a:r>
              <a:endParaRPr/>
            </a:p>
          </p:txBody>
        </p:sp>
        <p:sp>
          <p:nvSpPr>
            <p:cNvPr id="244" name="Google Shape;244;p9"/>
            <p:cNvSpPr/>
            <p:nvPr/>
          </p:nvSpPr>
          <p:spPr>
            <a:xfrm>
              <a:off x="10988934" y="5555666"/>
              <a:ext cx="796841" cy="822282"/>
            </a:xfrm>
            <a:custGeom>
              <a:rect b="b" l="l" r="r" t="t"/>
              <a:pathLst>
                <a:path extrusionOk="0" h="383" w="371">
                  <a:moveTo>
                    <a:pt x="364" y="103"/>
                  </a:moveTo>
                  <a:cubicBezTo>
                    <a:pt x="216" y="3"/>
                    <a:pt x="216" y="3"/>
                    <a:pt x="216" y="3"/>
                  </a:cubicBezTo>
                  <a:cubicBezTo>
                    <a:pt x="213" y="1"/>
                    <a:pt x="208" y="0"/>
                    <a:pt x="203" y="1"/>
                  </a:cubicBezTo>
                  <a:cubicBezTo>
                    <a:pt x="13" y="50"/>
                    <a:pt x="13" y="50"/>
                    <a:pt x="13" y="50"/>
                  </a:cubicBezTo>
                  <a:cubicBezTo>
                    <a:pt x="5" y="52"/>
                    <a:pt x="0" y="58"/>
                    <a:pt x="0" y="66"/>
                  </a:cubicBezTo>
                  <a:cubicBezTo>
                    <a:pt x="0" y="243"/>
                    <a:pt x="0" y="243"/>
                    <a:pt x="0" y="243"/>
                  </a:cubicBezTo>
                  <a:cubicBezTo>
                    <a:pt x="0" y="248"/>
                    <a:pt x="2" y="252"/>
                    <a:pt x="5" y="255"/>
                  </a:cubicBezTo>
                  <a:cubicBezTo>
                    <a:pt x="125" y="379"/>
                    <a:pt x="125" y="379"/>
                    <a:pt x="125" y="379"/>
                  </a:cubicBezTo>
                  <a:cubicBezTo>
                    <a:pt x="128" y="382"/>
                    <a:pt x="132" y="383"/>
                    <a:pt x="137" y="383"/>
                  </a:cubicBezTo>
                  <a:cubicBezTo>
                    <a:pt x="138" y="383"/>
                    <a:pt x="140" y="383"/>
                    <a:pt x="142" y="383"/>
                  </a:cubicBezTo>
                  <a:cubicBezTo>
                    <a:pt x="351" y="310"/>
                    <a:pt x="351" y="310"/>
                    <a:pt x="351" y="310"/>
                  </a:cubicBezTo>
                  <a:cubicBezTo>
                    <a:pt x="357" y="308"/>
                    <a:pt x="362" y="302"/>
                    <a:pt x="362" y="296"/>
                  </a:cubicBezTo>
                  <a:cubicBezTo>
                    <a:pt x="371" y="117"/>
                    <a:pt x="371" y="117"/>
                    <a:pt x="371" y="117"/>
                  </a:cubicBezTo>
                  <a:cubicBezTo>
                    <a:pt x="371" y="112"/>
                    <a:pt x="369" y="106"/>
                    <a:pt x="364" y="103"/>
                  </a:cubicBezTo>
                  <a:close/>
                  <a:moveTo>
                    <a:pt x="204" y="34"/>
                  </a:moveTo>
                  <a:cubicBezTo>
                    <a:pt x="321" y="113"/>
                    <a:pt x="321" y="113"/>
                    <a:pt x="321" y="113"/>
                  </a:cubicBezTo>
                  <a:cubicBezTo>
                    <a:pt x="251" y="134"/>
                    <a:pt x="251" y="134"/>
                    <a:pt x="251" y="134"/>
                  </a:cubicBezTo>
                  <a:cubicBezTo>
                    <a:pt x="139" y="51"/>
                    <a:pt x="139" y="51"/>
                    <a:pt x="139" y="51"/>
                  </a:cubicBezTo>
                  <a:lnTo>
                    <a:pt x="204" y="34"/>
                  </a:lnTo>
                  <a:close/>
                  <a:moveTo>
                    <a:pt x="143" y="167"/>
                  </a:moveTo>
                  <a:cubicBezTo>
                    <a:pt x="42" y="76"/>
                    <a:pt x="42" y="76"/>
                    <a:pt x="42" y="76"/>
                  </a:cubicBezTo>
                  <a:cubicBezTo>
                    <a:pt x="113" y="58"/>
                    <a:pt x="113" y="58"/>
                    <a:pt x="113" y="58"/>
                  </a:cubicBezTo>
                  <a:cubicBezTo>
                    <a:pt x="225" y="142"/>
                    <a:pt x="225" y="142"/>
                    <a:pt x="225" y="142"/>
                  </a:cubicBezTo>
                  <a:lnTo>
                    <a:pt x="143" y="167"/>
                  </a:lnTo>
                  <a:close/>
                  <a:moveTo>
                    <a:pt x="33" y="237"/>
                  </a:moveTo>
                  <a:cubicBezTo>
                    <a:pt x="33" y="96"/>
                    <a:pt x="33" y="96"/>
                    <a:pt x="33" y="96"/>
                  </a:cubicBezTo>
                  <a:cubicBezTo>
                    <a:pt x="130" y="184"/>
                    <a:pt x="130" y="184"/>
                    <a:pt x="130" y="184"/>
                  </a:cubicBezTo>
                  <a:cubicBezTo>
                    <a:pt x="130" y="338"/>
                    <a:pt x="130" y="338"/>
                    <a:pt x="130" y="338"/>
                  </a:cubicBezTo>
                  <a:lnTo>
                    <a:pt x="33" y="237"/>
                  </a:lnTo>
                  <a:close/>
                  <a:moveTo>
                    <a:pt x="152" y="345"/>
                  </a:moveTo>
                  <a:cubicBezTo>
                    <a:pt x="152" y="187"/>
                    <a:pt x="152" y="187"/>
                    <a:pt x="152" y="187"/>
                  </a:cubicBezTo>
                  <a:cubicBezTo>
                    <a:pt x="338" y="130"/>
                    <a:pt x="338" y="130"/>
                    <a:pt x="338" y="130"/>
                  </a:cubicBezTo>
                  <a:cubicBezTo>
                    <a:pt x="330" y="283"/>
                    <a:pt x="330" y="283"/>
                    <a:pt x="330" y="283"/>
                  </a:cubicBezTo>
                  <a:lnTo>
                    <a:pt x="152" y="345"/>
                  </a:lnTo>
                  <a:close/>
                </a:path>
              </a:pathLst>
            </a:custGeom>
            <a:solidFill>
              <a:srgbClr val="505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Quattrocento Sans"/>
                <a:ea typeface="Quattrocento Sans"/>
                <a:cs typeface="Quattrocento Sans"/>
                <a:sym typeface="Quattrocento Sans"/>
              </a:endParaRPr>
            </a:p>
          </p:txBody>
        </p:sp>
      </p:grpSp>
      <p:grpSp>
        <p:nvGrpSpPr>
          <p:cNvPr id="245" name="Google Shape;245;p9"/>
          <p:cNvGrpSpPr/>
          <p:nvPr/>
        </p:nvGrpSpPr>
        <p:grpSpPr>
          <a:xfrm>
            <a:off x="9512412" y="1571969"/>
            <a:ext cx="2384228" cy="1592224"/>
            <a:chOff x="9674972" y="1562533"/>
            <a:chExt cx="2384228" cy="1592224"/>
          </a:xfrm>
        </p:grpSpPr>
        <p:sp>
          <p:nvSpPr>
            <p:cNvPr id="220" name="Google Shape;220;p9"/>
            <p:cNvSpPr/>
            <p:nvPr/>
          </p:nvSpPr>
          <p:spPr>
            <a:xfrm>
              <a:off x="9674972" y="1562533"/>
              <a:ext cx="2384228" cy="1592224"/>
            </a:xfrm>
            <a:prstGeom prst="rect">
              <a:avLst/>
            </a:prstGeom>
            <a:solidFill>
              <a:srgbClr val="002060"/>
            </a:solidFill>
            <a:ln>
              <a:noFill/>
            </a:ln>
          </p:spPr>
          <p:txBody>
            <a:bodyPr anchorCtr="0" anchor="t" bIns="146275" lIns="182850" spcFirstLastPara="1" rIns="182850" wrap="square" tIns="14627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Quattrocento Sans"/>
                  <a:ea typeface="Quattrocento Sans"/>
                  <a:cs typeface="Quattrocento Sans"/>
                  <a:sym typeface="Quattrocento Sans"/>
                </a:rPr>
                <a:t>DEVELOPMENT</a:t>
              </a:r>
              <a:endParaRPr/>
            </a:p>
          </p:txBody>
        </p:sp>
        <p:sp>
          <p:nvSpPr>
            <p:cNvPr id="246" name="Google Shape;246;p9"/>
            <p:cNvSpPr/>
            <p:nvPr/>
          </p:nvSpPr>
          <p:spPr>
            <a:xfrm>
              <a:off x="10988934" y="2128949"/>
              <a:ext cx="796841" cy="822282"/>
            </a:xfrm>
            <a:custGeom>
              <a:rect b="b" l="l" r="r" t="t"/>
              <a:pathLst>
                <a:path extrusionOk="0" h="383" w="371">
                  <a:moveTo>
                    <a:pt x="364" y="103"/>
                  </a:moveTo>
                  <a:cubicBezTo>
                    <a:pt x="216" y="3"/>
                    <a:pt x="216" y="3"/>
                    <a:pt x="216" y="3"/>
                  </a:cubicBezTo>
                  <a:cubicBezTo>
                    <a:pt x="213" y="1"/>
                    <a:pt x="208" y="0"/>
                    <a:pt x="203" y="1"/>
                  </a:cubicBezTo>
                  <a:cubicBezTo>
                    <a:pt x="13" y="50"/>
                    <a:pt x="13" y="50"/>
                    <a:pt x="13" y="50"/>
                  </a:cubicBezTo>
                  <a:cubicBezTo>
                    <a:pt x="5" y="52"/>
                    <a:pt x="0" y="58"/>
                    <a:pt x="0" y="66"/>
                  </a:cubicBezTo>
                  <a:cubicBezTo>
                    <a:pt x="0" y="243"/>
                    <a:pt x="0" y="243"/>
                    <a:pt x="0" y="243"/>
                  </a:cubicBezTo>
                  <a:cubicBezTo>
                    <a:pt x="0" y="248"/>
                    <a:pt x="2" y="252"/>
                    <a:pt x="5" y="255"/>
                  </a:cubicBezTo>
                  <a:cubicBezTo>
                    <a:pt x="125" y="379"/>
                    <a:pt x="125" y="379"/>
                    <a:pt x="125" y="379"/>
                  </a:cubicBezTo>
                  <a:cubicBezTo>
                    <a:pt x="128" y="382"/>
                    <a:pt x="132" y="383"/>
                    <a:pt x="137" y="383"/>
                  </a:cubicBezTo>
                  <a:cubicBezTo>
                    <a:pt x="138" y="383"/>
                    <a:pt x="140" y="383"/>
                    <a:pt x="142" y="383"/>
                  </a:cubicBezTo>
                  <a:cubicBezTo>
                    <a:pt x="351" y="310"/>
                    <a:pt x="351" y="310"/>
                    <a:pt x="351" y="310"/>
                  </a:cubicBezTo>
                  <a:cubicBezTo>
                    <a:pt x="357" y="308"/>
                    <a:pt x="362" y="302"/>
                    <a:pt x="362" y="296"/>
                  </a:cubicBezTo>
                  <a:cubicBezTo>
                    <a:pt x="371" y="117"/>
                    <a:pt x="371" y="117"/>
                    <a:pt x="371" y="117"/>
                  </a:cubicBezTo>
                  <a:cubicBezTo>
                    <a:pt x="371" y="112"/>
                    <a:pt x="369" y="106"/>
                    <a:pt x="364" y="103"/>
                  </a:cubicBezTo>
                  <a:close/>
                  <a:moveTo>
                    <a:pt x="204" y="34"/>
                  </a:moveTo>
                  <a:cubicBezTo>
                    <a:pt x="321" y="113"/>
                    <a:pt x="321" y="113"/>
                    <a:pt x="321" y="113"/>
                  </a:cubicBezTo>
                  <a:cubicBezTo>
                    <a:pt x="251" y="134"/>
                    <a:pt x="251" y="134"/>
                    <a:pt x="251" y="134"/>
                  </a:cubicBezTo>
                  <a:cubicBezTo>
                    <a:pt x="139" y="51"/>
                    <a:pt x="139" y="51"/>
                    <a:pt x="139" y="51"/>
                  </a:cubicBezTo>
                  <a:lnTo>
                    <a:pt x="204" y="34"/>
                  </a:lnTo>
                  <a:close/>
                  <a:moveTo>
                    <a:pt x="143" y="167"/>
                  </a:moveTo>
                  <a:cubicBezTo>
                    <a:pt x="42" y="76"/>
                    <a:pt x="42" y="76"/>
                    <a:pt x="42" y="76"/>
                  </a:cubicBezTo>
                  <a:cubicBezTo>
                    <a:pt x="113" y="58"/>
                    <a:pt x="113" y="58"/>
                    <a:pt x="113" y="58"/>
                  </a:cubicBezTo>
                  <a:cubicBezTo>
                    <a:pt x="225" y="142"/>
                    <a:pt x="225" y="142"/>
                    <a:pt x="225" y="142"/>
                  </a:cubicBezTo>
                  <a:lnTo>
                    <a:pt x="143" y="167"/>
                  </a:lnTo>
                  <a:close/>
                  <a:moveTo>
                    <a:pt x="33" y="237"/>
                  </a:moveTo>
                  <a:cubicBezTo>
                    <a:pt x="33" y="96"/>
                    <a:pt x="33" y="96"/>
                    <a:pt x="33" y="96"/>
                  </a:cubicBezTo>
                  <a:cubicBezTo>
                    <a:pt x="130" y="184"/>
                    <a:pt x="130" y="184"/>
                    <a:pt x="130" y="184"/>
                  </a:cubicBezTo>
                  <a:cubicBezTo>
                    <a:pt x="130" y="338"/>
                    <a:pt x="130" y="338"/>
                    <a:pt x="130" y="338"/>
                  </a:cubicBezTo>
                  <a:lnTo>
                    <a:pt x="33" y="237"/>
                  </a:lnTo>
                  <a:close/>
                  <a:moveTo>
                    <a:pt x="152" y="345"/>
                  </a:moveTo>
                  <a:cubicBezTo>
                    <a:pt x="152" y="187"/>
                    <a:pt x="152" y="187"/>
                    <a:pt x="152" y="187"/>
                  </a:cubicBezTo>
                  <a:cubicBezTo>
                    <a:pt x="338" y="130"/>
                    <a:pt x="338" y="130"/>
                    <a:pt x="338" y="130"/>
                  </a:cubicBezTo>
                  <a:cubicBezTo>
                    <a:pt x="330" y="283"/>
                    <a:pt x="330" y="283"/>
                    <a:pt x="330" y="283"/>
                  </a:cubicBezTo>
                  <a:lnTo>
                    <a:pt x="152" y="345"/>
                  </a:lnTo>
                  <a:close/>
                </a:path>
              </a:pathLst>
            </a:custGeom>
            <a:solidFill>
              <a:srgbClr val="505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Quattrocento Sans"/>
                <a:ea typeface="Quattrocento Sans"/>
                <a:cs typeface="Quattrocento Sans"/>
                <a:sym typeface="Quattrocento Sans"/>
              </a:endParaRPr>
            </a:p>
          </p:txBody>
        </p:sp>
        <p:grpSp>
          <p:nvGrpSpPr>
            <p:cNvPr descr="Down:  CODE 2" id="247" name="Google Shape;247;p9"/>
            <p:cNvGrpSpPr/>
            <p:nvPr/>
          </p:nvGrpSpPr>
          <p:grpSpPr>
            <a:xfrm>
              <a:off x="10081715" y="2233697"/>
              <a:ext cx="538060" cy="560813"/>
              <a:chOff x="2328300" y="3506767"/>
              <a:chExt cx="551703" cy="575034"/>
            </a:xfrm>
          </p:grpSpPr>
          <p:sp>
            <p:nvSpPr>
              <p:cNvPr id="248" name="Google Shape;248;p9"/>
              <p:cNvSpPr/>
              <p:nvPr/>
            </p:nvSpPr>
            <p:spPr>
              <a:xfrm>
                <a:off x="2330370" y="3507272"/>
                <a:ext cx="543013" cy="555480"/>
              </a:xfrm>
              <a:prstGeom prst="rect">
                <a:avLst/>
              </a:prstGeom>
              <a:no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grpSp>
            <p:nvGrpSpPr>
              <p:cNvPr id="249" name="Google Shape;249;p9"/>
              <p:cNvGrpSpPr/>
              <p:nvPr/>
            </p:nvGrpSpPr>
            <p:grpSpPr>
              <a:xfrm>
                <a:off x="2328300" y="3506767"/>
                <a:ext cx="551703" cy="575034"/>
                <a:chOff x="3937001" y="4448175"/>
                <a:chExt cx="638175" cy="665163"/>
              </a:xfrm>
            </p:grpSpPr>
            <p:grpSp>
              <p:nvGrpSpPr>
                <p:cNvPr id="250" name="Google Shape;250;p9"/>
                <p:cNvGrpSpPr/>
                <p:nvPr/>
              </p:nvGrpSpPr>
              <p:grpSpPr>
                <a:xfrm>
                  <a:off x="3937001" y="4448175"/>
                  <a:ext cx="638175" cy="665163"/>
                  <a:chOff x="2480" y="2802"/>
                  <a:chExt cx="402" cy="419"/>
                </a:xfrm>
              </p:grpSpPr>
              <p:sp>
                <p:nvSpPr>
                  <p:cNvPr id="251" name="Google Shape;251;p9"/>
                  <p:cNvSpPr/>
                  <p:nvPr/>
                </p:nvSpPr>
                <p:spPr>
                  <a:xfrm>
                    <a:off x="2481" y="2802"/>
                    <a:ext cx="400" cy="419"/>
                  </a:xfrm>
                  <a:prstGeom prst="rect">
                    <a:avLst/>
                  </a:prstGeom>
                  <a:no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sp>
                <p:nvSpPr>
                  <p:cNvPr id="252" name="Google Shape;252;p9"/>
                  <p:cNvSpPr/>
                  <p:nvPr/>
                </p:nvSpPr>
                <p:spPr>
                  <a:xfrm>
                    <a:off x="2480" y="2802"/>
                    <a:ext cx="402" cy="418"/>
                  </a:xfrm>
                  <a:custGeom>
                    <a:rect b="b" l="l" r="r" t="t"/>
                    <a:pathLst>
                      <a:path extrusionOk="0" h="671" w="644">
                        <a:moveTo>
                          <a:pt x="67" y="0"/>
                        </a:moveTo>
                        <a:cubicBezTo>
                          <a:pt x="30" y="0"/>
                          <a:pt x="0" y="30"/>
                          <a:pt x="0" y="68"/>
                        </a:cubicBezTo>
                        <a:cubicBezTo>
                          <a:pt x="0" y="603"/>
                          <a:pt x="0" y="603"/>
                          <a:pt x="0" y="603"/>
                        </a:cubicBezTo>
                        <a:cubicBezTo>
                          <a:pt x="0" y="641"/>
                          <a:pt x="30" y="671"/>
                          <a:pt x="67" y="671"/>
                        </a:cubicBezTo>
                        <a:cubicBezTo>
                          <a:pt x="576" y="671"/>
                          <a:pt x="576" y="671"/>
                          <a:pt x="576" y="671"/>
                        </a:cubicBezTo>
                        <a:cubicBezTo>
                          <a:pt x="613" y="671"/>
                          <a:pt x="644" y="641"/>
                          <a:pt x="644" y="603"/>
                        </a:cubicBezTo>
                        <a:cubicBezTo>
                          <a:pt x="644" y="193"/>
                          <a:pt x="644" y="193"/>
                          <a:pt x="644" y="193"/>
                        </a:cubicBezTo>
                        <a:cubicBezTo>
                          <a:pt x="644" y="156"/>
                          <a:pt x="644" y="127"/>
                          <a:pt x="644" y="127"/>
                        </a:cubicBezTo>
                        <a:cubicBezTo>
                          <a:pt x="515" y="0"/>
                          <a:pt x="515" y="0"/>
                          <a:pt x="515" y="0"/>
                        </a:cubicBezTo>
                        <a:cubicBezTo>
                          <a:pt x="515" y="0"/>
                          <a:pt x="482" y="0"/>
                          <a:pt x="445" y="0"/>
                        </a:cubicBezTo>
                        <a:lnTo>
                          <a:pt x="67" y="0"/>
                        </a:lnTo>
                        <a:close/>
                      </a:path>
                    </a:pathLst>
                  </a:custGeom>
                  <a:solidFill>
                    <a:srgbClr val="B9B9B9"/>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sp>
                <p:nvSpPr>
                  <p:cNvPr id="253" name="Google Shape;253;p9"/>
                  <p:cNvSpPr/>
                  <p:nvPr/>
                </p:nvSpPr>
                <p:spPr>
                  <a:xfrm>
                    <a:off x="2801" y="2802"/>
                    <a:ext cx="81" cy="79"/>
                  </a:xfrm>
                  <a:custGeom>
                    <a:rect b="b" l="l" r="r" t="t"/>
                    <a:pathLst>
                      <a:path extrusionOk="0" h="79" w="81">
                        <a:moveTo>
                          <a:pt x="81" y="79"/>
                        </a:moveTo>
                        <a:lnTo>
                          <a:pt x="0" y="0"/>
                        </a:lnTo>
                        <a:lnTo>
                          <a:pt x="0" y="79"/>
                        </a:lnTo>
                        <a:lnTo>
                          <a:pt x="81" y="79"/>
                        </a:lnTo>
                        <a:close/>
                      </a:path>
                    </a:pathLst>
                  </a:custGeom>
                  <a:solidFill>
                    <a:srgbClr val="969696"/>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grpSp>
            <p:grpSp>
              <p:nvGrpSpPr>
                <p:cNvPr id="254" name="Google Shape;254;p9"/>
                <p:cNvGrpSpPr/>
                <p:nvPr/>
              </p:nvGrpSpPr>
              <p:grpSpPr>
                <a:xfrm>
                  <a:off x="4120302" y="4618868"/>
                  <a:ext cx="293550" cy="349134"/>
                  <a:chOff x="4662074" y="4335997"/>
                  <a:chExt cx="234105" cy="278433"/>
                </a:xfrm>
              </p:grpSpPr>
              <p:sp>
                <p:nvSpPr>
                  <p:cNvPr id="255" name="Google Shape;255;p9"/>
                  <p:cNvSpPr/>
                  <p:nvPr/>
                </p:nvSpPr>
                <p:spPr>
                  <a:xfrm>
                    <a:off x="4662074" y="4335997"/>
                    <a:ext cx="90040" cy="278433"/>
                  </a:xfrm>
                  <a:custGeom>
                    <a:rect b="b" l="l" r="r" t="t"/>
                    <a:pathLst>
                      <a:path extrusionOk="0" h="265" w="86">
                        <a:moveTo>
                          <a:pt x="23" y="56"/>
                        </a:moveTo>
                        <a:lnTo>
                          <a:pt x="23" y="90"/>
                        </a:lnTo>
                        <a:cubicBezTo>
                          <a:pt x="23" y="109"/>
                          <a:pt x="16" y="119"/>
                          <a:pt x="0" y="119"/>
                        </a:cubicBezTo>
                        <a:lnTo>
                          <a:pt x="0" y="146"/>
                        </a:lnTo>
                        <a:cubicBezTo>
                          <a:pt x="16" y="146"/>
                          <a:pt x="23" y="156"/>
                          <a:pt x="23" y="174"/>
                        </a:cubicBezTo>
                        <a:lnTo>
                          <a:pt x="23" y="210"/>
                        </a:lnTo>
                        <a:cubicBezTo>
                          <a:pt x="23" y="229"/>
                          <a:pt x="27" y="243"/>
                          <a:pt x="36" y="251"/>
                        </a:cubicBezTo>
                        <a:cubicBezTo>
                          <a:pt x="45" y="260"/>
                          <a:pt x="62" y="265"/>
                          <a:pt x="86" y="265"/>
                        </a:cubicBezTo>
                        <a:lnTo>
                          <a:pt x="86" y="237"/>
                        </a:lnTo>
                        <a:cubicBezTo>
                          <a:pt x="77" y="237"/>
                          <a:pt x="71" y="235"/>
                          <a:pt x="67" y="231"/>
                        </a:cubicBezTo>
                        <a:cubicBezTo>
                          <a:pt x="64" y="227"/>
                          <a:pt x="62" y="220"/>
                          <a:pt x="62" y="210"/>
                        </a:cubicBezTo>
                        <a:lnTo>
                          <a:pt x="62" y="179"/>
                        </a:lnTo>
                        <a:cubicBezTo>
                          <a:pt x="62" y="154"/>
                          <a:pt x="54" y="139"/>
                          <a:pt x="39" y="133"/>
                        </a:cubicBezTo>
                        <a:lnTo>
                          <a:pt x="39" y="132"/>
                        </a:lnTo>
                        <a:cubicBezTo>
                          <a:pt x="54" y="126"/>
                          <a:pt x="62" y="111"/>
                          <a:pt x="62" y="87"/>
                        </a:cubicBezTo>
                        <a:lnTo>
                          <a:pt x="62" y="55"/>
                        </a:lnTo>
                        <a:cubicBezTo>
                          <a:pt x="62" y="37"/>
                          <a:pt x="70" y="28"/>
                          <a:pt x="86" y="28"/>
                        </a:cubicBezTo>
                        <a:lnTo>
                          <a:pt x="86" y="0"/>
                        </a:lnTo>
                        <a:cubicBezTo>
                          <a:pt x="62" y="0"/>
                          <a:pt x="46" y="5"/>
                          <a:pt x="36" y="14"/>
                        </a:cubicBezTo>
                        <a:cubicBezTo>
                          <a:pt x="28" y="23"/>
                          <a:pt x="23" y="37"/>
                          <a:pt x="23" y="56"/>
                        </a:cubicBezTo>
                        <a:close/>
                      </a:path>
                    </a:pathLst>
                  </a:custGeom>
                  <a:solidFill>
                    <a:srgbClr val="505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sp>
                <p:nvSpPr>
                  <p:cNvPr id="256" name="Google Shape;256;p9"/>
                  <p:cNvSpPr/>
                  <p:nvPr/>
                </p:nvSpPr>
                <p:spPr>
                  <a:xfrm>
                    <a:off x="4806139" y="4335997"/>
                    <a:ext cx="90040" cy="278433"/>
                  </a:xfrm>
                  <a:custGeom>
                    <a:rect b="b" l="l" r="r" t="t"/>
                    <a:pathLst>
                      <a:path extrusionOk="0" h="265" w="85">
                        <a:moveTo>
                          <a:pt x="62" y="90"/>
                        </a:moveTo>
                        <a:lnTo>
                          <a:pt x="62" y="56"/>
                        </a:lnTo>
                        <a:cubicBezTo>
                          <a:pt x="62" y="37"/>
                          <a:pt x="58" y="23"/>
                          <a:pt x="50" y="15"/>
                        </a:cubicBezTo>
                        <a:cubicBezTo>
                          <a:pt x="40" y="5"/>
                          <a:pt x="23" y="0"/>
                          <a:pt x="0" y="0"/>
                        </a:cubicBezTo>
                        <a:lnTo>
                          <a:pt x="0" y="28"/>
                        </a:lnTo>
                        <a:cubicBezTo>
                          <a:pt x="16" y="28"/>
                          <a:pt x="24" y="37"/>
                          <a:pt x="24" y="55"/>
                        </a:cubicBezTo>
                        <a:lnTo>
                          <a:pt x="24" y="85"/>
                        </a:lnTo>
                        <a:cubicBezTo>
                          <a:pt x="24" y="110"/>
                          <a:pt x="32" y="126"/>
                          <a:pt x="47" y="132"/>
                        </a:cubicBezTo>
                        <a:lnTo>
                          <a:pt x="47" y="133"/>
                        </a:lnTo>
                        <a:cubicBezTo>
                          <a:pt x="32" y="139"/>
                          <a:pt x="24" y="154"/>
                          <a:pt x="24" y="178"/>
                        </a:cubicBezTo>
                        <a:lnTo>
                          <a:pt x="24" y="210"/>
                        </a:lnTo>
                        <a:cubicBezTo>
                          <a:pt x="24" y="219"/>
                          <a:pt x="22" y="226"/>
                          <a:pt x="19" y="231"/>
                        </a:cubicBezTo>
                        <a:cubicBezTo>
                          <a:pt x="15" y="235"/>
                          <a:pt x="9" y="237"/>
                          <a:pt x="0" y="237"/>
                        </a:cubicBezTo>
                        <a:lnTo>
                          <a:pt x="0" y="265"/>
                        </a:lnTo>
                        <a:cubicBezTo>
                          <a:pt x="24" y="265"/>
                          <a:pt x="41" y="260"/>
                          <a:pt x="50" y="251"/>
                        </a:cubicBezTo>
                        <a:cubicBezTo>
                          <a:pt x="58" y="242"/>
                          <a:pt x="62" y="229"/>
                          <a:pt x="62" y="209"/>
                        </a:cubicBezTo>
                        <a:lnTo>
                          <a:pt x="62" y="174"/>
                        </a:lnTo>
                        <a:cubicBezTo>
                          <a:pt x="62" y="156"/>
                          <a:pt x="70" y="146"/>
                          <a:pt x="85" y="146"/>
                        </a:cubicBezTo>
                        <a:lnTo>
                          <a:pt x="85" y="119"/>
                        </a:lnTo>
                        <a:cubicBezTo>
                          <a:pt x="70" y="119"/>
                          <a:pt x="62" y="109"/>
                          <a:pt x="62" y="90"/>
                        </a:cubicBezTo>
                        <a:close/>
                      </a:path>
                    </a:pathLst>
                  </a:custGeom>
                  <a:solidFill>
                    <a:srgbClr val="505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grpSp>
          </p:grpSp>
        </p:grpSp>
      </p:grpSp>
      <p:grpSp>
        <p:nvGrpSpPr>
          <p:cNvPr id="257" name="Google Shape;257;p9"/>
          <p:cNvGrpSpPr/>
          <p:nvPr/>
        </p:nvGrpSpPr>
        <p:grpSpPr>
          <a:xfrm>
            <a:off x="9512412" y="3388848"/>
            <a:ext cx="2384228" cy="1592224"/>
            <a:chOff x="9674972" y="3276467"/>
            <a:chExt cx="2384228" cy="1592224"/>
          </a:xfrm>
        </p:grpSpPr>
        <p:sp>
          <p:nvSpPr>
            <p:cNvPr id="258" name="Google Shape;258;p9"/>
            <p:cNvSpPr/>
            <p:nvPr/>
          </p:nvSpPr>
          <p:spPr>
            <a:xfrm>
              <a:off x="9674972" y="3276467"/>
              <a:ext cx="2384228" cy="1592224"/>
            </a:xfrm>
            <a:prstGeom prst="rect">
              <a:avLst/>
            </a:prstGeom>
            <a:solidFill>
              <a:srgbClr val="002060"/>
            </a:solidFill>
            <a:ln>
              <a:noFill/>
            </a:ln>
          </p:spPr>
          <p:txBody>
            <a:bodyPr anchorCtr="0" anchor="t" bIns="146275" lIns="182850" spcFirstLastPara="1" rIns="182850" wrap="square" tIns="14627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Quattrocento Sans"/>
                  <a:ea typeface="Quattrocento Sans"/>
                  <a:cs typeface="Quattrocento Sans"/>
                  <a:sym typeface="Quattrocento Sans"/>
                </a:rPr>
                <a:t>STAGING</a:t>
              </a:r>
              <a:endParaRPr/>
            </a:p>
          </p:txBody>
        </p:sp>
        <p:sp>
          <p:nvSpPr>
            <p:cNvPr id="259" name="Google Shape;259;p9"/>
            <p:cNvSpPr/>
            <p:nvPr/>
          </p:nvSpPr>
          <p:spPr>
            <a:xfrm>
              <a:off x="10988934" y="3834674"/>
              <a:ext cx="796841" cy="822282"/>
            </a:xfrm>
            <a:custGeom>
              <a:rect b="b" l="l" r="r" t="t"/>
              <a:pathLst>
                <a:path extrusionOk="0" h="383" w="371">
                  <a:moveTo>
                    <a:pt x="364" y="103"/>
                  </a:moveTo>
                  <a:cubicBezTo>
                    <a:pt x="216" y="3"/>
                    <a:pt x="216" y="3"/>
                    <a:pt x="216" y="3"/>
                  </a:cubicBezTo>
                  <a:cubicBezTo>
                    <a:pt x="213" y="1"/>
                    <a:pt x="208" y="0"/>
                    <a:pt x="203" y="1"/>
                  </a:cubicBezTo>
                  <a:cubicBezTo>
                    <a:pt x="13" y="50"/>
                    <a:pt x="13" y="50"/>
                    <a:pt x="13" y="50"/>
                  </a:cubicBezTo>
                  <a:cubicBezTo>
                    <a:pt x="5" y="52"/>
                    <a:pt x="0" y="58"/>
                    <a:pt x="0" y="66"/>
                  </a:cubicBezTo>
                  <a:cubicBezTo>
                    <a:pt x="0" y="243"/>
                    <a:pt x="0" y="243"/>
                    <a:pt x="0" y="243"/>
                  </a:cubicBezTo>
                  <a:cubicBezTo>
                    <a:pt x="0" y="248"/>
                    <a:pt x="2" y="252"/>
                    <a:pt x="5" y="255"/>
                  </a:cubicBezTo>
                  <a:cubicBezTo>
                    <a:pt x="125" y="379"/>
                    <a:pt x="125" y="379"/>
                    <a:pt x="125" y="379"/>
                  </a:cubicBezTo>
                  <a:cubicBezTo>
                    <a:pt x="128" y="382"/>
                    <a:pt x="132" y="383"/>
                    <a:pt x="137" y="383"/>
                  </a:cubicBezTo>
                  <a:cubicBezTo>
                    <a:pt x="138" y="383"/>
                    <a:pt x="140" y="383"/>
                    <a:pt x="142" y="383"/>
                  </a:cubicBezTo>
                  <a:cubicBezTo>
                    <a:pt x="351" y="310"/>
                    <a:pt x="351" y="310"/>
                    <a:pt x="351" y="310"/>
                  </a:cubicBezTo>
                  <a:cubicBezTo>
                    <a:pt x="357" y="308"/>
                    <a:pt x="362" y="302"/>
                    <a:pt x="362" y="296"/>
                  </a:cubicBezTo>
                  <a:cubicBezTo>
                    <a:pt x="371" y="117"/>
                    <a:pt x="371" y="117"/>
                    <a:pt x="371" y="117"/>
                  </a:cubicBezTo>
                  <a:cubicBezTo>
                    <a:pt x="371" y="112"/>
                    <a:pt x="369" y="106"/>
                    <a:pt x="364" y="103"/>
                  </a:cubicBezTo>
                  <a:close/>
                  <a:moveTo>
                    <a:pt x="204" y="34"/>
                  </a:moveTo>
                  <a:cubicBezTo>
                    <a:pt x="321" y="113"/>
                    <a:pt x="321" y="113"/>
                    <a:pt x="321" y="113"/>
                  </a:cubicBezTo>
                  <a:cubicBezTo>
                    <a:pt x="251" y="134"/>
                    <a:pt x="251" y="134"/>
                    <a:pt x="251" y="134"/>
                  </a:cubicBezTo>
                  <a:cubicBezTo>
                    <a:pt x="139" y="51"/>
                    <a:pt x="139" y="51"/>
                    <a:pt x="139" y="51"/>
                  </a:cubicBezTo>
                  <a:lnTo>
                    <a:pt x="204" y="34"/>
                  </a:lnTo>
                  <a:close/>
                  <a:moveTo>
                    <a:pt x="143" y="167"/>
                  </a:moveTo>
                  <a:cubicBezTo>
                    <a:pt x="42" y="76"/>
                    <a:pt x="42" y="76"/>
                    <a:pt x="42" y="76"/>
                  </a:cubicBezTo>
                  <a:cubicBezTo>
                    <a:pt x="113" y="58"/>
                    <a:pt x="113" y="58"/>
                    <a:pt x="113" y="58"/>
                  </a:cubicBezTo>
                  <a:cubicBezTo>
                    <a:pt x="225" y="142"/>
                    <a:pt x="225" y="142"/>
                    <a:pt x="225" y="142"/>
                  </a:cubicBezTo>
                  <a:lnTo>
                    <a:pt x="143" y="167"/>
                  </a:lnTo>
                  <a:close/>
                  <a:moveTo>
                    <a:pt x="33" y="237"/>
                  </a:moveTo>
                  <a:cubicBezTo>
                    <a:pt x="33" y="96"/>
                    <a:pt x="33" y="96"/>
                    <a:pt x="33" y="96"/>
                  </a:cubicBezTo>
                  <a:cubicBezTo>
                    <a:pt x="130" y="184"/>
                    <a:pt x="130" y="184"/>
                    <a:pt x="130" y="184"/>
                  </a:cubicBezTo>
                  <a:cubicBezTo>
                    <a:pt x="130" y="338"/>
                    <a:pt x="130" y="338"/>
                    <a:pt x="130" y="338"/>
                  </a:cubicBezTo>
                  <a:lnTo>
                    <a:pt x="33" y="237"/>
                  </a:lnTo>
                  <a:close/>
                  <a:moveTo>
                    <a:pt x="152" y="345"/>
                  </a:moveTo>
                  <a:cubicBezTo>
                    <a:pt x="152" y="187"/>
                    <a:pt x="152" y="187"/>
                    <a:pt x="152" y="187"/>
                  </a:cubicBezTo>
                  <a:cubicBezTo>
                    <a:pt x="338" y="130"/>
                    <a:pt x="338" y="130"/>
                    <a:pt x="338" y="130"/>
                  </a:cubicBezTo>
                  <a:cubicBezTo>
                    <a:pt x="330" y="283"/>
                    <a:pt x="330" y="283"/>
                    <a:pt x="330" y="283"/>
                  </a:cubicBezTo>
                  <a:lnTo>
                    <a:pt x="152" y="345"/>
                  </a:lnTo>
                  <a:close/>
                </a:path>
              </a:pathLst>
            </a:custGeom>
            <a:solidFill>
              <a:srgbClr val="505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Quattrocento Sans"/>
                <a:ea typeface="Quattrocento Sans"/>
                <a:cs typeface="Quattrocento Sans"/>
                <a:sym typeface="Quattrocento Sans"/>
              </a:endParaRPr>
            </a:p>
          </p:txBody>
        </p:sp>
        <p:grpSp>
          <p:nvGrpSpPr>
            <p:cNvPr descr="Down:  CODE 2" id="260" name="Google Shape;260;p9"/>
            <p:cNvGrpSpPr/>
            <p:nvPr/>
          </p:nvGrpSpPr>
          <p:grpSpPr>
            <a:xfrm>
              <a:off x="10081715" y="3980840"/>
              <a:ext cx="538060" cy="560813"/>
              <a:chOff x="2328300" y="3506767"/>
              <a:chExt cx="551703" cy="575034"/>
            </a:xfrm>
          </p:grpSpPr>
          <p:sp>
            <p:nvSpPr>
              <p:cNvPr id="261" name="Google Shape;261;p9"/>
              <p:cNvSpPr/>
              <p:nvPr/>
            </p:nvSpPr>
            <p:spPr>
              <a:xfrm>
                <a:off x="2330370" y="3507272"/>
                <a:ext cx="543013" cy="555480"/>
              </a:xfrm>
              <a:prstGeom prst="rect">
                <a:avLst/>
              </a:prstGeom>
              <a:no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grpSp>
            <p:nvGrpSpPr>
              <p:cNvPr id="262" name="Google Shape;262;p9"/>
              <p:cNvGrpSpPr/>
              <p:nvPr/>
            </p:nvGrpSpPr>
            <p:grpSpPr>
              <a:xfrm>
                <a:off x="2328300" y="3506767"/>
                <a:ext cx="551703" cy="575034"/>
                <a:chOff x="3937001" y="4448175"/>
                <a:chExt cx="638175" cy="665163"/>
              </a:xfrm>
            </p:grpSpPr>
            <p:grpSp>
              <p:nvGrpSpPr>
                <p:cNvPr id="263" name="Google Shape;263;p9"/>
                <p:cNvGrpSpPr/>
                <p:nvPr/>
              </p:nvGrpSpPr>
              <p:grpSpPr>
                <a:xfrm>
                  <a:off x="3937001" y="4448175"/>
                  <a:ext cx="638175" cy="665163"/>
                  <a:chOff x="2480" y="2802"/>
                  <a:chExt cx="402" cy="419"/>
                </a:xfrm>
              </p:grpSpPr>
              <p:sp>
                <p:nvSpPr>
                  <p:cNvPr id="264" name="Google Shape;264;p9"/>
                  <p:cNvSpPr/>
                  <p:nvPr/>
                </p:nvSpPr>
                <p:spPr>
                  <a:xfrm>
                    <a:off x="2481" y="2802"/>
                    <a:ext cx="400" cy="419"/>
                  </a:xfrm>
                  <a:prstGeom prst="rect">
                    <a:avLst/>
                  </a:prstGeom>
                  <a:no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sp>
                <p:nvSpPr>
                  <p:cNvPr id="265" name="Google Shape;265;p9"/>
                  <p:cNvSpPr/>
                  <p:nvPr/>
                </p:nvSpPr>
                <p:spPr>
                  <a:xfrm>
                    <a:off x="2480" y="2802"/>
                    <a:ext cx="402" cy="418"/>
                  </a:xfrm>
                  <a:custGeom>
                    <a:rect b="b" l="l" r="r" t="t"/>
                    <a:pathLst>
                      <a:path extrusionOk="0" h="671" w="644">
                        <a:moveTo>
                          <a:pt x="67" y="0"/>
                        </a:moveTo>
                        <a:cubicBezTo>
                          <a:pt x="30" y="0"/>
                          <a:pt x="0" y="30"/>
                          <a:pt x="0" y="68"/>
                        </a:cubicBezTo>
                        <a:cubicBezTo>
                          <a:pt x="0" y="603"/>
                          <a:pt x="0" y="603"/>
                          <a:pt x="0" y="603"/>
                        </a:cubicBezTo>
                        <a:cubicBezTo>
                          <a:pt x="0" y="641"/>
                          <a:pt x="30" y="671"/>
                          <a:pt x="67" y="671"/>
                        </a:cubicBezTo>
                        <a:cubicBezTo>
                          <a:pt x="576" y="671"/>
                          <a:pt x="576" y="671"/>
                          <a:pt x="576" y="671"/>
                        </a:cubicBezTo>
                        <a:cubicBezTo>
                          <a:pt x="613" y="671"/>
                          <a:pt x="644" y="641"/>
                          <a:pt x="644" y="603"/>
                        </a:cubicBezTo>
                        <a:cubicBezTo>
                          <a:pt x="644" y="193"/>
                          <a:pt x="644" y="193"/>
                          <a:pt x="644" y="193"/>
                        </a:cubicBezTo>
                        <a:cubicBezTo>
                          <a:pt x="644" y="156"/>
                          <a:pt x="644" y="127"/>
                          <a:pt x="644" y="127"/>
                        </a:cubicBezTo>
                        <a:cubicBezTo>
                          <a:pt x="515" y="0"/>
                          <a:pt x="515" y="0"/>
                          <a:pt x="515" y="0"/>
                        </a:cubicBezTo>
                        <a:cubicBezTo>
                          <a:pt x="515" y="0"/>
                          <a:pt x="482" y="0"/>
                          <a:pt x="445" y="0"/>
                        </a:cubicBezTo>
                        <a:lnTo>
                          <a:pt x="67" y="0"/>
                        </a:lnTo>
                        <a:close/>
                      </a:path>
                    </a:pathLst>
                  </a:custGeom>
                  <a:solidFill>
                    <a:srgbClr val="B9B9B9"/>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sp>
                <p:nvSpPr>
                  <p:cNvPr id="266" name="Google Shape;266;p9"/>
                  <p:cNvSpPr/>
                  <p:nvPr/>
                </p:nvSpPr>
                <p:spPr>
                  <a:xfrm>
                    <a:off x="2801" y="2802"/>
                    <a:ext cx="81" cy="79"/>
                  </a:xfrm>
                  <a:custGeom>
                    <a:rect b="b" l="l" r="r" t="t"/>
                    <a:pathLst>
                      <a:path extrusionOk="0" h="79" w="81">
                        <a:moveTo>
                          <a:pt x="81" y="79"/>
                        </a:moveTo>
                        <a:lnTo>
                          <a:pt x="0" y="0"/>
                        </a:lnTo>
                        <a:lnTo>
                          <a:pt x="0" y="79"/>
                        </a:lnTo>
                        <a:lnTo>
                          <a:pt x="81" y="79"/>
                        </a:lnTo>
                        <a:close/>
                      </a:path>
                    </a:pathLst>
                  </a:custGeom>
                  <a:solidFill>
                    <a:srgbClr val="969696"/>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grpSp>
            <p:grpSp>
              <p:nvGrpSpPr>
                <p:cNvPr id="267" name="Google Shape;267;p9"/>
                <p:cNvGrpSpPr/>
                <p:nvPr/>
              </p:nvGrpSpPr>
              <p:grpSpPr>
                <a:xfrm>
                  <a:off x="4120302" y="4618868"/>
                  <a:ext cx="293550" cy="349134"/>
                  <a:chOff x="4662074" y="4335997"/>
                  <a:chExt cx="234105" cy="278433"/>
                </a:xfrm>
              </p:grpSpPr>
              <p:sp>
                <p:nvSpPr>
                  <p:cNvPr id="268" name="Google Shape;268;p9"/>
                  <p:cNvSpPr/>
                  <p:nvPr/>
                </p:nvSpPr>
                <p:spPr>
                  <a:xfrm>
                    <a:off x="4662074" y="4335997"/>
                    <a:ext cx="90040" cy="278433"/>
                  </a:xfrm>
                  <a:custGeom>
                    <a:rect b="b" l="l" r="r" t="t"/>
                    <a:pathLst>
                      <a:path extrusionOk="0" h="265" w="86">
                        <a:moveTo>
                          <a:pt x="23" y="56"/>
                        </a:moveTo>
                        <a:lnTo>
                          <a:pt x="23" y="90"/>
                        </a:lnTo>
                        <a:cubicBezTo>
                          <a:pt x="23" y="109"/>
                          <a:pt x="16" y="119"/>
                          <a:pt x="0" y="119"/>
                        </a:cubicBezTo>
                        <a:lnTo>
                          <a:pt x="0" y="146"/>
                        </a:lnTo>
                        <a:cubicBezTo>
                          <a:pt x="16" y="146"/>
                          <a:pt x="23" y="156"/>
                          <a:pt x="23" y="174"/>
                        </a:cubicBezTo>
                        <a:lnTo>
                          <a:pt x="23" y="210"/>
                        </a:lnTo>
                        <a:cubicBezTo>
                          <a:pt x="23" y="229"/>
                          <a:pt x="27" y="243"/>
                          <a:pt x="36" y="251"/>
                        </a:cubicBezTo>
                        <a:cubicBezTo>
                          <a:pt x="45" y="260"/>
                          <a:pt x="62" y="265"/>
                          <a:pt x="86" y="265"/>
                        </a:cubicBezTo>
                        <a:lnTo>
                          <a:pt x="86" y="237"/>
                        </a:lnTo>
                        <a:cubicBezTo>
                          <a:pt x="77" y="237"/>
                          <a:pt x="71" y="235"/>
                          <a:pt x="67" y="231"/>
                        </a:cubicBezTo>
                        <a:cubicBezTo>
                          <a:pt x="64" y="227"/>
                          <a:pt x="62" y="220"/>
                          <a:pt x="62" y="210"/>
                        </a:cubicBezTo>
                        <a:lnTo>
                          <a:pt x="62" y="179"/>
                        </a:lnTo>
                        <a:cubicBezTo>
                          <a:pt x="62" y="154"/>
                          <a:pt x="54" y="139"/>
                          <a:pt x="39" y="133"/>
                        </a:cubicBezTo>
                        <a:lnTo>
                          <a:pt x="39" y="132"/>
                        </a:lnTo>
                        <a:cubicBezTo>
                          <a:pt x="54" y="126"/>
                          <a:pt x="62" y="111"/>
                          <a:pt x="62" y="87"/>
                        </a:cubicBezTo>
                        <a:lnTo>
                          <a:pt x="62" y="55"/>
                        </a:lnTo>
                        <a:cubicBezTo>
                          <a:pt x="62" y="37"/>
                          <a:pt x="70" y="28"/>
                          <a:pt x="86" y="28"/>
                        </a:cubicBezTo>
                        <a:lnTo>
                          <a:pt x="86" y="0"/>
                        </a:lnTo>
                        <a:cubicBezTo>
                          <a:pt x="62" y="0"/>
                          <a:pt x="46" y="5"/>
                          <a:pt x="36" y="14"/>
                        </a:cubicBezTo>
                        <a:cubicBezTo>
                          <a:pt x="28" y="23"/>
                          <a:pt x="23" y="37"/>
                          <a:pt x="23" y="56"/>
                        </a:cubicBezTo>
                        <a:close/>
                      </a:path>
                    </a:pathLst>
                  </a:custGeom>
                  <a:solidFill>
                    <a:srgbClr val="505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sp>
                <p:nvSpPr>
                  <p:cNvPr id="269" name="Google Shape;269;p9"/>
                  <p:cNvSpPr/>
                  <p:nvPr/>
                </p:nvSpPr>
                <p:spPr>
                  <a:xfrm>
                    <a:off x="4806139" y="4335997"/>
                    <a:ext cx="90040" cy="278433"/>
                  </a:xfrm>
                  <a:custGeom>
                    <a:rect b="b" l="l" r="r" t="t"/>
                    <a:pathLst>
                      <a:path extrusionOk="0" h="265" w="85">
                        <a:moveTo>
                          <a:pt x="62" y="90"/>
                        </a:moveTo>
                        <a:lnTo>
                          <a:pt x="62" y="56"/>
                        </a:lnTo>
                        <a:cubicBezTo>
                          <a:pt x="62" y="37"/>
                          <a:pt x="58" y="23"/>
                          <a:pt x="50" y="15"/>
                        </a:cubicBezTo>
                        <a:cubicBezTo>
                          <a:pt x="40" y="5"/>
                          <a:pt x="23" y="0"/>
                          <a:pt x="0" y="0"/>
                        </a:cubicBezTo>
                        <a:lnTo>
                          <a:pt x="0" y="28"/>
                        </a:lnTo>
                        <a:cubicBezTo>
                          <a:pt x="16" y="28"/>
                          <a:pt x="24" y="37"/>
                          <a:pt x="24" y="55"/>
                        </a:cubicBezTo>
                        <a:lnTo>
                          <a:pt x="24" y="85"/>
                        </a:lnTo>
                        <a:cubicBezTo>
                          <a:pt x="24" y="110"/>
                          <a:pt x="32" y="126"/>
                          <a:pt x="47" y="132"/>
                        </a:cubicBezTo>
                        <a:lnTo>
                          <a:pt x="47" y="133"/>
                        </a:lnTo>
                        <a:cubicBezTo>
                          <a:pt x="32" y="139"/>
                          <a:pt x="24" y="154"/>
                          <a:pt x="24" y="178"/>
                        </a:cubicBezTo>
                        <a:lnTo>
                          <a:pt x="24" y="210"/>
                        </a:lnTo>
                        <a:cubicBezTo>
                          <a:pt x="24" y="219"/>
                          <a:pt x="22" y="226"/>
                          <a:pt x="19" y="231"/>
                        </a:cubicBezTo>
                        <a:cubicBezTo>
                          <a:pt x="15" y="235"/>
                          <a:pt x="9" y="237"/>
                          <a:pt x="0" y="237"/>
                        </a:cubicBezTo>
                        <a:lnTo>
                          <a:pt x="0" y="265"/>
                        </a:lnTo>
                        <a:cubicBezTo>
                          <a:pt x="24" y="265"/>
                          <a:pt x="41" y="260"/>
                          <a:pt x="50" y="251"/>
                        </a:cubicBezTo>
                        <a:cubicBezTo>
                          <a:pt x="58" y="242"/>
                          <a:pt x="62" y="229"/>
                          <a:pt x="62" y="209"/>
                        </a:cubicBezTo>
                        <a:lnTo>
                          <a:pt x="62" y="174"/>
                        </a:lnTo>
                        <a:cubicBezTo>
                          <a:pt x="62" y="156"/>
                          <a:pt x="70" y="146"/>
                          <a:pt x="85" y="146"/>
                        </a:cubicBezTo>
                        <a:lnTo>
                          <a:pt x="85" y="119"/>
                        </a:lnTo>
                        <a:cubicBezTo>
                          <a:pt x="70" y="119"/>
                          <a:pt x="62" y="109"/>
                          <a:pt x="62" y="90"/>
                        </a:cubicBezTo>
                        <a:close/>
                      </a:path>
                    </a:pathLst>
                  </a:custGeom>
                  <a:solidFill>
                    <a:srgbClr val="505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836"/>
                      <a:buFont typeface="Arial"/>
                      <a:buNone/>
                    </a:pPr>
                    <a:r>
                      <a:t/>
                    </a:r>
                    <a:endParaRPr b="0" i="0" sz="1836" u="none" cap="none" strike="noStrike">
                      <a:solidFill>
                        <a:srgbClr val="FFFFFF"/>
                      </a:solidFill>
                      <a:latin typeface="Quattrocento Sans"/>
                      <a:ea typeface="Quattrocento Sans"/>
                      <a:cs typeface="Quattrocento Sans"/>
                      <a:sym typeface="Quattrocento Sans"/>
                    </a:endParaRPr>
                  </a:p>
                </p:txBody>
              </p:sp>
            </p:grpSp>
          </p:grpSp>
        </p:grpSp>
      </p:grpSp>
      <p:sp>
        <p:nvSpPr>
          <p:cNvPr id="216" name="Google Shape;216;p9"/>
          <p:cNvSpPr/>
          <p:nvPr/>
        </p:nvSpPr>
        <p:spPr>
          <a:xfrm>
            <a:off x="5215986" y="1571969"/>
            <a:ext cx="1680961" cy="1592224"/>
          </a:xfrm>
          <a:prstGeom prst="rect">
            <a:avLst/>
          </a:prstGeom>
          <a:solidFill>
            <a:srgbClr val="002060"/>
          </a:solidFill>
          <a:ln>
            <a:noFill/>
          </a:ln>
        </p:spPr>
        <p:txBody>
          <a:bodyPr anchorCtr="0" anchor="t" bIns="146275" lIns="182850" spcFirstLastPara="1" rIns="182850" wrap="square" tIns="14627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Quattrocento Sans"/>
                <a:ea typeface="Quattrocento Sans"/>
                <a:cs typeface="Quattrocento Sans"/>
                <a:sym typeface="Quattrocento Sans"/>
              </a:rPr>
              <a:t>TEST</a:t>
            </a:r>
            <a:endParaRPr/>
          </a:p>
        </p:txBody>
      </p:sp>
      <p:pic>
        <p:nvPicPr>
          <p:cNvPr id="270" name="Google Shape;270;p9"/>
          <p:cNvPicPr preferRelativeResize="0"/>
          <p:nvPr/>
        </p:nvPicPr>
        <p:blipFill rotWithShape="1">
          <a:blip r:embed="rId6">
            <a:alphaModFix/>
          </a:blip>
          <a:srcRect b="0" l="0" r="0" t="0"/>
          <a:stretch/>
        </p:blipFill>
        <p:spPr>
          <a:xfrm>
            <a:off x="5705057" y="2279845"/>
            <a:ext cx="621538" cy="633724"/>
          </a:xfrm>
          <a:prstGeom prst="rect">
            <a:avLst/>
          </a:prstGeom>
          <a:noFill/>
          <a:ln>
            <a:noFill/>
          </a:ln>
        </p:spPr>
      </p:pic>
      <p:cxnSp>
        <p:nvCxnSpPr>
          <p:cNvPr id="271" name="Google Shape;271;p9"/>
          <p:cNvCxnSpPr>
            <a:stCxn id="220" idx="2"/>
            <a:endCxn id="258" idx="0"/>
          </p:cNvCxnSpPr>
          <p:nvPr/>
        </p:nvCxnSpPr>
        <p:spPr>
          <a:xfrm>
            <a:off x="10704526" y="3164193"/>
            <a:ext cx="0" cy="224700"/>
          </a:xfrm>
          <a:prstGeom prst="straightConnector1">
            <a:avLst/>
          </a:prstGeom>
          <a:noFill/>
          <a:ln cap="sq" cmpd="sng" w="31750">
            <a:solidFill>
              <a:srgbClr val="505050"/>
            </a:solidFill>
            <a:prstDash val="solid"/>
            <a:miter lim="800000"/>
            <a:headEnd len="sm" w="sm" type="none"/>
            <a:tailEnd len="med" w="med" type="stealth"/>
          </a:ln>
        </p:spPr>
      </p:cxnSp>
      <p:cxnSp>
        <p:nvCxnSpPr>
          <p:cNvPr id="272" name="Google Shape;272;p9"/>
          <p:cNvCxnSpPr>
            <a:stCxn id="258" idx="2"/>
            <a:endCxn id="243" idx="0"/>
          </p:cNvCxnSpPr>
          <p:nvPr/>
        </p:nvCxnSpPr>
        <p:spPr>
          <a:xfrm>
            <a:off x="10704526" y="4981072"/>
            <a:ext cx="0" cy="234000"/>
          </a:xfrm>
          <a:prstGeom prst="straightConnector1">
            <a:avLst/>
          </a:prstGeom>
          <a:noFill/>
          <a:ln cap="sq" cmpd="sng" w="31750">
            <a:solidFill>
              <a:srgbClr val="505050"/>
            </a:solidFill>
            <a:prstDash val="solid"/>
            <a:miter lim="800000"/>
            <a:headEnd len="sm" w="sm" type="none"/>
            <a:tailEnd len="med" w="med" type="stealth"/>
          </a:ln>
        </p:spPr>
      </p:cxnSp>
      <p:pic>
        <p:nvPicPr>
          <p:cNvPr id="273" name="Google Shape;273;p9"/>
          <p:cNvPicPr preferRelativeResize="0"/>
          <p:nvPr/>
        </p:nvPicPr>
        <p:blipFill rotWithShape="1">
          <a:blip r:embed="rId7">
            <a:alphaModFix/>
          </a:blip>
          <a:srcRect b="0" l="0" r="0" t="0"/>
          <a:stretch/>
        </p:blipFill>
        <p:spPr>
          <a:xfrm>
            <a:off x="1905000" y="2162299"/>
            <a:ext cx="519111" cy="519111"/>
          </a:xfrm>
          <a:prstGeom prst="rect">
            <a:avLst/>
          </a:prstGeom>
          <a:noFill/>
          <a:ln>
            <a:noFill/>
          </a:ln>
        </p:spPr>
      </p:pic>
      <p:sp>
        <p:nvSpPr>
          <p:cNvPr id="274" name="Google Shape;274;p9"/>
          <p:cNvSpPr/>
          <p:nvPr/>
        </p:nvSpPr>
        <p:spPr>
          <a:xfrm>
            <a:off x="1156860" y="2138614"/>
            <a:ext cx="542456" cy="553030"/>
          </a:xfrm>
          <a:prstGeom prst="flowChartMagneticDisk">
            <a:avLst/>
          </a:prstGeom>
          <a:solidFill>
            <a:srgbClr val="BFBFBF"/>
          </a:solidFill>
          <a:ln cap="flat" cmpd="sng" w="38100">
            <a:solidFill>
              <a:srgbClr val="002060"/>
            </a:solidFill>
            <a:prstDash val="solid"/>
            <a:round/>
            <a:headEnd len="sm" w="sm" type="none"/>
            <a:tailEnd len="sm" w="sm" type="none"/>
          </a:ln>
        </p:spPr>
        <p:txBody>
          <a:bodyPr anchorCtr="0" anchor="t" bIns="146300" lIns="182875" spcFirstLastPara="1" rIns="182875" wrap="square" tIns="146300">
            <a:noAutofit/>
          </a:bodyPr>
          <a:lstStyle/>
          <a:p>
            <a:pPr indent="0" lvl="0" marL="0" marR="0" rtl="0" algn="ctr">
              <a:lnSpc>
                <a:spcPct val="90000"/>
              </a:lnSpc>
              <a:spcBef>
                <a:spcPts val="0"/>
              </a:spcBef>
              <a:spcAft>
                <a:spcPts val="0"/>
              </a:spcAft>
              <a:buClr>
                <a:srgbClr val="002060"/>
              </a:buClr>
              <a:buSzPts val="1200"/>
              <a:buFont typeface="Arial"/>
              <a:buNone/>
            </a:pPr>
            <a:r>
              <a:rPr b="0" i="0" lang="en-US" sz="1200" u="none" cap="none" strike="noStrike">
                <a:solidFill>
                  <a:srgbClr val="002060"/>
                </a:solidFill>
                <a:latin typeface="Quattrocento Sans"/>
                <a:ea typeface="Quattrocento Sans"/>
                <a:cs typeface="Quattrocento Sans"/>
                <a:sym typeface="Quattrocento Sans"/>
              </a:rPr>
              <a:t>TFVC</a:t>
            </a:r>
            <a:endParaRPr/>
          </a:p>
        </p:txBody>
      </p:sp>
      <p:sp>
        <p:nvSpPr>
          <p:cNvPr id="218" name="Google Shape;218;p9"/>
          <p:cNvSpPr/>
          <p:nvPr/>
        </p:nvSpPr>
        <p:spPr>
          <a:xfrm>
            <a:off x="7281008" y="1571969"/>
            <a:ext cx="1680961" cy="1592224"/>
          </a:xfrm>
          <a:prstGeom prst="rect">
            <a:avLst/>
          </a:prstGeom>
          <a:solidFill>
            <a:srgbClr val="002060"/>
          </a:solidFill>
          <a:ln>
            <a:noFill/>
          </a:ln>
        </p:spPr>
        <p:txBody>
          <a:bodyPr anchorCtr="0" anchor="t" bIns="146275" lIns="182850" spcFirstLastPara="1" rIns="182850" wrap="square" tIns="14627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Quattrocento Sans"/>
                <a:ea typeface="Quattrocento Sans"/>
                <a:cs typeface="Quattrocento Sans"/>
                <a:sym typeface="Quattrocento Sans"/>
              </a:rPr>
              <a:t>PACKAGE</a:t>
            </a:r>
            <a:endParaRPr/>
          </a:p>
        </p:txBody>
      </p:sp>
      <p:sp>
        <p:nvSpPr>
          <p:cNvPr id="275" name="Google Shape;275;p9"/>
          <p:cNvSpPr/>
          <p:nvPr/>
        </p:nvSpPr>
        <p:spPr>
          <a:xfrm>
            <a:off x="7768367" y="2123784"/>
            <a:ext cx="796841" cy="822282"/>
          </a:xfrm>
          <a:custGeom>
            <a:rect b="b" l="l" r="r" t="t"/>
            <a:pathLst>
              <a:path extrusionOk="0" h="383" w="371">
                <a:moveTo>
                  <a:pt x="364" y="103"/>
                </a:moveTo>
                <a:cubicBezTo>
                  <a:pt x="216" y="3"/>
                  <a:pt x="216" y="3"/>
                  <a:pt x="216" y="3"/>
                </a:cubicBezTo>
                <a:cubicBezTo>
                  <a:pt x="213" y="1"/>
                  <a:pt x="208" y="0"/>
                  <a:pt x="203" y="1"/>
                </a:cubicBezTo>
                <a:cubicBezTo>
                  <a:pt x="13" y="50"/>
                  <a:pt x="13" y="50"/>
                  <a:pt x="13" y="50"/>
                </a:cubicBezTo>
                <a:cubicBezTo>
                  <a:pt x="5" y="52"/>
                  <a:pt x="0" y="58"/>
                  <a:pt x="0" y="66"/>
                </a:cubicBezTo>
                <a:cubicBezTo>
                  <a:pt x="0" y="243"/>
                  <a:pt x="0" y="243"/>
                  <a:pt x="0" y="243"/>
                </a:cubicBezTo>
                <a:cubicBezTo>
                  <a:pt x="0" y="248"/>
                  <a:pt x="2" y="252"/>
                  <a:pt x="5" y="255"/>
                </a:cubicBezTo>
                <a:cubicBezTo>
                  <a:pt x="125" y="379"/>
                  <a:pt x="125" y="379"/>
                  <a:pt x="125" y="379"/>
                </a:cubicBezTo>
                <a:cubicBezTo>
                  <a:pt x="128" y="382"/>
                  <a:pt x="132" y="383"/>
                  <a:pt x="137" y="383"/>
                </a:cubicBezTo>
                <a:cubicBezTo>
                  <a:pt x="138" y="383"/>
                  <a:pt x="140" y="383"/>
                  <a:pt x="142" y="383"/>
                </a:cubicBezTo>
                <a:cubicBezTo>
                  <a:pt x="351" y="310"/>
                  <a:pt x="351" y="310"/>
                  <a:pt x="351" y="310"/>
                </a:cubicBezTo>
                <a:cubicBezTo>
                  <a:pt x="357" y="308"/>
                  <a:pt x="362" y="302"/>
                  <a:pt x="362" y="296"/>
                </a:cubicBezTo>
                <a:cubicBezTo>
                  <a:pt x="371" y="117"/>
                  <a:pt x="371" y="117"/>
                  <a:pt x="371" y="117"/>
                </a:cubicBezTo>
                <a:cubicBezTo>
                  <a:pt x="371" y="112"/>
                  <a:pt x="369" y="106"/>
                  <a:pt x="364" y="103"/>
                </a:cubicBezTo>
                <a:close/>
                <a:moveTo>
                  <a:pt x="204" y="34"/>
                </a:moveTo>
                <a:cubicBezTo>
                  <a:pt x="321" y="113"/>
                  <a:pt x="321" y="113"/>
                  <a:pt x="321" y="113"/>
                </a:cubicBezTo>
                <a:cubicBezTo>
                  <a:pt x="251" y="134"/>
                  <a:pt x="251" y="134"/>
                  <a:pt x="251" y="134"/>
                </a:cubicBezTo>
                <a:cubicBezTo>
                  <a:pt x="139" y="51"/>
                  <a:pt x="139" y="51"/>
                  <a:pt x="139" y="51"/>
                </a:cubicBezTo>
                <a:lnTo>
                  <a:pt x="204" y="34"/>
                </a:lnTo>
                <a:close/>
                <a:moveTo>
                  <a:pt x="143" y="167"/>
                </a:moveTo>
                <a:cubicBezTo>
                  <a:pt x="42" y="76"/>
                  <a:pt x="42" y="76"/>
                  <a:pt x="42" y="76"/>
                </a:cubicBezTo>
                <a:cubicBezTo>
                  <a:pt x="113" y="58"/>
                  <a:pt x="113" y="58"/>
                  <a:pt x="113" y="58"/>
                </a:cubicBezTo>
                <a:cubicBezTo>
                  <a:pt x="225" y="142"/>
                  <a:pt x="225" y="142"/>
                  <a:pt x="225" y="142"/>
                </a:cubicBezTo>
                <a:lnTo>
                  <a:pt x="143" y="167"/>
                </a:lnTo>
                <a:close/>
                <a:moveTo>
                  <a:pt x="33" y="237"/>
                </a:moveTo>
                <a:cubicBezTo>
                  <a:pt x="33" y="96"/>
                  <a:pt x="33" y="96"/>
                  <a:pt x="33" y="96"/>
                </a:cubicBezTo>
                <a:cubicBezTo>
                  <a:pt x="130" y="184"/>
                  <a:pt x="130" y="184"/>
                  <a:pt x="130" y="184"/>
                </a:cubicBezTo>
                <a:cubicBezTo>
                  <a:pt x="130" y="338"/>
                  <a:pt x="130" y="338"/>
                  <a:pt x="130" y="338"/>
                </a:cubicBezTo>
                <a:lnTo>
                  <a:pt x="33" y="237"/>
                </a:lnTo>
                <a:close/>
                <a:moveTo>
                  <a:pt x="152" y="345"/>
                </a:moveTo>
                <a:cubicBezTo>
                  <a:pt x="152" y="187"/>
                  <a:pt x="152" y="187"/>
                  <a:pt x="152" y="187"/>
                </a:cubicBezTo>
                <a:cubicBezTo>
                  <a:pt x="338" y="130"/>
                  <a:pt x="338" y="130"/>
                  <a:pt x="338" y="130"/>
                </a:cubicBezTo>
                <a:cubicBezTo>
                  <a:pt x="330" y="283"/>
                  <a:pt x="330" y="283"/>
                  <a:pt x="330" y="283"/>
                </a:cubicBezTo>
                <a:lnTo>
                  <a:pt x="152" y="345"/>
                </a:lnTo>
                <a:close/>
              </a:path>
            </a:pathLst>
          </a:custGeom>
          <a:solidFill>
            <a:srgbClr val="505050"/>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Quattrocento Sans"/>
              <a:ea typeface="Quattrocento Sans"/>
              <a:cs typeface="Quattrocento Sans"/>
              <a:sym typeface="Quattrocento Sans"/>
            </a:endParaRPr>
          </a:p>
        </p:txBody>
      </p:sp>
      <p:sp>
        <p:nvSpPr>
          <p:cNvPr id="276" name="Google Shape;276;p9"/>
          <p:cNvSpPr txBox="1"/>
          <p:nvPr/>
        </p:nvSpPr>
        <p:spPr>
          <a:xfrm>
            <a:off x="426425" y="223039"/>
            <a:ext cx="11443842" cy="73923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2C65E1"/>
                </a:solidFill>
                <a:latin typeface="Arial"/>
                <a:ea typeface="Arial"/>
                <a:cs typeface="Arial"/>
                <a:sym typeface="Arial"/>
              </a:rPr>
              <a:t>CI/CD In DevOps</a:t>
            </a:r>
            <a:endParaRPr b="0" i="0" sz="4400" u="none" cap="none" strike="noStrike">
              <a:solidFill>
                <a:srgbClr val="2C65E1"/>
              </a:solidFill>
              <a:latin typeface="Arial"/>
              <a:ea typeface="Arial"/>
              <a:cs typeface="Arial"/>
              <a:sym typeface="Arial"/>
            </a:endParaRPr>
          </a:p>
        </p:txBody>
      </p:sp>
      <p:sp>
        <p:nvSpPr>
          <p:cNvPr id="277" name="Google Shape;277;p9"/>
          <p:cNvSpPr/>
          <p:nvPr/>
        </p:nvSpPr>
        <p:spPr>
          <a:xfrm>
            <a:off x="6593041" y="5214387"/>
            <a:ext cx="2384228" cy="1592224"/>
          </a:xfrm>
          <a:prstGeom prst="rect">
            <a:avLst/>
          </a:prstGeom>
          <a:solidFill>
            <a:srgbClr val="002060"/>
          </a:solidFill>
          <a:ln>
            <a:noFill/>
          </a:ln>
        </p:spPr>
        <p:txBody>
          <a:bodyPr anchorCtr="0" anchor="t" bIns="146275" lIns="182850" spcFirstLastPara="1" rIns="182850" wrap="square" tIns="14627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Quattrocento Sans"/>
                <a:ea typeface="Quattrocento Sans"/>
                <a:cs typeface="Quattrocento Sans"/>
                <a:sym typeface="Quattrocento Sans"/>
              </a:rPr>
              <a:t>MONITOR</a:t>
            </a:r>
            <a:endParaRPr/>
          </a:p>
        </p:txBody>
      </p:sp>
      <p:cxnSp>
        <p:nvCxnSpPr>
          <p:cNvPr id="278" name="Google Shape;278;p9"/>
          <p:cNvCxnSpPr>
            <a:stCxn id="243" idx="1"/>
            <a:endCxn id="277" idx="3"/>
          </p:cNvCxnSpPr>
          <p:nvPr/>
        </p:nvCxnSpPr>
        <p:spPr>
          <a:xfrm rot="10800000">
            <a:off x="8977212" y="6010375"/>
            <a:ext cx="535200" cy="900"/>
          </a:xfrm>
          <a:prstGeom prst="straightConnector1">
            <a:avLst/>
          </a:prstGeom>
          <a:noFill/>
          <a:ln cap="sq" cmpd="sng" w="31750">
            <a:solidFill>
              <a:srgbClr val="505050"/>
            </a:solidFill>
            <a:prstDash val="solid"/>
            <a:miter lim="800000"/>
            <a:headEnd len="sm" w="sm" type="none"/>
            <a:tailEnd len="med" w="med" type="stealth"/>
          </a:ln>
        </p:spPr>
      </p:cxnSp>
      <p:pic>
        <p:nvPicPr>
          <p:cNvPr descr="D:\Docs\CI-CD\ref\dcn8HNF.png" id="279" name="Google Shape;279;p9"/>
          <p:cNvPicPr preferRelativeResize="0"/>
          <p:nvPr/>
        </p:nvPicPr>
        <p:blipFill rotWithShape="1">
          <a:blip r:embed="rId8">
            <a:alphaModFix/>
          </a:blip>
          <a:srcRect b="0" l="0" r="0" t="0"/>
          <a:stretch/>
        </p:blipFill>
        <p:spPr>
          <a:xfrm>
            <a:off x="6933430" y="5780925"/>
            <a:ext cx="1727970" cy="907184"/>
          </a:xfrm>
          <a:prstGeom prst="rect">
            <a:avLst/>
          </a:prstGeom>
          <a:noFill/>
          <a:ln>
            <a:noFill/>
          </a:ln>
        </p:spPr>
      </p:pic>
      <p:cxnSp>
        <p:nvCxnSpPr>
          <p:cNvPr id="280" name="Google Shape;280;p9"/>
          <p:cNvCxnSpPr>
            <a:stCxn id="277" idx="1"/>
          </p:cNvCxnSpPr>
          <p:nvPr/>
        </p:nvCxnSpPr>
        <p:spPr>
          <a:xfrm flipH="1">
            <a:off x="4214941" y="6010499"/>
            <a:ext cx="2378100" cy="19800"/>
          </a:xfrm>
          <a:prstGeom prst="straightConnector1">
            <a:avLst/>
          </a:prstGeom>
          <a:noFill/>
          <a:ln cap="flat" cmpd="sng" w="38100">
            <a:solidFill>
              <a:srgbClr val="505050"/>
            </a:solidFill>
            <a:prstDash val="dot"/>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sp>
        <p:nvSpPr>
          <p:cNvPr id="285" name="Google Shape;285;p3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6" name="Google Shape;286;p38"/>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7" name="Google Shape;287;p38"/>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8" name="Google Shape;288;p38"/>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9" name="Google Shape;289;p38"/>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0" name="Google Shape;290;p38"/>
          <p:cNvSpPr/>
          <p:nvPr/>
        </p:nvSpPr>
        <p:spPr>
          <a:xfrm>
            <a:off x="336883" y="321176"/>
            <a:ext cx="5759117" cy="5896743"/>
          </a:xfrm>
          <a:prstGeom prst="rect">
            <a:avLst/>
          </a:prstGeom>
          <a:solidFill>
            <a:schemeClr val="dk1">
              <a:alpha val="14509"/>
            </a:schemeClr>
          </a:solidFill>
          <a:ln cap="sq" cmpd="thinThick" w="127000">
            <a:solidFill>
              <a:schemeClr val="dk1">
                <a:alpha val="9411"/>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p38"/>
          <p:cNvSpPr txBox="1"/>
          <p:nvPr/>
        </p:nvSpPr>
        <p:spPr>
          <a:xfrm>
            <a:off x="821516" y="640264"/>
            <a:ext cx="4911826" cy="105537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0" i="0" lang="en-US" sz="4000" u="none" cap="none" strike="noStrike">
                <a:solidFill>
                  <a:schemeClr val="dk1"/>
                </a:solidFill>
                <a:latin typeface="Calibri"/>
                <a:ea typeface="Calibri"/>
                <a:cs typeface="Calibri"/>
                <a:sym typeface="Calibri"/>
              </a:rPr>
              <a:t>Benefits we got</a:t>
            </a:r>
            <a:endParaRPr b="0" i="0" sz="4000" u="none" cap="none" strike="noStrike">
              <a:solidFill>
                <a:schemeClr val="dk1"/>
              </a:solidFill>
              <a:latin typeface="Calibri"/>
              <a:ea typeface="Calibri"/>
              <a:cs typeface="Calibri"/>
              <a:sym typeface="Calibri"/>
            </a:endParaRPr>
          </a:p>
        </p:txBody>
      </p:sp>
      <p:sp>
        <p:nvSpPr>
          <p:cNvPr id="292" name="Google Shape;292;p38"/>
          <p:cNvSpPr txBox="1"/>
          <p:nvPr/>
        </p:nvSpPr>
        <p:spPr>
          <a:xfrm>
            <a:off x="821515" y="1784412"/>
            <a:ext cx="4911827" cy="3964267"/>
          </a:xfrm>
          <a:prstGeom prst="rect">
            <a:avLst/>
          </a:prstGeom>
          <a:noFill/>
          <a:ln>
            <a:noFill/>
          </a:ln>
        </p:spPr>
        <p:txBody>
          <a:bodyPr anchorCtr="0" anchor="t" bIns="45700" lIns="91425" spcFirstLastPara="1" rIns="91425" wrap="square" tIns="45700">
            <a:normAutofit/>
          </a:bodyPr>
          <a:lstStyle/>
          <a:p>
            <a:pPr indent="0" lvl="0" marL="57150" marR="0" rtl="0" algn="l">
              <a:lnSpc>
                <a:spcPct val="80000"/>
              </a:lnSpc>
              <a:spcBef>
                <a:spcPts val="0"/>
              </a:spcBef>
              <a:spcAft>
                <a:spcPts val="0"/>
              </a:spcAft>
              <a:buClr>
                <a:schemeClr val="dk1"/>
              </a:buClr>
              <a:buSzPts val="2380"/>
              <a:buFont typeface="Arial"/>
              <a:buNone/>
            </a:pPr>
            <a:r>
              <a:rPr b="1" i="0" lang="en-US" sz="2380" u="none" cap="none" strike="noStrike">
                <a:solidFill>
                  <a:schemeClr val="dk1"/>
                </a:solidFill>
                <a:latin typeface="Calibri"/>
                <a:ea typeface="Calibri"/>
                <a:cs typeface="Calibri"/>
                <a:sym typeface="Calibri"/>
              </a:rPr>
              <a:t>Benefits for Development</a:t>
            </a:r>
            <a:endParaRPr b="0" i="0" sz="2040" u="none" cap="none" strike="noStrike">
              <a:solidFill>
                <a:schemeClr val="dk1"/>
              </a:solidFill>
              <a:latin typeface="Calibri"/>
              <a:ea typeface="Calibri"/>
              <a:cs typeface="Calibri"/>
              <a:sym typeface="Calibri"/>
            </a:endParaRPr>
          </a:p>
          <a:p>
            <a:pPr indent="-342900" lvl="0" marL="400050" marR="0" rtl="0" algn="l">
              <a:lnSpc>
                <a:spcPct val="80000"/>
              </a:lnSpc>
              <a:spcBef>
                <a:spcPts val="1000"/>
              </a:spcBef>
              <a:spcAft>
                <a:spcPts val="0"/>
              </a:spcAft>
              <a:buClr>
                <a:schemeClr val="dk1"/>
              </a:buClr>
              <a:buSzPts val="2040"/>
              <a:buFont typeface="Arial"/>
              <a:buChar char="•"/>
            </a:pPr>
            <a:r>
              <a:rPr b="0" i="0" lang="en-US" sz="2040" u="none" cap="none" strike="noStrike">
                <a:solidFill>
                  <a:schemeClr val="dk1"/>
                </a:solidFill>
                <a:latin typeface="Calibri"/>
                <a:ea typeface="Calibri"/>
                <a:cs typeface="Calibri"/>
                <a:sym typeface="Calibri"/>
              </a:rPr>
              <a:t>Reduce manual work, develop faster</a:t>
            </a:r>
            <a:endParaRPr b="0" i="0" sz="1400" u="none" cap="none" strike="noStrike">
              <a:solidFill>
                <a:srgbClr val="000000"/>
              </a:solidFill>
              <a:latin typeface="Arial"/>
              <a:ea typeface="Arial"/>
              <a:cs typeface="Arial"/>
              <a:sym typeface="Arial"/>
            </a:endParaRPr>
          </a:p>
          <a:p>
            <a:pPr indent="-342900" lvl="0" marL="400050" marR="0" rtl="0" algn="l">
              <a:lnSpc>
                <a:spcPct val="80000"/>
              </a:lnSpc>
              <a:spcBef>
                <a:spcPts val="1000"/>
              </a:spcBef>
              <a:spcAft>
                <a:spcPts val="0"/>
              </a:spcAft>
              <a:buClr>
                <a:schemeClr val="dk1"/>
              </a:buClr>
              <a:buSzPts val="2040"/>
              <a:buFont typeface="Arial"/>
              <a:buChar char="•"/>
            </a:pPr>
            <a:r>
              <a:rPr b="0" i="0" lang="en-US" sz="2040" u="none" cap="none" strike="noStrike">
                <a:solidFill>
                  <a:schemeClr val="dk1"/>
                </a:solidFill>
                <a:latin typeface="Calibri"/>
                <a:ea typeface="Calibri"/>
                <a:cs typeface="Calibri"/>
                <a:sym typeface="Calibri"/>
              </a:rPr>
              <a:t>Detect and fix issues early</a:t>
            </a:r>
            <a:endParaRPr b="0" i="0" sz="1400" u="none" cap="none" strike="noStrike">
              <a:solidFill>
                <a:srgbClr val="000000"/>
              </a:solidFill>
              <a:latin typeface="Arial"/>
              <a:ea typeface="Arial"/>
              <a:cs typeface="Arial"/>
              <a:sym typeface="Arial"/>
            </a:endParaRPr>
          </a:p>
          <a:p>
            <a:pPr indent="-342900" lvl="0" marL="400050" marR="0" rtl="0" algn="l">
              <a:lnSpc>
                <a:spcPct val="80000"/>
              </a:lnSpc>
              <a:spcBef>
                <a:spcPts val="1000"/>
              </a:spcBef>
              <a:spcAft>
                <a:spcPts val="0"/>
              </a:spcAft>
              <a:buClr>
                <a:schemeClr val="dk1"/>
              </a:buClr>
              <a:buSzPts val="2040"/>
              <a:buFont typeface="Arial"/>
              <a:buChar char="•"/>
            </a:pPr>
            <a:r>
              <a:rPr b="0" i="0" lang="en-US" sz="2040" u="none" cap="none" strike="noStrike">
                <a:solidFill>
                  <a:schemeClr val="dk1"/>
                </a:solidFill>
                <a:latin typeface="Calibri"/>
                <a:ea typeface="Calibri"/>
                <a:cs typeface="Calibri"/>
                <a:sym typeface="Calibri"/>
              </a:rPr>
              <a:t>Ready to deploy at any time, any where</a:t>
            </a:r>
            <a:endParaRPr b="0" i="0" sz="1400" u="none" cap="none" strike="noStrike">
              <a:solidFill>
                <a:srgbClr val="000000"/>
              </a:solidFill>
              <a:latin typeface="Arial"/>
              <a:ea typeface="Arial"/>
              <a:cs typeface="Arial"/>
              <a:sym typeface="Arial"/>
            </a:endParaRPr>
          </a:p>
          <a:p>
            <a:pPr indent="-342900" lvl="0" marL="400050" marR="0" rtl="0" algn="l">
              <a:lnSpc>
                <a:spcPct val="80000"/>
              </a:lnSpc>
              <a:spcBef>
                <a:spcPts val="1000"/>
              </a:spcBef>
              <a:spcAft>
                <a:spcPts val="0"/>
              </a:spcAft>
              <a:buClr>
                <a:schemeClr val="dk1"/>
              </a:buClr>
              <a:buSzPts val="2040"/>
              <a:buFont typeface="Arial"/>
              <a:buChar char="•"/>
            </a:pPr>
            <a:r>
              <a:rPr b="0" i="0" lang="en-US" sz="2040" u="none" cap="none" strike="noStrike">
                <a:solidFill>
                  <a:schemeClr val="dk1"/>
                </a:solidFill>
                <a:latin typeface="Calibri"/>
                <a:ea typeface="Calibri"/>
                <a:cs typeface="Calibri"/>
                <a:sym typeface="Calibri"/>
              </a:rPr>
              <a:t>Increase transparency and visibility</a:t>
            </a:r>
            <a:endParaRPr b="0" i="0" sz="1400" u="none" cap="none" strike="noStrike">
              <a:solidFill>
                <a:srgbClr val="000000"/>
              </a:solidFill>
              <a:latin typeface="Arial"/>
              <a:ea typeface="Arial"/>
              <a:cs typeface="Arial"/>
              <a:sym typeface="Arial"/>
            </a:endParaRPr>
          </a:p>
          <a:p>
            <a:pPr indent="-342900" lvl="0" marL="400050" marR="0" rtl="0" algn="l">
              <a:lnSpc>
                <a:spcPct val="80000"/>
              </a:lnSpc>
              <a:spcBef>
                <a:spcPts val="1000"/>
              </a:spcBef>
              <a:spcAft>
                <a:spcPts val="0"/>
              </a:spcAft>
              <a:buClr>
                <a:schemeClr val="dk1"/>
              </a:buClr>
              <a:buSzPts val="2040"/>
              <a:buFont typeface="Arial"/>
              <a:buChar char="•"/>
            </a:pPr>
            <a:r>
              <a:rPr b="0" i="0" lang="en-US" sz="2040" u="none" cap="none" strike="noStrike">
                <a:solidFill>
                  <a:schemeClr val="dk1"/>
                </a:solidFill>
                <a:latin typeface="Calibri"/>
                <a:ea typeface="Calibri"/>
                <a:cs typeface="Calibri"/>
                <a:sym typeface="Calibri"/>
              </a:rPr>
              <a:t>Make testing efficient</a:t>
            </a:r>
            <a:endParaRPr b="0" i="0" sz="1400" u="none" cap="none" strike="noStrike">
              <a:solidFill>
                <a:srgbClr val="000000"/>
              </a:solidFill>
              <a:latin typeface="Arial"/>
              <a:ea typeface="Arial"/>
              <a:cs typeface="Arial"/>
              <a:sym typeface="Arial"/>
            </a:endParaRPr>
          </a:p>
          <a:p>
            <a:pPr indent="0" lvl="0" marL="57150" marR="0" rtl="0" algn="l">
              <a:lnSpc>
                <a:spcPct val="80000"/>
              </a:lnSpc>
              <a:spcBef>
                <a:spcPts val="1000"/>
              </a:spcBef>
              <a:spcAft>
                <a:spcPts val="0"/>
              </a:spcAft>
              <a:buClr>
                <a:schemeClr val="dk1"/>
              </a:buClr>
              <a:buSzPts val="2380"/>
              <a:buFont typeface="Arial"/>
              <a:buNone/>
            </a:pPr>
            <a:r>
              <a:rPr b="1" i="0" lang="en-US" sz="2380" u="none" cap="none" strike="noStrike">
                <a:solidFill>
                  <a:schemeClr val="dk1"/>
                </a:solidFill>
                <a:latin typeface="Calibri"/>
                <a:ea typeface="Calibri"/>
                <a:cs typeface="Calibri"/>
                <a:sym typeface="Calibri"/>
              </a:rPr>
              <a:t>Benefits for Business</a:t>
            </a:r>
            <a:endParaRPr b="0" i="0" sz="1400" u="none" cap="none" strike="noStrike">
              <a:solidFill>
                <a:srgbClr val="000000"/>
              </a:solidFill>
              <a:latin typeface="Arial"/>
              <a:ea typeface="Arial"/>
              <a:cs typeface="Arial"/>
              <a:sym typeface="Arial"/>
            </a:endParaRPr>
          </a:p>
          <a:p>
            <a:pPr indent="-342900" lvl="0" marL="400050" marR="0" rtl="0" algn="l">
              <a:lnSpc>
                <a:spcPct val="80000"/>
              </a:lnSpc>
              <a:spcBef>
                <a:spcPts val="1000"/>
              </a:spcBef>
              <a:spcAft>
                <a:spcPts val="0"/>
              </a:spcAft>
              <a:buClr>
                <a:schemeClr val="dk1"/>
              </a:buClr>
              <a:buSzPts val="2040"/>
              <a:buFont typeface="Arial"/>
              <a:buChar char="•"/>
            </a:pPr>
            <a:r>
              <a:rPr b="0" i="0" lang="en-US" sz="2040" u="none" cap="none" strike="noStrike">
                <a:solidFill>
                  <a:schemeClr val="dk1"/>
                </a:solidFill>
                <a:latin typeface="Calibri"/>
                <a:ea typeface="Calibri"/>
                <a:cs typeface="Calibri"/>
                <a:sym typeface="Calibri"/>
              </a:rPr>
              <a:t>Better product quality</a:t>
            </a:r>
            <a:endParaRPr b="0" i="0" sz="1400" u="none" cap="none" strike="noStrike">
              <a:solidFill>
                <a:srgbClr val="000000"/>
              </a:solidFill>
              <a:latin typeface="Arial"/>
              <a:ea typeface="Arial"/>
              <a:cs typeface="Arial"/>
              <a:sym typeface="Arial"/>
            </a:endParaRPr>
          </a:p>
          <a:p>
            <a:pPr indent="-342900" lvl="0" marL="400050" marR="0" rtl="0" algn="l">
              <a:lnSpc>
                <a:spcPct val="80000"/>
              </a:lnSpc>
              <a:spcBef>
                <a:spcPts val="1000"/>
              </a:spcBef>
              <a:spcAft>
                <a:spcPts val="0"/>
              </a:spcAft>
              <a:buClr>
                <a:schemeClr val="dk1"/>
              </a:buClr>
              <a:buSzPts val="2040"/>
              <a:buFont typeface="Arial"/>
              <a:buChar char="•"/>
            </a:pPr>
            <a:r>
              <a:rPr b="0" i="0" lang="en-US" sz="2040" u="none" cap="none" strike="noStrike">
                <a:solidFill>
                  <a:schemeClr val="dk1"/>
                </a:solidFill>
                <a:latin typeface="Calibri"/>
                <a:ea typeface="Calibri"/>
                <a:cs typeface="Calibri"/>
                <a:sym typeface="Calibri"/>
              </a:rPr>
              <a:t>Speed up time-to-market</a:t>
            </a:r>
            <a:endParaRPr b="0" i="0" sz="1400" u="none" cap="none" strike="noStrike">
              <a:solidFill>
                <a:srgbClr val="000000"/>
              </a:solidFill>
              <a:latin typeface="Arial"/>
              <a:ea typeface="Arial"/>
              <a:cs typeface="Arial"/>
              <a:sym typeface="Arial"/>
            </a:endParaRPr>
          </a:p>
          <a:p>
            <a:pPr indent="-342900" lvl="0" marL="400050" marR="0" rtl="0" algn="l">
              <a:lnSpc>
                <a:spcPct val="80000"/>
              </a:lnSpc>
              <a:spcBef>
                <a:spcPts val="1000"/>
              </a:spcBef>
              <a:spcAft>
                <a:spcPts val="0"/>
              </a:spcAft>
              <a:buClr>
                <a:schemeClr val="dk1"/>
              </a:buClr>
              <a:buSzPts val="2040"/>
              <a:buFont typeface="Arial"/>
              <a:buChar char="•"/>
            </a:pPr>
            <a:r>
              <a:rPr b="0" i="0" lang="en-US" sz="2040" u="none" cap="none" strike="noStrike">
                <a:solidFill>
                  <a:schemeClr val="dk1"/>
                </a:solidFill>
                <a:latin typeface="Calibri"/>
                <a:ea typeface="Calibri"/>
                <a:cs typeface="Calibri"/>
                <a:sym typeface="Calibri"/>
              </a:rPr>
              <a:t>Faster response to the market </a:t>
            </a:r>
            <a:endParaRPr b="0" i="0" sz="1400" u="none" cap="none" strike="noStrike">
              <a:solidFill>
                <a:srgbClr val="000000"/>
              </a:solidFill>
              <a:latin typeface="Arial"/>
              <a:ea typeface="Arial"/>
              <a:cs typeface="Arial"/>
              <a:sym typeface="Arial"/>
            </a:endParaRPr>
          </a:p>
          <a:p>
            <a:pPr indent="-99060" lvl="0" marL="228600" marR="0" rtl="0" algn="l">
              <a:lnSpc>
                <a:spcPct val="80000"/>
              </a:lnSpc>
              <a:spcBef>
                <a:spcPts val="1000"/>
              </a:spcBef>
              <a:spcAft>
                <a:spcPts val="0"/>
              </a:spcAft>
              <a:buClr>
                <a:schemeClr val="dk1"/>
              </a:buClr>
              <a:buSzPts val="2040"/>
              <a:buFont typeface="Arial"/>
              <a:buNone/>
            </a:pPr>
            <a:r>
              <a:t/>
            </a:r>
            <a:endParaRPr b="0" i="0" sz="2040" u="none" cap="none" strike="noStrike">
              <a:solidFill>
                <a:schemeClr val="dk1"/>
              </a:solidFill>
              <a:latin typeface="Calibri"/>
              <a:ea typeface="Calibri"/>
              <a:cs typeface="Calibri"/>
              <a:sym typeface="Calibri"/>
            </a:endParaRPr>
          </a:p>
        </p:txBody>
      </p:sp>
      <p:pic>
        <p:nvPicPr>
          <p:cNvPr descr="automatic-car.jpg (300Ã225)" id="293" name="Google Shape;293;p38"/>
          <p:cNvPicPr preferRelativeResize="0"/>
          <p:nvPr/>
        </p:nvPicPr>
        <p:blipFill rotWithShape="1">
          <a:blip r:embed="rId3">
            <a:alphaModFix/>
          </a:blip>
          <a:srcRect b="0" l="0" r="0" t="0"/>
          <a:stretch/>
        </p:blipFill>
        <p:spPr>
          <a:xfrm>
            <a:off x="6438732" y="457914"/>
            <a:ext cx="2555747" cy="1916810"/>
          </a:xfrm>
          <a:prstGeom prst="rect">
            <a:avLst/>
          </a:prstGeom>
          <a:noFill/>
          <a:ln>
            <a:noFill/>
          </a:ln>
        </p:spPr>
      </p:pic>
      <p:pic>
        <p:nvPicPr>
          <p:cNvPr id="294" name="Google Shape;294;p38"/>
          <p:cNvPicPr preferRelativeResize="0"/>
          <p:nvPr/>
        </p:nvPicPr>
        <p:blipFill rotWithShape="1">
          <a:blip r:embed="rId4">
            <a:alphaModFix/>
          </a:blip>
          <a:srcRect b="0" l="0" r="0" t="0"/>
          <a:stretch/>
        </p:blipFill>
        <p:spPr>
          <a:xfrm>
            <a:off x="9316212" y="458193"/>
            <a:ext cx="2555747" cy="1916810"/>
          </a:xfrm>
          <a:prstGeom prst="rect">
            <a:avLst/>
          </a:prstGeom>
          <a:noFill/>
          <a:ln>
            <a:noFill/>
          </a:ln>
        </p:spPr>
      </p:pic>
      <p:pic>
        <p:nvPicPr>
          <p:cNvPr id="295" name="Google Shape;295;p38"/>
          <p:cNvPicPr preferRelativeResize="0"/>
          <p:nvPr/>
        </p:nvPicPr>
        <p:blipFill rotWithShape="1">
          <a:blip r:embed="rId5">
            <a:alphaModFix/>
          </a:blip>
          <a:srcRect b="0" l="0" r="0" t="0"/>
          <a:stretch/>
        </p:blipFill>
        <p:spPr>
          <a:xfrm>
            <a:off x="6438732" y="2986244"/>
            <a:ext cx="5433229" cy="30561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 name="Shape 299"/>
        <p:cNvGrpSpPr/>
        <p:nvPr/>
      </p:nvGrpSpPr>
      <p:grpSpPr>
        <a:xfrm>
          <a:off x="0" y="0"/>
          <a:ext cx="0" cy="0"/>
          <a:chOff x="0" y="0"/>
          <a:chExt cx="0" cy="0"/>
        </a:xfrm>
      </p:grpSpPr>
      <p:sp>
        <p:nvSpPr>
          <p:cNvPr id="300" name="Google Shape;300;p3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1" name="Google Shape;301;p39"/>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2" name="Google Shape;302;p39"/>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3" name="Google Shape;303;p39"/>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4" name="Google Shape;304;p39"/>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5" name="Google Shape;305;p39"/>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6" name="Google Shape;306;p39"/>
          <p:cNvSpPr txBox="1"/>
          <p:nvPr>
            <p:ph type="title"/>
          </p:nvPr>
        </p:nvSpPr>
        <p:spPr>
          <a:xfrm>
            <a:off x="643467" y="640080"/>
            <a:ext cx="3096427" cy="56132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C65E1"/>
              </a:buClr>
              <a:buSzPts val="4400"/>
              <a:buNone/>
            </a:pPr>
            <a:r>
              <a:rPr lang="en-US">
                <a:solidFill>
                  <a:srgbClr val="FFFFFF"/>
                </a:solidFill>
              </a:rPr>
              <a:t>Modern continuous delivery</a:t>
            </a:r>
            <a:endParaRPr/>
          </a:p>
        </p:txBody>
      </p:sp>
      <p:pic>
        <p:nvPicPr>
          <p:cNvPr descr="The Benefits of Continuous Delivery - DZone DevOps" id="307" name="Google Shape;307;p39"/>
          <p:cNvPicPr preferRelativeResize="0"/>
          <p:nvPr/>
        </p:nvPicPr>
        <p:blipFill rotWithShape="1">
          <a:blip r:embed="rId3">
            <a:alphaModFix/>
          </a:blip>
          <a:srcRect b="0" l="0" r="0" t="0"/>
          <a:stretch/>
        </p:blipFill>
        <p:spPr>
          <a:xfrm>
            <a:off x="5869525" y="440474"/>
            <a:ext cx="4474989" cy="4529091"/>
          </a:xfrm>
          <a:prstGeom prst="rect">
            <a:avLst/>
          </a:prstGeom>
          <a:noFill/>
          <a:ln>
            <a:noFill/>
          </a:ln>
        </p:spPr>
      </p:pic>
      <p:sp>
        <p:nvSpPr>
          <p:cNvPr id="308" name="Google Shape;308;p39"/>
          <p:cNvSpPr txBox="1"/>
          <p:nvPr/>
        </p:nvSpPr>
        <p:spPr>
          <a:xfrm>
            <a:off x="5222735" y="5265399"/>
            <a:ext cx="6641916" cy="1186204"/>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2C65E1"/>
              </a:buClr>
              <a:buSzPts val="4400"/>
              <a:buFont typeface="Calibri"/>
              <a:buNone/>
            </a:pPr>
            <a:r>
              <a:rPr b="0" i="1" lang="en-US" sz="2000" u="none" cap="none" strike="noStrike">
                <a:solidFill>
                  <a:schemeClr val="dk1"/>
                </a:solidFill>
                <a:latin typeface="Calibri"/>
                <a:ea typeface="Calibri"/>
                <a:cs typeface="Calibri"/>
                <a:sym typeface="Calibri"/>
              </a:rPr>
              <a:t>“It’s Not Continuous Delivery If You Can’t Deploy Right Now”</a:t>
            </a:r>
            <a:br>
              <a:rPr b="0" i="1" lang="en-US" sz="2000" u="none" cap="none" strike="noStrike">
                <a:solidFill>
                  <a:schemeClr val="dk1"/>
                </a:solidFill>
                <a:latin typeface="Calibri"/>
                <a:ea typeface="Calibri"/>
                <a:cs typeface="Calibri"/>
                <a:sym typeface="Calibri"/>
              </a:rPr>
            </a:br>
            <a:r>
              <a:rPr b="0" i="1" lang="en-US" sz="1400" u="none" cap="none" strike="noStrike">
                <a:solidFill>
                  <a:schemeClr val="dk1"/>
                </a:solidFill>
                <a:latin typeface="Calibri"/>
                <a:ea typeface="Calibri"/>
                <a:cs typeface="Calibri"/>
                <a:sym typeface="Calibri"/>
              </a:rPr>
              <a:t>Ken Mugrage</a:t>
            </a:r>
            <a:endParaRPr b="0" i="1" sz="1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p4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4" name="Google Shape;314;p40"/>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5" name="Google Shape;315;p40"/>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6" name="Google Shape;316;p40"/>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7" name="Google Shape;317;p40"/>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8" name="Google Shape;318;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Trunk Based Development</a:t>
            </a:r>
            <a:endParaRPr/>
          </a:p>
        </p:txBody>
      </p:sp>
      <p:pic>
        <p:nvPicPr>
          <p:cNvPr descr="Google's vs Facebook's Trunk-Based Development" id="319" name="Google Shape;319;p40"/>
          <p:cNvPicPr preferRelativeResize="0"/>
          <p:nvPr/>
        </p:nvPicPr>
        <p:blipFill rotWithShape="1">
          <a:blip r:embed="rId3">
            <a:alphaModFix/>
          </a:blip>
          <a:srcRect b="0" l="0" r="0" t="0"/>
          <a:stretch/>
        </p:blipFill>
        <p:spPr>
          <a:xfrm>
            <a:off x="1679842" y="1506621"/>
            <a:ext cx="8832315" cy="4103666"/>
          </a:xfrm>
          <a:prstGeom prst="rect">
            <a:avLst/>
          </a:prstGeom>
          <a:noFill/>
          <a:ln>
            <a:noFill/>
          </a:ln>
        </p:spPr>
      </p:pic>
      <p:sp>
        <p:nvSpPr>
          <p:cNvPr id="320" name="Google Shape;320;p40"/>
          <p:cNvSpPr/>
          <p:nvPr/>
        </p:nvSpPr>
        <p:spPr>
          <a:xfrm>
            <a:off x="5051475" y="5729374"/>
            <a:ext cx="6813176"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1" lang="en-US" sz="1800" u="none" cap="none" strike="noStrike">
                <a:solidFill>
                  <a:srgbClr val="000000"/>
                </a:solidFill>
                <a:latin typeface="Arial"/>
                <a:ea typeface="Arial"/>
                <a:cs typeface="Arial"/>
                <a:sym typeface="Arial"/>
              </a:rPr>
              <a:t>“Branches create distance between developers and</a:t>
            </a:r>
            <a:endParaRPr/>
          </a:p>
          <a:p>
            <a:pPr indent="0" lvl="0" marL="0" marR="0" rtl="0" algn="r">
              <a:lnSpc>
                <a:spcPct val="100000"/>
              </a:lnSpc>
              <a:spcBef>
                <a:spcPts val="0"/>
              </a:spcBef>
              <a:spcAft>
                <a:spcPts val="0"/>
              </a:spcAft>
              <a:buNone/>
            </a:pPr>
            <a:r>
              <a:rPr b="0" i="1" lang="en-US" sz="1800" u="none" cap="none" strike="noStrike">
                <a:solidFill>
                  <a:srgbClr val="000000"/>
                </a:solidFill>
                <a:latin typeface="Arial"/>
                <a:ea typeface="Arial"/>
                <a:cs typeface="Arial"/>
                <a:sym typeface="Arial"/>
              </a:rPr>
              <a:t>we do not want that”</a:t>
            </a:r>
            <a:endParaRPr/>
          </a:p>
          <a:p>
            <a:pPr indent="0" lvl="0" marL="0" marR="0" rtl="0" algn="r">
              <a:lnSpc>
                <a:spcPct val="100000"/>
              </a:lnSpc>
              <a:spcBef>
                <a:spcPts val="0"/>
              </a:spcBef>
              <a:spcAft>
                <a:spcPts val="0"/>
              </a:spcAft>
              <a:buNone/>
            </a:pPr>
            <a:r>
              <a:rPr b="0" i="1" lang="en-US" sz="1200" u="none" cap="none" strike="noStrike">
                <a:solidFill>
                  <a:srgbClr val="000000"/>
                </a:solidFill>
                <a:latin typeface="Arial"/>
                <a:ea typeface="Arial"/>
                <a:cs typeface="Arial"/>
                <a:sym typeface="Arial"/>
              </a:rPr>
              <a:t>Frank Compagner, Guerrilla Games</a:t>
            </a:r>
            <a:endParaRPr/>
          </a:p>
        </p:txBody>
      </p:sp>
      <p:sp>
        <p:nvSpPr>
          <p:cNvPr id="321" name="Google Shape;321;p40"/>
          <p:cNvSpPr/>
          <p:nvPr/>
        </p:nvSpPr>
        <p:spPr>
          <a:xfrm>
            <a:off x="1273031" y="5324044"/>
            <a:ext cx="4296310" cy="1295033"/>
          </a:xfrm>
          <a:prstGeom prst="roundRect">
            <a:avLst>
              <a:gd fmla="val 16667" name="adj"/>
            </a:avLst>
          </a:prstGeom>
          <a:gradFill>
            <a:gsLst>
              <a:gs pos="0">
                <a:srgbClr val="FFAF82"/>
              </a:gs>
              <a:gs pos="35000">
                <a:srgbClr val="FFC5A7"/>
              </a:gs>
              <a:gs pos="100000">
                <a:srgbClr val="FFE8DA"/>
              </a:gs>
            </a:gsLst>
            <a:lin ang="16200000" scaled="0"/>
          </a:gradFill>
          <a:ln cap="flat" cmpd="sng" w="9525">
            <a:solidFill>
              <a:srgbClr val="EB792A"/>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2E75B5"/>
                </a:solidFill>
                <a:latin typeface="Arial"/>
                <a:ea typeface="Arial"/>
                <a:cs typeface="Arial"/>
                <a:sym typeface="Arial"/>
              </a:rPr>
              <a:t>Pain_of_merge </a:t>
            </a:r>
            <a:r>
              <a:rPr b="1" i="0" lang="en-US" sz="14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1" i="0" lang="en-US" sz="1400" u="none" cap="none" strike="noStrike">
                <a:solidFill>
                  <a:schemeClr val="dk1"/>
                </a:solidFill>
                <a:latin typeface="Arial"/>
                <a:ea typeface="Arial"/>
                <a:cs typeface="Arial"/>
                <a:sym typeface="Arial"/>
              </a:rPr>
              <a:t>	</a:t>
            </a:r>
            <a:r>
              <a:rPr b="1" i="0" lang="en-US" sz="1400" u="none" cap="none" strike="noStrike">
                <a:solidFill>
                  <a:srgbClr val="FF0000"/>
                </a:solidFill>
                <a:latin typeface="Arial"/>
                <a:ea typeface="Arial"/>
                <a:cs typeface="Arial"/>
                <a:sym typeface="Arial"/>
              </a:rPr>
              <a:t>fun</a:t>
            </a:r>
            <a:r>
              <a:rPr b="1" i="0" lang="en-US" sz="1400" u="none" cap="none" strike="noStrike">
                <a:solidFill>
                  <a:schemeClr val="dk1"/>
                </a:solidFill>
                <a:latin typeface="Arial"/>
                <a:ea typeface="Arial"/>
                <a:cs typeface="Arial"/>
                <a:sym typeface="Arial"/>
              </a:rPr>
              <a:t> (size_of_merge, 	duration_since_last_merge)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 name="Shape 325"/>
        <p:cNvGrpSpPr/>
        <p:nvPr/>
      </p:nvGrpSpPr>
      <p:grpSpPr>
        <a:xfrm>
          <a:off x="0" y="0"/>
          <a:ext cx="0" cy="0"/>
          <a:chOff x="0" y="0"/>
          <a:chExt cx="0" cy="0"/>
        </a:xfrm>
      </p:grpSpPr>
      <p:sp>
        <p:nvSpPr>
          <p:cNvPr id="326" name="Google Shape;326;p4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7" name="Google Shape;327;p41"/>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8" name="Google Shape;328;p41"/>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9" name="Google Shape;329;p41"/>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0" name="Google Shape;330;p41"/>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1" name="Google Shape;331;p41"/>
          <p:cNvSpPr txBox="1"/>
          <p:nvPr>
            <p:ph type="title"/>
          </p:nvPr>
        </p:nvSpPr>
        <p:spPr>
          <a:xfrm>
            <a:off x="838200" y="365125"/>
            <a:ext cx="505778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Feature-flag-driven development</a:t>
            </a:r>
            <a:endParaRPr/>
          </a:p>
        </p:txBody>
      </p:sp>
      <p:sp>
        <p:nvSpPr>
          <p:cNvPr id="332" name="Google Shape;332;p41"/>
          <p:cNvSpPr txBox="1"/>
          <p:nvPr>
            <p:ph idx="1" type="body"/>
          </p:nvPr>
        </p:nvSpPr>
        <p:spPr>
          <a:xfrm>
            <a:off x="327349" y="1864426"/>
            <a:ext cx="5412812" cy="4427759"/>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1800">
                <a:latin typeface="Calibri"/>
                <a:ea typeface="Calibri"/>
                <a:cs typeface="Calibri"/>
                <a:sym typeface="Calibri"/>
              </a:rPr>
              <a:t>Allows you to quickly release iterations of your features to market, receive feedback, improve, and redeploy</a:t>
            </a:r>
            <a:endParaRPr/>
          </a:p>
          <a:p>
            <a:pPr indent="-342900" lvl="0" marL="457200" rtl="0" algn="l">
              <a:lnSpc>
                <a:spcPct val="90000"/>
              </a:lnSpc>
              <a:spcBef>
                <a:spcPts val="1000"/>
              </a:spcBef>
              <a:spcAft>
                <a:spcPts val="0"/>
              </a:spcAft>
              <a:buClr>
                <a:schemeClr val="dk1"/>
              </a:buClr>
              <a:buSzPts val="1800"/>
              <a:buChar char="•"/>
            </a:pPr>
            <a:r>
              <a:rPr lang="en-US" sz="1800">
                <a:solidFill>
                  <a:srgbClr val="000000"/>
                </a:solidFill>
                <a:latin typeface="Calibri"/>
                <a:ea typeface="Calibri"/>
                <a:cs typeface="Calibri"/>
                <a:sym typeface="Calibri"/>
              </a:rPr>
              <a:t>Based on real market feedback and make the necessary improvements to drive the product forward.</a:t>
            </a:r>
            <a:endParaRPr sz="1800">
              <a:latin typeface="Calibri"/>
              <a:ea typeface="Calibri"/>
              <a:cs typeface="Calibri"/>
              <a:sym typeface="Calibri"/>
            </a:endParaRPr>
          </a:p>
          <a:p>
            <a:pPr indent="-342900" lvl="0" marL="457200" rtl="0" algn="l">
              <a:lnSpc>
                <a:spcPct val="90000"/>
              </a:lnSpc>
              <a:spcBef>
                <a:spcPts val="1000"/>
              </a:spcBef>
              <a:spcAft>
                <a:spcPts val="0"/>
              </a:spcAft>
              <a:buClr>
                <a:schemeClr val="dk1"/>
              </a:buClr>
              <a:buSzPts val="1800"/>
              <a:buChar char="•"/>
            </a:pPr>
            <a:r>
              <a:rPr lang="en-US" sz="1800">
                <a:latin typeface="Calibri"/>
                <a:ea typeface="Calibri"/>
                <a:cs typeface="Calibri"/>
                <a:sym typeface="Calibri"/>
              </a:rPr>
              <a:t>Control deep functional features and then target user segments</a:t>
            </a:r>
            <a:endParaRPr/>
          </a:p>
          <a:p>
            <a:pPr indent="-342900" lvl="0" marL="457200" rtl="0" algn="l">
              <a:lnSpc>
                <a:spcPct val="90000"/>
              </a:lnSpc>
              <a:spcBef>
                <a:spcPts val="1000"/>
              </a:spcBef>
              <a:spcAft>
                <a:spcPts val="0"/>
              </a:spcAft>
              <a:buClr>
                <a:schemeClr val="dk1"/>
              </a:buClr>
              <a:buSzPts val="1800"/>
              <a:buChar char="•"/>
            </a:pPr>
            <a:r>
              <a:rPr lang="en-US" sz="1800">
                <a:latin typeface="Calibri"/>
                <a:ea typeface="Calibri"/>
                <a:cs typeface="Calibri"/>
                <a:sym typeface="Calibri"/>
              </a:rPr>
              <a:t>Analyze these feature tests using your Optimizely or New Relic goals.</a:t>
            </a:r>
            <a:endParaRPr/>
          </a:p>
          <a:p>
            <a:pPr indent="-228600" lvl="0" marL="457200" rtl="0" algn="l">
              <a:lnSpc>
                <a:spcPct val="90000"/>
              </a:lnSpc>
              <a:spcBef>
                <a:spcPts val="1000"/>
              </a:spcBef>
              <a:spcAft>
                <a:spcPts val="0"/>
              </a:spcAft>
              <a:buClr>
                <a:schemeClr val="dk1"/>
              </a:buClr>
              <a:buSzPts val="1800"/>
              <a:buNone/>
            </a:pPr>
            <a:r>
              <a:t/>
            </a:r>
            <a:endParaRPr sz="1800">
              <a:latin typeface="Calibri"/>
              <a:ea typeface="Calibri"/>
              <a:cs typeface="Calibri"/>
              <a:sym typeface="Calibri"/>
            </a:endParaRPr>
          </a:p>
        </p:txBody>
      </p:sp>
      <p:pic>
        <p:nvPicPr>
          <p:cNvPr descr="ld_ffdriven" id="333" name="Google Shape;333;p41"/>
          <p:cNvPicPr preferRelativeResize="0"/>
          <p:nvPr/>
        </p:nvPicPr>
        <p:blipFill rotWithShape="1">
          <a:blip r:embed="rId3">
            <a:alphaModFix/>
          </a:blip>
          <a:srcRect b="-2" l="4746" r="-1" t="0"/>
          <a:stretch/>
        </p:blipFill>
        <p:spPr>
          <a:xfrm>
            <a:off x="6136142" y="570016"/>
            <a:ext cx="4739139" cy="2869149"/>
          </a:xfrm>
          <a:prstGeom prst="rect">
            <a:avLst/>
          </a:prstGeom>
          <a:noFill/>
          <a:ln>
            <a:noFill/>
          </a:ln>
        </p:spPr>
      </p:pic>
      <p:pic>
        <p:nvPicPr>
          <p:cNvPr descr="LaunchDarkly Feature Flag A/B Testing" id="334" name="Google Shape;334;p41"/>
          <p:cNvPicPr preferRelativeResize="0"/>
          <p:nvPr/>
        </p:nvPicPr>
        <p:blipFill rotWithShape="1">
          <a:blip r:embed="rId4">
            <a:alphaModFix/>
          </a:blip>
          <a:srcRect b="-2" l="0" r="4742" t="0"/>
          <a:stretch/>
        </p:blipFill>
        <p:spPr>
          <a:xfrm>
            <a:off x="6136142" y="3669108"/>
            <a:ext cx="4739139" cy="28980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8" name="Shape 338"/>
        <p:cNvGrpSpPr/>
        <p:nvPr/>
      </p:nvGrpSpPr>
      <p:grpSpPr>
        <a:xfrm>
          <a:off x="0" y="0"/>
          <a:ext cx="0" cy="0"/>
          <a:chOff x="0" y="0"/>
          <a:chExt cx="0" cy="0"/>
        </a:xfrm>
      </p:grpSpPr>
      <p:sp>
        <p:nvSpPr>
          <p:cNvPr id="339" name="Google Shape;339;p4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0" name="Google Shape;340;p42"/>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1" name="Google Shape;341;p42"/>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2" name="Google Shape;342;p42"/>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3" name="Google Shape;343;p42"/>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4" name="Google Shape;34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Microservices</a:t>
            </a:r>
            <a:endParaRPr/>
          </a:p>
        </p:txBody>
      </p:sp>
      <p:pic>
        <p:nvPicPr>
          <p:cNvPr descr="Scaling Up With Micro Services And Containers - Cuelogic ..." id="345" name="Google Shape;345;p42"/>
          <p:cNvPicPr preferRelativeResize="0"/>
          <p:nvPr/>
        </p:nvPicPr>
        <p:blipFill rotWithShape="1">
          <a:blip r:embed="rId3">
            <a:alphaModFix/>
          </a:blip>
          <a:srcRect b="0" l="0" r="0" t="0"/>
          <a:stretch/>
        </p:blipFill>
        <p:spPr>
          <a:xfrm>
            <a:off x="4539153" y="1286530"/>
            <a:ext cx="6982142" cy="3918857"/>
          </a:xfrm>
          <a:prstGeom prst="rect">
            <a:avLst/>
          </a:prstGeom>
          <a:noFill/>
          <a:ln>
            <a:noFill/>
          </a:ln>
        </p:spPr>
      </p:pic>
      <p:sp>
        <p:nvSpPr>
          <p:cNvPr id="346" name="Google Shape;346;p42"/>
          <p:cNvSpPr txBox="1"/>
          <p:nvPr>
            <p:ph idx="1" type="body"/>
          </p:nvPr>
        </p:nvSpPr>
        <p:spPr>
          <a:xfrm>
            <a:off x="670705" y="1531466"/>
            <a:ext cx="3668330" cy="444003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000"/>
              <a:t>Independent deployments.</a:t>
            </a:r>
            <a:endParaRPr/>
          </a:p>
          <a:p>
            <a:pPr indent="-342900" lvl="0" marL="457200" rtl="0" algn="l">
              <a:lnSpc>
                <a:spcPct val="90000"/>
              </a:lnSpc>
              <a:spcBef>
                <a:spcPts val="1000"/>
              </a:spcBef>
              <a:spcAft>
                <a:spcPts val="0"/>
              </a:spcAft>
              <a:buClr>
                <a:schemeClr val="dk1"/>
              </a:buClr>
              <a:buSzPts val="1800"/>
              <a:buChar char="•"/>
            </a:pPr>
            <a:r>
              <a:rPr lang="en-US" sz="2000"/>
              <a:t>Independent development</a:t>
            </a:r>
            <a:endParaRPr/>
          </a:p>
          <a:p>
            <a:pPr indent="-342900" lvl="0" marL="457200" rtl="0" algn="l">
              <a:lnSpc>
                <a:spcPct val="90000"/>
              </a:lnSpc>
              <a:spcBef>
                <a:spcPts val="1000"/>
              </a:spcBef>
              <a:spcAft>
                <a:spcPts val="0"/>
              </a:spcAft>
              <a:buClr>
                <a:schemeClr val="dk1"/>
              </a:buClr>
              <a:buSzPts val="1800"/>
              <a:buChar char="•"/>
            </a:pPr>
            <a:r>
              <a:rPr lang="en-US" sz="2000"/>
              <a:t>Small, focused teams.</a:t>
            </a:r>
            <a:endParaRPr/>
          </a:p>
          <a:p>
            <a:pPr indent="-342900" lvl="0" marL="457200" rtl="0" algn="l">
              <a:lnSpc>
                <a:spcPct val="90000"/>
              </a:lnSpc>
              <a:spcBef>
                <a:spcPts val="1000"/>
              </a:spcBef>
              <a:spcAft>
                <a:spcPts val="0"/>
              </a:spcAft>
              <a:buClr>
                <a:schemeClr val="dk1"/>
              </a:buClr>
              <a:buSzPts val="1800"/>
              <a:buChar char="•"/>
            </a:pPr>
            <a:r>
              <a:rPr lang="en-US" sz="2000"/>
              <a:t>Fault isolation.</a:t>
            </a:r>
            <a:endParaRPr/>
          </a:p>
          <a:p>
            <a:pPr indent="-342900" lvl="0" marL="457200" rtl="0" algn="l">
              <a:lnSpc>
                <a:spcPct val="90000"/>
              </a:lnSpc>
              <a:spcBef>
                <a:spcPts val="1000"/>
              </a:spcBef>
              <a:spcAft>
                <a:spcPts val="0"/>
              </a:spcAft>
              <a:buClr>
                <a:schemeClr val="dk1"/>
              </a:buClr>
              <a:buSzPts val="1800"/>
              <a:buChar char="•"/>
            </a:pPr>
            <a:r>
              <a:rPr lang="en-US" sz="2000"/>
              <a:t>Can make use of the latest technologies.</a:t>
            </a:r>
            <a:endParaRPr/>
          </a:p>
          <a:p>
            <a:pPr indent="-342900" lvl="0" marL="457200" rtl="0" algn="l">
              <a:lnSpc>
                <a:spcPct val="90000"/>
              </a:lnSpc>
              <a:spcBef>
                <a:spcPts val="1000"/>
              </a:spcBef>
              <a:spcAft>
                <a:spcPts val="0"/>
              </a:spcAft>
              <a:buClr>
                <a:schemeClr val="dk1"/>
              </a:buClr>
              <a:buSzPts val="1800"/>
              <a:buChar char="•"/>
            </a:pPr>
            <a:r>
              <a:rPr lang="en-US" sz="2000"/>
              <a:t>Mixed technology stacks</a:t>
            </a:r>
            <a:endParaRPr/>
          </a:p>
          <a:p>
            <a:pPr indent="-342900" lvl="0" marL="457200" rtl="0" algn="l">
              <a:lnSpc>
                <a:spcPct val="90000"/>
              </a:lnSpc>
              <a:spcBef>
                <a:spcPts val="1000"/>
              </a:spcBef>
              <a:spcAft>
                <a:spcPts val="0"/>
              </a:spcAft>
              <a:buClr>
                <a:schemeClr val="dk1"/>
              </a:buClr>
              <a:buSzPts val="1800"/>
              <a:buChar char="•"/>
            </a:pPr>
            <a:r>
              <a:rPr lang="en-US" sz="2000"/>
              <a:t>Pair well with containers</a:t>
            </a:r>
            <a:endParaRPr/>
          </a:p>
          <a:p>
            <a:pPr indent="-342900" lvl="0" marL="457200" rtl="0" algn="l">
              <a:lnSpc>
                <a:spcPct val="90000"/>
              </a:lnSpc>
              <a:spcBef>
                <a:spcPts val="1000"/>
              </a:spcBef>
              <a:spcAft>
                <a:spcPts val="0"/>
              </a:spcAft>
              <a:buClr>
                <a:schemeClr val="dk1"/>
              </a:buClr>
              <a:buSzPts val="1800"/>
              <a:buChar char="•"/>
            </a:pPr>
            <a:r>
              <a:rPr lang="en-US" sz="2000"/>
              <a:t>Granular scaling</a:t>
            </a:r>
            <a:endParaRPr/>
          </a:p>
          <a:p>
            <a:pPr indent="0" lvl="0" marL="114300" rtl="0" algn="l">
              <a:lnSpc>
                <a:spcPct val="90000"/>
              </a:lnSpc>
              <a:spcBef>
                <a:spcPts val="1000"/>
              </a:spcBef>
              <a:spcAft>
                <a:spcPts val="0"/>
              </a:spcAft>
              <a:buSzPts val="1800"/>
              <a:buNone/>
            </a:pPr>
            <a:r>
              <a:t/>
            </a:r>
            <a:endParaRPr sz="2000"/>
          </a:p>
          <a:p>
            <a:pPr indent="-228600" lvl="0" marL="457200" rtl="0" algn="l">
              <a:lnSpc>
                <a:spcPct val="90000"/>
              </a:lnSpc>
              <a:spcBef>
                <a:spcPts val="1000"/>
              </a:spcBef>
              <a:spcAft>
                <a:spcPts val="0"/>
              </a:spcAft>
              <a:buClr>
                <a:schemeClr val="dk1"/>
              </a:buClr>
              <a:buSzPts val="1800"/>
              <a:buNone/>
            </a:pPr>
            <a:r>
              <a:t/>
            </a:r>
            <a:endParaRPr sz="2000"/>
          </a:p>
          <a:p>
            <a:pPr indent="-228600" lvl="0" marL="457200" rtl="0" algn="l">
              <a:lnSpc>
                <a:spcPct val="90000"/>
              </a:lnSpc>
              <a:spcBef>
                <a:spcPts val="1000"/>
              </a:spcBef>
              <a:spcAft>
                <a:spcPts val="0"/>
              </a:spcAft>
              <a:buClr>
                <a:schemeClr val="dk1"/>
              </a:buClr>
              <a:buSzPts val="1800"/>
              <a:buNone/>
            </a:pPr>
            <a:r>
              <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0" name="Shape 350"/>
        <p:cNvGrpSpPr/>
        <p:nvPr/>
      </p:nvGrpSpPr>
      <p:grpSpPr>
        <a:xfrm>
          <a:off x="0" y="0"/>
          <a:ext cx="0" cy="0"/>
          <a:chOff x="0" y="0"/>
          <a:chExt cx="0" cy="0"/>
        </a:xfrm>
      </p:grpSpPr>
      <p:sp>
        <p:nvSpPr>
          <p:cNvPr id="351" name="Google Shape;351;p4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2" name="Google Shape;352;p43"/>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p43"/>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4" name="Google Shape;354;p43"/>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5" name="Google Shape;355;p43"/>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6" name="Google Shape;35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Mastering Chaos - A Netflix Guide to Microservices</a:t>
            </a:r>
            <a:endParaRPr/>
          </a:p>
        </p:txBody>
      </p:sp>
      <p:pic>
        <p:nvPicPr>
          <p:cNvPr descr="Microservices Architectures" id="357" name="Google Shape;357;p43"/>
          <p:cNvPicPr preferRelativeResize="0"/>
          <p:nvPr/>
        </p:nvPicPr>
        <p:blipFill rotWithShape="1">
          <a:blip r:embed="rId3">
            <a:alphaModFix/>
          </a:blip>
          <a:srcRect b="0" l="0" r="0" t="0"/>
          <a:stretch/>
        </p:blipFill>
        <p:spPr>
          <a:xfrm>
            <a:off x="2058642" y="1986363"/>
            <a:ext cx="8074715" cy="454875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p4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3" name="Google Shape;363;p44"/>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4" name="Google Shape;364;p44"/>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5" name="Google Shape;365;p44"/>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6" name="Google Shape;366;p44"/>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7" name="Google Shape;367;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Serverless</a:t>
            </a:r>
            <a:endParaRPr/>
          </a:p>
        </p:txBody>
      </p:sp>
      <p:pic>
        <p:nvPicPr>
          <p:cNvPr id="368" name="Google Shape;368;p44"/>
          <p:cNvPicPr preferRelativeResize="0"/>
          <p:nvPr/>
        </p:nvPicPr>
        <p:blipFill rotWithShape="1">
          <a:blip r:embed="rId3">
            <a:alphaModFix/>
          </a:blip>
          <a:srcRect b="0" l="0" r="0" t="0"/>
          <a:stretch/>
        </p:blipFill>
        <p:spPr>
          <a:xfrm>
            <a:off x="1624718" y="1690688"/>
            <a:ext cx="8942564" cy="42015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2" name="Shape 372"/>
        <p:cNvGrpSpPr/>
        <p:nvPr/>
      </p:nvGrpSpPr>
      <p:grpSpPr>
        <a:xfrm>
          <a:off x="0" y="0"/>
          <a:ext cx="0" cy="0"/>
          <a:chOff x="0" y="0"/>
          <a:chExt cx="0" cy="0"/>
        </a:xfrm>
      </p:grpSpPr>
      <p:sp>
        <p:nvSpPr>
          <p:cNvPr id="373" name="Google Shape;373;p4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4" name="Google Shape;374;p45"/>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5" name="Google Shape;375;p45"/>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6" name="Google Shape;376;p45"/>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7" name="Google Shape;377;p45"/>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 name="Google Shape;37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Serverless web application on Azure</a:t>
            </a:r>
            <a:endParaRPr/>
          </a:p>
        </p:txBody>
      </p:sp>
      <p:sp>
        <p:nvSpPr>
          <p:cNvPr id="379" name="Google Shape;379;p45"/>
          <p:cNvSpPr txBox="1"/>
          <p:nvPr>
            <p:ph idx="1" type="body"/>
          </p:nvPr>
        </p:nvSpPr>
        <p:spPr>
          <a:xfrm>
            <a:off x="1039884" y="5055712"/>
            <a:ext cx="10515600" cy="1450584"/>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sz="2000"/>
              <a:t>Functions as a service </a:t>
            </a:r>
            <a:r>
              <a:rPr lang="en-US" sz="2000"/>
              <a:t>(FaaS). In this model, a "function" is a piece of code that is deployed to the cloud and runs inside a hosting environment that completely abstracts the servers that run the code.</a:t>
            </a:r>
            <a:endParaRPr/>
          </a:p>
        </p:txBody>
      </p:sp>
      <p:pic>
        <p:nvPicPr>
          <p:cNvPr descr="Reference architecture for a serverless web application" id="380" name="Google Shape;380;p45"/>
          <p:cNvPicPr preferRelativeResize="0"/>
          <p:nvPr/>
        </p:nvPicPr>
        <p:blipFill rotWithShape="1">
          <a:blip r:embed="rId3">
            <a:alphaModFix/>
          </a:blip>
          <a:srcRect b="0" l="0" r="0" t="0"/>
          <a:stretch/>
        </p:blipFill>
        <p:spPr>
          <a:xfrm>
            <a:off x="2458516" y="1690688"/>
            <a:ext cx="7274967" cy="326521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4" name="Shape 384"/>
        <p:cNvGrpSpPr/>
        <p:nvPr/>
      </p:nvGrpSpPr>
      <p:grpSpPr>
        <a:xfrm>
          <a:off x="0" y="0"/>
          <a:ext cx="0" cy="0"/>
          <a:chOff x="0" y="0"/>
          <a:chExt cx="0" cy="0"/>
        </a:xfrm>
      </p:grpSpPr>
      <p:sp>
        <p:nvSpPr>
          <p:cNvPr id="385" name="Google Shape;385;p4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6" name="Google Shape;386;p46"/>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7" name="Google Shape;387;p46"/>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8" name="Google Shape;388;p46"/>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9" name="Google Shape;389;p46"/>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90" name="Google Shape;390;p46"/>
          <p:cNvPicPr preferRelativeResize="0"/>
          <p:nvPr/>
        </p:nvPicPr>
        <p:blipFill rotWithShape="1">
          <a:blip r:embed="rId3">
            <a:alphaModFix/>
          </a:blip>
          <a:srcRect b="0" l="0" r="0" t="0"/>
          <a:stretch/>
        </p:blipFill>
        <p:spPr>
          <a:xfrm>
            <a:off x="2390094" y="1095468"/>
            <a:ext cx="6845739" cy="46670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4" name="Shape 394"/>
        <p:cNvGrpSpPr/>
        <p:nvPr/>
      </p:nvGrpSpPr>
      <p:grpSpPr>
        <a:xfrm>
          <a:off x="0" y="0"/>
          <a:ext cx="0" cy="0"/>
          <a:chOff x="0" y="0"/>
          <a:chExt cx="0" cy="0"/>
        </a:xfrm>
      </p:grpSpPr>
      <p:sp>
        <p:nvSpPr>
          <p:cNvPr id="395" name="Google Shape;395;p4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6" name="Google Shape;396;p47"/>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7" name="Google Shape;397;p47"/>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8" name="Google Shape;398;p47"/>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9" name="Google Shape;399;p47"/>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00" name="Google Shape;400;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Docker and Kubernetes</a:t>
            </a:r>
            <a:endParaRPr/>
          </a:p>
        </p:txBody>
      </p:sp>
      <p:sp>
        <p:nvSpPr>
          <p:cNvPr id="401" name="Google Shape;401;p47"/>
          <p:cNvSpPr txBox="1"/>
          <p:nvPr>
            <p:ph idx="1" type="body"/>
          </p:nvPr>
        </p:nvSpPr>
        <p:spPr>
          <a:xfrm>
            <a:off x="2179609" y="2727747"/>
            <a:ext cx="7758112" cy="3210294"/>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chemeClr val="dk1"/>
              </a:buClr>
              <a:buSzPts val="1800"/>
              <a:buNone/>
            </a:pPr>
            <a:r>
              <a:t/>
            </a:r>
            <a:endParaRPr/>
          </a:p>
        </p:txBody>
      </p:sp>
      <p:pic>
        <p:nvPicPr>
          <p:cNvPr descr="Docker-Kubernetes-together - Docker Blog" id="402" name="Google Shape;402;p47"/>
          <p:cNvPicPr preferRelativeResize="0"/>
          <p:nvPr/>
        </p:nvPicPr>
        <p:blipFill rotWithShape="1">
          <a:blip r:embed="rId3">
            <a:alphaModFix/>
          </a:blip>
          <a:srcRect b="0" l="0" r="0" t="0"/>
          <a:stretch/>
        </p:blipFill>
        <p:spPr>
          <a:xfrm>
            <a:off x="1557492" y="1371399"/>
            <a:ext cx="9077016" cy="510582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6" name="Shape 406"/>
        <p:cNvGrpSpPr/>
        <p:nvPr/>
      </p:nvGrpSpPr>
      <p:grpSpPr>
        <a:xfrm>
          <a:off x="0" y="0"/>
          <a:ext cx="0" cy="0"/>
          <a:chOff x="0" y="0"/>
          <a:chExt cx="0" cy="0"/>
        </a:xfrm>
      </p:grpSpPr>
      <p:sp>
        <p:nvSpPr>
          <p:cNvPr id="407" name="Google Shape;407;p4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08" name="Google Shape;408;p48"/>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09" name="Google Shape;409;p48"/>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0" name="Google Shape;410;p48"/>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1" name="Google Shape;411;p48"/>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2" name="Google Shape;412;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Security Testing</a:t>
            </a:r>
            <a:endParaRPr/>
          </a:p>
        </p:txBody>
      </p:sp>
      <p:pic>
        <p:nvPicPr>
          <p:cNvPr id="413" name="Google Shape;413;p48"/>
          <p:cNvPicPr preferRelativeResize="0"/>
          <p:nvPr/>
        </p:nvPicPr>
        <p:blipFill rotWithShape="1">
          <a:blip r:embed="rId3">
            <a:alphaModFix/>
          </a:blip>
          <a:srcRect b="0" l="0" r="0" t="0"/>
          <a:stretch/>
        </p:blipFill>
        <p:spPr>
          <a:xfrm>
            <a:off x="1970619" y="2316032"/>
            <a:ext cx="8250761" cy="3818966"/>
          </a:xfrm>
          <a:prstGeom prst="rect">
            <a:avLst/>
          </a:prstGeom>
          <a:noFill/>
          <a:ln>
            <a:noFill/>
          </a:ln>
        </p:spPr>
      </p:pic>
      <p:sp>
        <p:nvSpPr>
          <p:cNvPr id="414" name="Google Shape;414;p48"/>
          <p:cNvSpPr txBox="1"/>
          <p:nvPr>
            <p:ph idx="1" type="body"/>
          </p:nvPr>
        </p:nvSpPr>
        <p:spPr>
          <a:xfrm>
            <a:off x="838200" y="1338471"/>
            <a:ext cx="10515600" cy="181271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Static Application Security Testing (SAST)</a:t>
            </a:r>
            <a:endParaRPr/>
          </a:p>
          <a:p>
            <a:pPr indent="-342900" lvl="0" marL="457200" rtl="0" algn="l">
              <a:lnSpc>
                <a:spcPct val="90000"/>
              </a:lnSpc>
              <a:spcBef>
                <a:spcPts val="1000"/>
              </a:spcBef>
              <a:spcAft>
                <a:spcPts val="0"/>
              </a:spcAft>
              <a:buClr>
                <a:schemeClr val="dk1"/>
              </a:buClr>
              <a:buSzPts val="1800"/>
              <a:buChar char="•"/>
            </a:pPr>
            <a:r>
              <a:rPr lang="en-US"/>
              <a:t>Dynamic Application Security Testing (DAST)</a:t>
            </a:r>
            <a:endParaRPr/>
          </a:p>
          <a:p>
            <a:pPr indent="-228600" lvl="0" marL="457200" rtl="0" algn="l">
              <a:lnSpc>
                <a:spcPct val="90000"/>
              </a:lnSpc>
              <a:spcBef>
                <a:spcPts val="1000"/>
              </a:spcBef>
              <a:spcAft>
                <a:spcPts val="0"/>
              </a:spcAft>
              <a:buClr>
                <a:schemeClr val="dk1"/>
              </a:buClr>
              <a:buSzPts val="1800"/>
              <a:buNone/>
            </a:pPr>
            <a:r>
              <a:t/>
            </a:r>
            <a:endParaRPr/>
          </a:p>
          <a:p>
            <a:pPr indent="-228600" lvl="0" marL="457200" rtl="0" algn="l">
              <a:lnSpc>
                <a:spcPct val="90000"/>
              </a:lnSpc>
              <a:spcBef>
                <a:spcPts val="1000"/>
              </a:spcBef>
              <a:spcAft>
                <a:spcPts val="0"/>
              </a:spcAft>
              <a:buClr>
                <a:schemeClr val="dk1"/>
              </a:buClr>
              <a:buSzPts val="1800"/>
              <a:buNone/>
            </a:pPr>
            <a:r>
              <a:t/>
            </a:r>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8" name="Shape 418"/>
        <p:cNvGrpSpPr/>
        <p:nvPr/>
      </p:nvGrpSpPr>
      <p:grpSpPr>
        <a:xfrm>
          <a:off x="0" y="0"/>
          <a:ext cx="0" cy="0"/>
          <a:chOff x="0" y="0"/>
          <a:chExt cx="0" cy="0"/>
        </a:xfrm>
      </p:grpSpPr>
      <p:sp>
        <p:nvSpPr>
          <p:cNvPr id="419" name="Google Shape;419;p4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0" name="Google Shape;420;p49"/>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1" name="Google Shape;421;p49"/>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2" name="Google Shape;422;p49"/>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3" name="Google Shape;423;p49"/>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4" name="Google Shape;424;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Monitor and react, learn and proact</a:t>
            </a:r>
            <a:endParaRPr/>
          </a:p>
        </p:txBody>
      </p:sp>
      <p:sp>
        <p:nvSpPr>
          <p:cNvPr id="425" name="Google Shape;425;p49"/>
          <p:cNvSpPr txBox="1"/>
          <p:nvPr/>
        </p:nvSpPr>
        <p:spPr>
          <a:xfrm>
            <a:off x="838200" y="1825625"/>
            <a:ext cx="4826876" cy="1908687"/>
          </a:xfrm>
          <a:prstGeom prst="rect">
            <a:avLst/>
          </a:prstGeom>
          <a:noFill/>
          <a:ln>
            <a:noFill/>
          </a:ln>
        </p:spPr>
        <p:txBody>
          <a:bodyPr anchorCtr="0" anchor="t" bIns="45700" lIns="91425" spcFirstLastPara="1" rIns="91425" wrap="square" tIns="45700">
            <a:spAutoFit/>
          </a:bodyPr>
          <a:lstStyle/>
          <a:p>
            <a:pPr indent="-342900" lvl="0" marL="457200" marR="0" rtl="0" algn="l">
              <a:lnSpc>
                <a:spcPct val="90000"/>
              </a:lnSpc>
              <a:spcBef>
                <a:spcPts val="1000"/>
              </a:spcBef>
              <a:spcAft>
                <a:spcPts val="0"/>
              </a:spcAft>
              <a:buClr>
                <a:schemeClr val="dk1"/>
              </a:buClr>
              <a:buSzPts val="1800"/>
              <a:buFont typeface="Arial"/>
              <a:buChar char="•"/>
            </a:pPr>
            <a:r>
              <a:rPr b="0" i="0" lang="en-US" sz="2400" u="none" cap="none" strike="noStrike">
                <a:solidFill>
                  <a:schemeClr val="accent1"/>
                </a:solidFill>
                <a:latin typeface="Calibri"/>
                <a:ea typeface="Calibri"/>
                <a:cs typeface="Calibri"/>
                <a:sym typeface="Calibri"/>
              </a:rPr>
              <a:t>PowerBI</a:t>
            </a:r>
            <a:endParaRPr b="0" i="0" sz="2400" u="none" cap="none" strike="noStrike">
              <a:solidFill>
                <a:schemeClr val="accent1"/>
              </a:solidFill>
              <a:latin typeface="Calibri"/>
              <a:ea typeface="Calibri"/>
              <a:cs typeface="Calibri"/>
              <a:sym typeface="Calibri"/>
            </a:endParaRPr>
          </a:p>
          <a:p>
            <a:pPr indent="-342900" lvl="1" marL="914400" marR="0" rtl="0" algn="l">
              <a:lnSpc>
                <a:spcPct val="90000"/>
              </a:lnSpc>
              <a:spcBef>
                <a:spcPts val="500"/>
              </a:spcBef>
              <a:spcAft>
                <a:spcPts val="0"/>
              </a:spcAft>
              <a:buClr>
                <a:schemeClr val="dk1"/>
              </a:buClr>
              <a:buSzPts val="1800"/>
              <a:buFont typeface="Arial"/>
              <a:buChar char="•"/>
            </a:pPr>
            <a:r>
              <a:rPr b="0" i="0" lang="en-US" sz="2000" u="none" cap="none" strike="noStrike">
                <a:solidFill>
                  <a:schemeClr val="dk1"/>
                </a:solidFill>
                <a:latin typeface="Calibri"/>
                <a:ea typeface="Calibri"/>
                <a:cs typeface="Calibri"/>
                <a:sym typeface="Calibri"/>
              </a:rPr>
              <a:t>Centralize and visualize important indicators for any aspect of our organization</a:t>
            </a:r>
            <a:endParaRPr/>
          </a:p>
          <a:p>
            <a:pPr indent="-228600" lvl="0" marL="457200" marR="0" rtl="0" algn="l">
              <a:lnSpc>
                <a:spcPct val="90000"/>
              </a:lnSpc>
              <a:spcBef>
                <a:spcPts val="1000"/>
              </a:spcBef>
              <a:spcAft>
                <a:spcPts val="0"/>
              </a:spcAft>
              <a:buClr>
                <a:schemeClr val="dk1"/>
              </a:buClr>
              <a:buSzPts val="1800"/>
              <a:buFont typeface="Arial"/>
              <a:buNone/>
            </a:pPr>
            <a:r>
              <a:t/>
            </a:r>
            <a:endParaRPr b="0" i="0" sz="2400" u="none" cap="none" strike="noStrike">
              <a:solidFill>
                <a:schemeClr val="dk1"/>
              </a:solidFill>
              <a:latin typeface="Calibri"/>
              <a:ea typeface="Calibri"/>
              <a:cs typeface="Calibri"/>
              <a:sym typeface="Calibri"/>
            </a:endParaRPr>
          </a:p>
        </p:txBody>
      </p:sp>
      <p:sp>
        <p:nvSpPr>
          <p:cNvPr id="426" name="Google Shape;426;p49"/>
          <p:cNvSpPr txBox="1"/>
          <p:nvPr/>
        </p:nvSpPr>
        <p:spPr>
          <a:xfrm>
            <a:off x="838199" y="4158390"/>
            <a:ext cx="4826877" cy="1993366"/>
          </a:xfrm>
          <a:prstGeom prst="rect">
            <a:avLst/>
          </a:prstGeom>
          <a:noFill/>
          <a:ln>
            <a:noFill/>
          </a:ln>
        </p:spPr>
        <p:txBody>
          <a:bodyPr anchorCtr="0" anchor="t" bIns="45700" lIns="91425" spcFirstLastPara="1" rIns="91425" wrap="square" tIns="45700">
            <a:spAutoFit/>
          </a:bodyPr>
          <a:lstStyle/>
          <a:p>
            <a:pPr indent="-228600" lvl="0" marL="228600" marR="0" rtl="0" algn="l">
              <a:lnSpc>
                <a:spcPct val="90000"/>
              </a:lnSpc>
              <a:spcBef>
                <a:spcPts val="0"/>
              </a:spcBef>
              <a:spcAft>
                <a:spcPts val="0"/>
              </a:spcAft>
              <a:buClr>
                <a:srgbClr val="000000"/>
              </a:buClr>
              <a:buSzPts val="2400"/>
              <a:buFont typeface="Arial"/>
              <a:buChar char="•"/>
            </a:pPr>
            <a:r>
              <a:rPr b="0" i="0" lang="en-US" sz="2400" u="none" cap="none" strike="noStrike">
                <a:solidFill>
                  <a:schemeClr val="accent1"/>
                </a:solidFill>
                <a:latin typeface="Arial"/>
                <a:ea typeface="Arial"/>
                <a:cs typeface="Arial"/>
                <a:sym typeface="Arial"/>
              </a:rPr>
              <a:t>Application insights, AppCenter, etc.</a:t>
            </a:r>
            <a:endParaRPr/>
          </a:p>
          <a:p>
            <a:pPr indent="-228600" lvl="1" marL="685800" marR="0" rtl="0" algn="l">
              <a:lnSpc>
                <a:spcPct val="90000"/>
              </a:lnSpc>
              <a:spcBef>
                <a:spcPts val="500"/>
              </a:spcBef>
              <a:spcAft>
                <a:spcPts val="0"/>
              </a:spcAft>
              <a:buClr>
                <a:srgbClr val="000000"/>
              </a:buClr>
              <a:buSzPts val="2000"/>
              <a:buFont typeface="Arial"/>
              <a:buChar char="•"/>
            </a:pPr>
            <a:r>
              <a:rPr b="0" i="0" lang="en-US" sz="2000" u="none" cap="none" strike="noStrike">
                <a:solidFill>
                  <a:schemeClr val="dk1"/>
                </a:solidFill>
                <a:latin typeface="Arial"/>
                <a:ea typeface="Arial"/>
                <a:cs typeface="Arial"/>
                <a:sym typeface="Arial"/>
              </a:rPr>
              <a:t>Help detect issues in Production environment to roll back in case necessary</a:t>
            </a:r>
            <a:endParaRPr/>
          </a:p>
          <a:p>
            <a:pPr indent="-228600" lvl="1" marL="685800" marR="0" rtl="0" algn="l">
              <a:lnSpc>
                <a:spcPct val="90000"/>
              </a:lnSpc>
              <a:spcBef>
                <a:spcPts val="500"/>
              </a:spcBef>
              <a:spcAft>
                <a:spcPts val="0"/>
              </a:spcAft>
              <a:buClr>
                <a:srgbClr val="000000"/>
              </a:buClr>
              <a:buSzPts val="2000"/>
              <a:buFont typeface="Arial"/>
              <a:buChar char="•"/>
            </a:pPr>
            <a:r>
              <a:rPr b="0" i="0" lang="en-US" sz="2000" u="none" cap="none" strike="noStrike">
                <a:solidFill>
                  <a:schemeClr val="dk1"/>
                </a:solidFill>
                <a:latin typeface="Arial"/>
                <a:ea typeface="Arial"/>
                <a:cs typeface="Arial"/>
                <a:sym typeface="Arial"/>
              </a:rPr>
              <a:t>Alarms, dashboard, etc.</a:t>
            </a:r>
            <a:endParaRPr/>
          </a:p>
        </p:txBody>
      </p:sp>
      <p:pic>
        <p:nvPicPr>
          <p:cNvPr descr="コンピューターのスクリーンショット&#10;&#10;自動的に生成された説明" id="427" name="Google Shape;427;p49"/>
          <p:cNvPicPr preferRelativeResize="0"/>
          <p:nvPr/>
        </p:nvPicPr>
        <p:blipFill rotWithShape="1">
          <a:blip r:embed="rId3">
            <a:alphaModFix/>
          </a:blip>
          <a:srcRect b="0" l="17806" r="0" t="0"/>
          <a:stretch/>
        </p:blipFill>
        <p:spPr>
          <a:xfrm>
            <a:off x="5924715" y="4141258"/>
            <a:ext cx="4665621" cy="2397958"/>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descr="Reporting on Work Items with Power BI | Azure DevOps Blog" id="428" name="Google Shape;428;p49"/>
          <p:cNvPicPr preferRelativeResize="0"/>
          <p:nvPr/>
        </p:nvPicPr>
        <p:blipFill rotWithShape="1">
          <a:blip r:embed="rId4">
            <a:alphaModFix/>
          </a:blip>
          <a:srcRect b="0" l="0" r="0" t="0"/>
          <a:stretch/>
        </p:blipFill>
        <p:spPr>
          <a:xfrm>
            <a:off x="5873546" y="1427115"/>
            <a:ext cx="3977464" cy="244289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0"/>
          <p:cNvSpPr txBox="1"/>
          <p:nvPr>
            <p:ph type="title"/>
          </p:nvPr>
        </p:nvSpPr>
        <p:spPr>
          <a:xfrm>
            <a:off x="648929" y="629266"/>
            <a:ext cx="3505495" cy="162232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Agile Testing Pyramid</a:t>
            </a:r>
            <a:endParaRPr/>
          </a:p>
        </p:txBody>
      </p:sp>
      <p:sp>
        <p:nvSpPr>
          <p:cNvPr id="434" name="Google Shape;434;p50"/>
          <p:cNvSpPr txBox="1"/>
          <p:nvPr>
            <p:ph idx="1" type="body"/>
          </p:nvPr>
        </p:nvSpPr>
        <p:spPr>
          <a:xfrm>
            <a:off x="352425" y="2438400"/>
            <a:ext cx="4004038" cy="37854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1800"/>
              <a:t>In the </a:t>
            </a:r>
            <a:r>
              <a:rPr b="1" lang="en-US" sz="1800"/>
              <a:t>Agile</a:t>
            </a:r>
            <a:r>
              <a:rPr lang="en-US" sz="1800"/>
              <a:t> world, an emphasis is laid on making this layer of the pyramid stronger and more robust and it is emphasized that most of the testing is achieved at this layer.​</a:t>
            </a:r>
            <a:endParaRPr/>
          </a:p>
          <a:p>
            <a:pPr indent="-342900" lvl="0" marL="457200" rtl="0" algn="l">
              <a:lnSpc>
                <a:spcPct val="90000"/>
              </a:lnSpc>
              <a:spcBef>
                <a:spcPts val="1000"/>
              </a:spcBef>
              <a:spcAft>
                <a:spcPts val="0"/>
              </a:spcAft>
              <a:buClr>
                <a:schemeClr val="dk1"/>
              </a:buClr>
              <a:buSzPts val="1800"/>
              <a:buChar char="•"/>
            </a:pPr>
            <a:r>
              <a:rPr lang="en-US" sz="1800"/>
              <a:t>Tools used in this layer of a pyramid are all the unit test tools.​</a:t>
            </a:r>
            <a:endParaRPr/>
          </a:p>
          <a:p>
            <a:pPr indent="-342900" lvl="0" marL="457200" rtl="0" algn="l">
              <a:lnSpc>
                <a:spcPct val="90000"/>
              </a:lnSpc>
              <a:spcBef>
                <a:spcPts val="1000"/>
              </a:spcBef>
              <a:spcAft>
                <a:spcPts val="0"/>
              </a:spcAft>
              <a:buClr>
                <a:schemeClr val="dk1"/>
              </a:buClr>
              <a:buSzPts val="1800"/>
              <a:buChar char="•"/>
            </a:pPr>
            <a:r>
              <a:rPr lang="en-US" sz="1800"/>
              <a:t>Tools used in the middle layer of the      pyramid are – Fitnesse, Cucumber, and Robot Framework.​</a:t>
            </a:r>
            <a:endParaRPr/>
          </a:p>
          <a:p>
            <a:pPr indent="-342900" lvl="0" marL="457200" rtl="0" algn="l">
              <a:lnSpc>
                <a:spcPct val="90000"/>
              </a:lnSpc>
              <a:spcBef>
                <a:spcPts val="1000"/>
              </a:spcBef>
              <a:spcAft>
                <a:spcPts val="0"/>
              </a:spcAft>
              <a:buClr>
                <a:schemeClr val="dk1"/>
              </a:buClr>
              <a:buSzPts val="1800"/>
              <a:buChar char="•"/>
            </a:pPr>
            <a:r>
              <a:rPr lang="en-US" sz="1800"/>
              <a:t>Tools used in the top layer are – Selenium, QTP, and RFT.​</a:t>
            </a:r>
            <a:endParaRPr/>
          </a:p>
          <a:p>
            <a:pPr indent="-228600" lvl="1" marL="914400" rtl="0" algn="l">
              <a:lnSpc>
                <a:spcPct val="90000"/>
              </a:lnSpc>
              <a:spcBef>
                <a:spcPts val="500"/>
              </a:spcBef>
              <a:spcAft>
                <a:spcPts val="0"/>
              </a:spcAft>
              <a:buSzPts val="1800"/>
              <a:buNone/>
            </a:pPr>
            <a:r>
              <a:t/>
            </a:r>
            <a:endParaRPr sz="1800"/>
          </a:p>
          <a:p>
            <a:pPr indent="-228600" lvl="1" marL="914400" rtl="0" algn="l">
              <a:lnSpc>
                <a:spcPct val="90000"/>
              </a:lnSpc>
              <a:spcBef>
                <a:spcPts val="500"/>
              </a:spcBef>
              <a:spcAft>
                <a:spcPts val="0"/>
              </a:spcAft>
              <a:buSzPts val="1800"/>
              <a:buNone/>
            </a:pPr>
            <a:r>
              <a:t/>
            </a:r>
            <a:endParaRPr sz="1800"/>
          </a:p>
        </p:txBody>
      </p:sp>
      <p:pic>
        <p:nvPicPr>
          <p:cNvPr id="435" name="Google Shape;435;p50"/>
          <p:cNvPicPr preferRelativeResize="0"/>
          <p:nvPr/>
        </p:nvPicPr>
        <p:blipFill rotWithShape="1">
          <a:blip r:embed="rId3">
            <a:alphaModFix/>
          </a:blip>
          <a:srcRect b="0" l="0" r="0" t="0"/>
          <a:stretch/>
        </p:blipFill>
        <p:spPr>
          <a:xfrm>
            <a:off x="5405862" y="1599005"/>
            <a:ext cx="6019331" cy="365674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9" name="Shape 439"/>
        <p:cNvGrpSpPr/>
        <p:nvPr/>
      </p:nvGrpSpPr>
      <p:grpSpPr>
        <a:xfrm>
          <a:off x="0" y="0"/>
          <a:ext cx="0" cy="0"/>
          <a:chOff x="0" y="0"/>
          <a:chExt cx="0" cy="0"/>
        </a:xfrm>
      </p:grpSpPr>
      <p:sp>
        <p:nvSpPr>
          <p:cNvPr id="440" name="Google Shape;440;p51"/>
          <p:cNvSpPr txBox="1"/>
          <p:nvPr/>
        </p:nvSpPr>
        <p:spPr>
          <a:xfrm>
            <a:off x="657731" y="70296"/>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Calibri"/>
              <a:buNone/>
            </a:pPr>
            <a:r>
              <a:rPr b="0" i="0" lang="en-US" sz="4400" u="none" cap="none" strike="noStrike">
                <a:solidFill>
                  <a:schemeClr val="accent1"/>
                </a:solidFill>
                <a:latin typeface="Calibri"/>
                <a:ea typeface="Calibri"/>
                <a:cs typeface="Calibri"/>
                <a:sym typeface="Calibri"/>
              </a:rPr>
              <a:t>Flow of development</a:t>
            </a:r>
            <a:endParaRPr/>
          </a:p>
        </p:txBody>
      </p:sp>
      <p:pic>
        <p:nvPicPr>
          <p:cNvPr descr="スクリーンショットの画面&#10;&#10;自動的に生成された説明" id="441" name="Google Shape;441;p51"/>
          <p:cNvPicPr preferRelativeResize="0"/>
          <p:nvPr/>
        </p:nvPicPr>
        <p:blipFill rotWithShape="1">
          <a:blip r:embed="rId3">
            <a:alphaModFix/>
          </a:blip>
          <a:srcRect b="3938" l="16450" r="1917" t="24516"/>
          <a:stretch/>
        </p:blipFill>
        <p:spPr>
          <a:xfrm>
            <a:off x="1610919" y="1442556"/>
            <a:ext cx="9380306" cy="5345148"/>
          </a:xfrm>
          <a:prstGeom prst="rect">
            <a:avLst/>
          </a:prstGeom>
          <a:noFill/>
          <a:ln>
            <a:noFill/>
          </a:ln>
        </p:spPr>
      </p:pic>
      <p:sp>
        <p:nvSpPr>
          <p:cNvPr id="442" name="Google Shape;442;p51"/>
          <p:cNvSpPr/>
          <p:nvPr/>
        </p:nvSpPr>
        <p:spPr>
          <a:xfrm>
            <a:off x="9442806" y="4496804"/>
            <a:ext cx="1910994" cy="848718"/>
          </a:xfrm>
          <a:prstGeom prst="wedgeEllipseCallout">
            <a:avLst>
              <a:gd fmla="val -57770" name="adj1"/>
              <a:gd fmla="val -53442" name="adj2"/>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Feature teams</a:t>
            </a:r>
            <a:endParaRPr/>
          </a:p>
        </p:txBody>
      </p:sp>
      <p:sp>
        <p:nvSpPr>
          <p:cNvPr id="443" name="Google Shape;443;p51"/>
          <p:cNvSpPr/>
          <p:nvPr/>
        </p:nvSpPr>
        <p:spPr>
          <a:xfrm>
            <a:off x="790253" y="3690771"/>
            <a:ext cx="1910994" cy="848718"/>
          </a:xfrm>
          <a:prstGeom prst="wedgeEllipseCallout">
            <a:avLst>
              <a:gd fmla="val 58359" name="adj1"/>
              <a:gd fmla="val -49810" name="adj2"/>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Ongoing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Other techniques and tools </a:t>
            </a:r>
            <a:endParaRPr/>
          </a:p>
        </p:txBody>
      </p:sp>
      <p:sp>
        <p:nvSpPr>
          <p:cNvPr id="449" name="Google Shape;449;p52"/>
          <p:cNvSpPr txBox="1"/>
          <p:nvPr>
            <p:ph idx="1" type="body"/>
          </p:nvPr>
        </p:nvSpPr>
        <p:spPr>
          <a:xfrm>
            <a:off x="838200" y="1847849"/>
            <a:ext cx="10515600" cy="4113563"/>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Branch by abstraction</a:t>
            </a:r>
            <a:endParaRPr/>
          </a:p>
          <a:p>
            <a:pPr indent="-342900" lvl="0" marL="457200" rtl="0" algn="l">
              <a:lnSpc>
                <a:spcPct val="90000"/>
              </a:lnSpc>
              <a:spcBef>
                <a:spcPts val="1000"/>
              </a:spcBef>
              <a:spcAft>
                <a:spcPts val="0"/>
              </a:spcAft>
              <a:buClr>
                <a:schemeClr val="dk1"/>
              </a:buClr>
              <a:buSzPts val="1800"/>
              <a:buChar char="•"/>
            </a:pPr>
            <a:r>
              <a:rPr lang="en-US"/>
              <a:t>Monolith decomposition patterns </a:t>
            </a:r>
            <a:endParaRPr/>
          </a:p>
          <a:p>
            <a:pPr indent="-342900" lvl="0" marL="457200" rtl="0" algn="l">
              <a:lnSpc>
                <a:spcPct val="90000"/>
              </a:lnSpc>
              <a:spcBef>
                <a:spcPts val="1000"/>
              </a:spcBef>
              <a:spcAft>
                <a:spcPts val="0"/>
              </a:spcAft>
              <a:buClr>
                <a:schemeClr val="dk1"/>
              </a:buClr>
              <a:buSzPts val="1800"/>
              <a:buChar char="•"/>
            </a:pPr>
            <a:r>
              <a:rPr lang="en-US"/>
              <a:t>Deployment strategies: rolling update, blue green, canary</a:t>
            </a:r>
            <a:endParaRPr/>
          </a:p>
          <a:p>
            <a:pPr indent="-342900" lvl="0" marL="457200" rtl="0" algn="l">
              <a:lnSpc>
                <a:spcPct val="90000"/>
              </a:lnSpc>
              <a:spcBef>
                <a:spcPts val="1000"/>
              </a:spcBef>
              <a:spcAft>
                <a:spcPts val="0"/>
              </a:spcAft>
              <a:buClr>
                <a:schemeClr val="dk1"/>
              </a:buClr>
              <a:buSzPts val="1800"/>
              <a:buChar char="•"/>
            </a:pPr>
            <a:r>
              <a:rPr lang="en-US"/>
              <a:t>Infrastructure as code</a:t>
            </a:r>
            <a:endParaRPr/>
          </a:p>
          <a:p>
            <a:pPr indent="-342900" lvl="0" marL="457200" rtl="0" algn="l">
              <a:lnSpc>
                <a:spcPct val="90000"/>
              </a:lnSpc>
              <a:spcBef>
                <a:spcPts val="1000"/>
              </a:spcBef>
              <a:spcAft>
                <a:spcPts val="0"/>
              </a:spcAft>
              <a:buClr>
                <a:schemeClr val="dk1"/>
              </a:buClr>
              <a:buSzPts val="1800"/>
              <a:buChar char="•"/>
            </a:pPr>
            <a:r>
              <a:rPr lang="en-US"/>
              <a:t>Mutation testing </a:t>
            </a:r>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3" name="Shape 453"/>
        <p:cNvGrpSpPr/>
        <p:nvPr/>
      </p:nvGrpSpPr>
      <p:grpSpPr>
        <a:xfrm>
          <a:off x="0" y="0"/>
          <a:ext cx="0" cy="0"/>
          <a:chOff x="0" y="0"/>
          <a:chExt cx="0" cy="0"/>
        </a:xfrm>
      </p:grpSpPr>
      <p:sp>
        <p:nvSpPr>
          <p:cNvPr id="454" name="Google Shape;454;p5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5" name="Google Shape;455;p53"/>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6" name="Google Shape;456;p53"/>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7" name="Google Shape;457;p53"/>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8" name="Google Shape;458;p53"/>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9" name="Google Shape;459;p53"/>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0" name="Google Shape;460;p53"/>
          <p:cNvSpPr txBox="1"/>
          <p:nvPr>
            <p:ph type="title"/>
          </p:nvPr>
        </p:nvSpPr>
        <p:spPr>
          <a:xfrm>
            <a:off x="643467" y="640080"/>
            <a:ext cx="3096427" cy="56132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C65E1"/>
              </a:buClr>
              <a:buSzPts val="4400"/>
              <a:buNone/>
            </a:pPr>
            <a:r>
              <a:rPr lang="en-US">
                <a:solidFill>
                  <a:srgbClr val="FFFFFF"/>
                </a:solidFill>
              </a:rPr>
              <a:t>Practice &amp; Demo</a:t>
            </a:r>
            <a:endParaRPr/>
          </a:p>
        </p:txBody>
      </p:sp>
      <p:pic>
        <p:nvPicPr>
          <p:cNvPr id="461" name="Google Shape;461;p53"/>
          <p:cNvPicPr preferRelativeResize="0"/>
          <p:nvPr/>
        </p:nvPicPr>
        <p:blipFill rotWithShape="1">
          <a:blip r:embed="rId3">
            <a:alphaModFix/>
          </a:blip>
          <a:srcRect b="21406" l="2210" r="4124" t="12679"/>
          <a:stretch/>
        </p:blipFill>
        <p:spPr>
          <a:xfrm>
            <a:off x="5559082" y="2569151"/>
            <a:ext cx="5158818" cy="19977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descr="A picture containing screenshot&#10;&#10;Description generated with very high confidence" id="466" name="Google Shape;466;p4"/>
          <p:cNvPicPr preferRelativeResize="0"/>
          <p:nvPr/>
        </p:nvPicPr>
        <p:blipFill rotWithShape="1">
          <a:blip r:embed="rId3">
            <a:alphaModFix/>
          </a:blip>
          <a:srcRect b="0" l="0" r="0" t="0"/>
          <a:stretch/>
        </p:blipFill>
        <p:spPr>
          <a:xfrm>
            <a:off x="4871795" y="668869"/>
            <a:ext cx="7320206" cy="6077153"/>
          </a:xfrm>
          <a:prstGeom prst="rect">
            <a:avLst/>
          </a:prstGeom>
          <a:noFill/>
          <a:ln>
            <a:noFill/>
          </a:ln>
        </p:spPr>
      </p:pic>
      <p:sp>
        <p:nvSpPr>
          <p:cNvPr id="467" name="Google Shape;467;p4"/>
          <p:cNvSpPr/>
          <p:nvPr/>
        </p:nvSpPr>
        <p:spPr>
          <a:xfrm>
            <a:off x="436378" y="1698136"/>
            <a:ext cx="544382" cy="544382"/>
          </a:xfrm>
          <a:prstGeom prst="ellipse">
            <a:avLst/>
          </a:prstGeom>
          <a:solidFill>
            <a:srgbClr val="EAEAEA"/>
          </a:solidFill>
          <a:ln>
            <a:noFill/>
          </a:ln>
        </p:spPr>
        <p:txBody>
          <a:bodyPr anchorCtr="0" anchor="t" bIns="143425" lIns="179275" spcFirstLastPara="1" rIns="179275" wrap="square" tIns="143425">
            <a:noAutofit/>
          </a:bodyPr>
          <a:lstStyle/>
          <a:p>
            <a:pPr indent="0" lvl="0" marL="0" marR="0" rtl="0" algn="ctr">
              <a:lnSpc>
                <a:spcPct val="90000"/>
              </a:lnSpc>
              <a:spcBef>
                <a:spcPts val="0"/>
              </a:spcBef>
              <a:spcAft>
                <a:spcPts val="0"/>
              </a:spcAft>
              <a:buNone/>
            </a:pPr>
            <a:r>
              <a:t/>
            </a:r>
            <a:endParaRPr b="0" i="0" sz="2353" u="none" cap="none" strike="noStrike">
              <a:solidFill>
                <a:srgbClr val="FFFFFF"/>
              </a:solidFill>
              <a:latin typeface="Arial"/>
              <a:ea typeface="Arial"/>
              <a:cs typeface="Arial"/>
              <a:sym typeface="Arial"/>
            </a:endParaRPr>
          </a:p>
        </p:txBody>
      </p:sp>
      <p:sp>
        <p:nvSpPr>
          <p:cNvPr id="468" name="Google Shape;468;p4"/>
          <p:cNvSpPr txBox="1"/>
          <p:nvPr/>
        </p:nvSpPr>
        <p:spPr>
          <a:xfrm>
            <a:off x="436379" y="953668"/>
            <a:ext cx="5119371" cy="80545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765"/>
              <a:buFont typeface="Arial"/>
              <a:buChar char="•"/>
            </a:pPr>
            <a:r>
              <a:rPr b="0" i="0" lang="en-US" sz="1765" u="none" cap="none" strike="noStrike">
                <a:solidFill>
                  <a:srgbClr val="595959"/>
                </a:solidFill>
                <a:latin typeface="Arial"/>
                <a:ea typeface="Arial"/>
                <a:cs typeface="Arial"/>
                <a:sym typeface="Arial"/>
              </a:rPr>
              <a:t>Cloud-hosted pipelines for Linux, Windows and macOS, with unlimited minutes for open source</a:t>
            </a:r>
            <a:endParaRPr b="0" i="0" sz="1765" u="none" cap="none" strike="noStrike">
              <a:solidFill>
                <a:srgbClr val="595959"/>
              </a:solidFill>
              <a:latin typeface="Arial"/>
              <a:ea typeface="Arial"/>
              <a:cs typeface="Arial"/>
              <a:sym typeface="Arial"/>
            </a:endParaRPr>
          </a:p>
        </p:txBody>
      </p:sp>
      <p:sp>
        <p:nvSpPr>
          <p:cNvPr id="469" name="Google Shape;469;p4"/>
          <p:cNvSpPr txBox="1"/>
          <p:nvPr/>
        </p:nvSpPr>
        <p:spPr>
          <a:xfrm>
            <a:off x="426425" y="223039"/>
            <a:ext cx="11443842" cy="73923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rgbClr val="2C65E1"/>
                </a:solidFill>
                <a:latin typeface="Arial"/>
                <a:ea typeface="Arial"/>
                <a:cs typeface="Arial"/>
                <a:sym typeface="Arial"/>
              </a:rPr>
              <a:t>Azure Pipelines</a:t>
            </a:r>
            <a:endParaRPr/>
          </a:p>
        </p:txBody>
      </p:sp>
      <p:sp>
        <p:nvSpPr>
          <p:cNvPr id="470" name="Google Shape;470;p4"/>
          <p:cNvSpPr/>
          <p:nvPr/>
        </p:nvSpPr>
        <p:spPr>
          <a:xfrm>
            <a:off x="436378" y="2811890"/>
            <a:ext cx="544382" cy="544382"/>
          </a:xfrm>
          <a:prstGeom prst="ellipse">
            <a:avLst/>
          </a:prstGeom>
          <a:solidFill>
            <a:srgbClr val="EAEAEA"/>
          </a:solidFill>
          <a:ln>
            <a:noFill/>
          </a:ln>
        </p:spPr>
        <p:txBody>
          <a:bodyPr anchorCtr="0" anchor="t" bIns="143425" lIns="179275" spcFirstLastPara="1" rIns="179275" wrap="square" tIns="143425">
            <a:noAutofit/>
          </a:bodyPr>
          <a:lstStyle/>
          <a:p>
            <a:pPr indent="0" lvl="0" marL="0" marR="0" rtl="0" algn="ctr">
              <a:lnSpc>
                <a:spcPct val="90000"/>
              </a:lnSpc>
              <a:spcBef>
                <a:spcPts val="0"/>
              </a:spcBef>
              <a:spcAft>
                <a:spcPts val="0"/>
              </a:spcAft>
              <a:buNone/>
            </a:pPr>
            <a:r>
              <a:t/>
            </a:r>
            <a:endParaRPr b="0" i="0" sz="2353" u="none" cap="none" strike="noStrike">
              <a:solidFill>
                <a:srgbClr val="FFFFFF"/>
              </a:solidFill>
              <a:latin typeface="Arial"/>
              <a:ea typeface="Arial"/>
              <a:cs typeface="Arial"/>
              <a:sym typeface="Arial"/>
            </a:endParaRPr>
          </a:p>
        </p:txBody>
      </p:sp>
      <p:sp>
        <p:nvSpPr>
          <p:cNvPr id="471" name="Google Shape;471;p4"/>
          <p:cNvSpPr txBox="1"/>
          <p:nvPr/>
        </p:nvSpPr>
        <p:spPr>
          <a:xfrm>
            <a:off x="1044773" y="1545026"/>
            <a:ext cx="4417386" cy="534056"/>
          </a:xfrm>
          <a:prstGeom prst="rect">
            <a:avLst/>
          </a:prstGeom>
          <a:noFill/>
          <a:ln>
            <a:noFill/>
          </a:ln>
        </p:spPr>
        <p:txBody>
          <a:bodyPr anchorCtr="0" anchor="t" bIns="143425" lIns="179275" spcFirstLastPara="1" rIns="179275" wrap="square" tIns="143425">
            <a:spAutoFit/>
          </a:bodyPr>
          <a:lstStyle/>
          <a:p>
            <a:pPr indent="0" lvl="0" marL="0" marR="0" rtl="0" algn="l">
              <a:lnSpc>
                <a:spcPct val="90000"/>
              </a:lnSpc>
              <a:spcBef>
                <a:spcPts val="0"/>
              </a:spcBef>
              <a:spcAft>
                <a:spcPts val="0"/>
              </a:spcAft>
              <a:buNone/>
            </a:pPr>
            <a:r>
              <a:rPr b="0" i="0" lang="en-US" sz="1400" u="none" cap="none" strike="noStrike">
                <a:solidFill>
                  <a:srgbClr val="595959"/>
                </a:solidFill>
                <a:latin typeface="Arial"/>
                <a:ea typeface="Arial"/>
                <a:cs typeface="Arial"/>
                <a:sym typeface="Arial"/>
              </a:rPr>
              <a:t>Any language, any platform, any cloud</a:t>
            </a:r>
            <a:endParaRPr/>
          </a:p>
        </p:txBody>
      </p:sp>
      <p:sp>
        <p:nvSpPr>
          <p:cNvPr id="472" name="Google Shape;472;p4"/>
          <p:cNvSpPr txBox="1"/>
          <p:nvPr/>
        </p:nvSpPr>
        <p:spPr>
          <a:xfrm>
            <a:off x="1044772" y="1789866"/>
            <a:ext cx="4105056" cy="1013800"/>
          </a:xfrm>
          <a:prstGeom prst="rect">
            <a:avLst/>
          </a:prstGeom>
          <a:noFill/>
          <a:ln>
            <a:noFill/>
          </a:ln>
        </p:spPr>
        <p:txBody>
          <a:bodyPr anchorCtr="0" anchor="t" bIns="143425" lIns="179275" spcFirstLastPara="1" rIns="179275" wrap="square" tIns="143425">
            <a:spAutoFit/>
          </a:bodyPr>
          <a:lstStyle/>
          <a:p>
            <a:pPr indent="0" lvl="0" marL="0" marR="0" rtl="0" algn="l">
              <a:lnSpc>
                <a:spcPct val="100000"/>
              </a:lnSpc>
              <a:spcBef>
                <a:spcPts val="0"/>
              </a:spcBef>
              <a:spcAft>
                <a:spcPts val="0"/>
              </a:spcAft>
              <a:buNone/>
            </a:pPr>
            <a:r>
              <a:rPr b="0" i="0" lang="en-US" sz="1176" u="none" cap="none" strike="noStrike">
                <a:solidFill>
                  <a:srgbClr val="595959"/>
                </a:solidFill>
                <a:latin typeface="Arial"/>
                <a:ea typeface="Arial"/>
                <a:cs typeface="Arial"/>
                <a:sym typeface="Arial"/>
              </a:rPr>
              <a:t>Build, test, and deploy Node.js, Python, Java, PHP, Ruby, C/C++, .NET, Android, and iOS apps. Run in parallel on Linux, macOS, and Windows.  Deploy to Azure, AWS, GCP or on-premises</a:t>
            </a:r>
            <a:endParaRPr/>
          </a:p>
        </p:txBody>
      </p:sp>
      <p:sp>
        <p:nvSpPr>
          <p:cNvPr id="473" name="Google Shape;473;p4"/>
          <p:cNvSpPr txBox="1"/>
          <p:nvPr/>
        </p:nvSpPr>
        <p:spPr>
          <a:xfrm>
            <a:off x="1044773" y="2666038"/>
            <a:ext cx="3584824" cy="534056"/>
          </a:xfrm>
          <a:prstGeom prst="rect">
            <a:avLst/>
          </a:prstGeom>
          <a:noFill/>
          <a:ln>
            <a:noFill/>
          </a:ln>
        </p:spPr>
        <p:txBody>
          <a:bodyPr anchorCtr="0" anchor="t" bIns="143425" lIns="179275" spcFirstLastPara="1" rIns="179275" wrap="square" tIns="143425">
            <a:spAutoFit/>
          </a:bodyPr>
          <a:lstStyle/>
          <a:p>
            <a:pPr indent="0" lvl="0" marL="0" marR="0" rtl="0" algn="l">
              <a:lnSpc>
                <a:spcPct val="90000"/>
              </a:lnSpc>
              <a:spcBef>
                <a:spcPts val="0"/>
              </a:spcBef>
              <a:spcAft>
                <a:spcPts val="0"/>
              </a:spcAft>
              <a:buNone/>
            </a:pPr>
            <a:r>
              <a:rPr b="0" i="0" lang="en-US" sz="1400" u="none" cap="none" strike="noStrike">
                <a:solidFill>
                  <a:srgbClr val="595959"/>
                </a:solidFill>
                <a:latin typeface="Arial"/>
                <a:ea typeface="Arial"/>
                <a:cs typeface="Arial"/>
                <a:sym typeface="Arial"/>
              </a:rPr>
              <a:t>Extensible</a:t>
            </a:r>
            <a:endParaRPr/>
          </a:p>
        </p:txBody>
      </p:sp>
      <p:sp>
        <p:nvSpPr>
          <p:cNvPr id="474" name="Google Shape;474;p4"/>
          <p:cNvSpPr txBox="1"/>
          <p:nvPr/>
        </p:nvSpPr>
        <p:spPr>
          <a:xfrm>
            <a:off x="1044773" y="2901096"/>
            <a:ext cx="3896879" cy="1013800"/>
          </a:xfrm>
          <a:prstGeom prst="rect">
            <a:avLst/>
          </a:prstGeom>
          <a:noFill/>
          <a:ln>
            <a:noFill/>
          </a:ln>
        </p:spPr>
        <p:txBody>
          <a:bodyPr anchorCtr="0" anchor="t" bIns="143425" lIns="179275" spcFirstLastPara="1" rIns="179275" wrap="square" tIns="143425">
            <a:spAutoFit/>
          </a:bodyPr>
          <a:lstStyle/>
          <a:p>
            <a:pPr indent="0" lvl="0" marL="0" marR="0" rtl="0" algn="l">
              <a:lnSpc>
                <a:spcPct val="100000"/>
              </a:lnSpc>
              <a:spcBef>
                <a:spcPts val="0"/>
              </a:spcBef>
              <a:spcAft>
                <a:spcPts val="0"/>
              </a:spcAft>
              <a:buNone/>
            </a:pPr>
            <a:r>
              <a:rPr b="0" i="0" lang="en-US" sz="1176" u="none" cap="none" strike="noStrike">
                <a:solidFill>
                  <a:srgbClr val="595959"/>
                </a:solidFill>
                <a:latin typeface="Arial"/>
                <a:ea typeface="Arial"/>
                <a:cs typeface="Arial"/>
                <a:sym typeface="Arial"/>
              </a:rPr>
              <a:t>Explore and implement a wide range of community-built build, test, and deployment tasks, along with hundreds of extensions from Slack to SonarCloud. Support for YAML, reporting and more</a:t>
            </a:r>
            <a:endParaRPr b="0" i="0" sz="1176" u="none" cap="none" strike="noStrike">
              <a:solidFill>
                <a:srgbClr val="595959"/>
              </a:solidFill>
              <a:latin typeface="Arial"/>
              <a:ea typeface="Arial"/>
              <a:cs typeface="Arial"/>
              <a:sym typeface="Arial"/>
            </a:endParaRPr>
          </a:p>
        </p:txBody>
      </p:sp>
      <p:sp>
        <p:nvSpPr>
          <p:cNvPr id="475" name="Google Shape;475;p4"/>
          <p:cNvSpPr/>
          <p:nvPr/>
        </p:nvSpPr>
        <p:spPr>
          <a:xfrm>
            <a:off x="432583" y="4892845"/>
            <a:ext cx="544382" cy="544382"/>
          </a:xfrm>
          <a:prstGeom prst="ellipse">
            <a:avLst/>
          </a:prstGeom>
          <a:solidFill>
            <a:srgbClr val="EAEAEA"/>
          </a:solidFill>
          <a:ln>
            <a:noFill/>
          </a:ln>
        </p:spPr>
        <p:txBody>
          <a:bodyPr anchorCtr="0" anchor="t" bIns="143425" lIns="179275" spcFirstLastPara="1" rIns="179275" wrap="square" tIns="143425">
            <a:noAutofit/>
          </a:bodyPr>
          <a:lstStyle/>
          <a:p>
            <a:pPr indent="0" lvl="0" marL="0" marR="0" rtl="0" algn="ctr">
              <a:lnSpc>
                <a:spcPct val="90000"/>
              </a:lnSpc>
              <a:spcBef>
                <a:spcPts val="0"/>
              </a:spcBef>
              <a:spcAft>
                <a:spcPts val="0"/>
              </a:spcAft>
              <a:buNone/>
            </a:pPr>
            <a:r>
              <a:t/>
            </a:r>
            <a:endParaRPr b="0" i="0" sz="2353" u="none" cap="none" strike="noStrike">
              <a:solidFill>
                <a:srgbClr val="FFFFFF"/>
              </a:solidFill>
              <a:latin typeface="Arial"/>
              <a:ea typeface="Arial"/>
              <a:cs typeface="Arial"/>
              <a:sym typeface="Arial"/>
            </a:endParaRPr>
          </a:p>
        </p:txBody>
      </p:sp>
      <p:sp>
        <p:nvSpPr>
          <p:cNvPr id="476" name="Google Shape;476;p4"/>
          <p:cNvSpPr txBox="1"/>
          <p:nvPr/>
        </p:nvSpPr>
        <p:spPr>
          <a:xfrm>
            <a:off x="1044773" y="4746230"/>
            <a:ext cx="3584824" cy="534056"/>
          </a:xfrm>
          <a:prstGeom prst="rect">
            <a:avLst/>
          </a:prstGeom>
          <a:noFill/>
          <a:ln>
            <a:noFill/>
          </a:ln>
        </p:spPr>
        <p:txBody>
          <a:bodyPr anchorCtr="0" anchor="t" bIns="143425" lIns="179275" spcFirstLastPara="1" rIns="179275" wrap="square" tIns="143425">
            <a:spAutoFit/>
          </a:bodyPr>
          <a:lstStyle/>
          <a:p>
            <a:pPr indent="0" lvl="0" marL="0" marR="0" rtl="0" algn="l">
              <a:lnSpc>
                <a:spcPct val="90000"/>
              </a:lnSpc>
              <a:spcBef>
                <a:spcPts val="0"/>
              </a:spcBef>
              <a:spcAft>
                <a:spcPts val="0"/>
              </a:spcAft>
              <a:buNone/>
            </a:pPr>
            <a:r>
              <a:rPr b="0" i="0" lang="en-US" sz="1400" u="none" cap="none" strike="noStrike">
                <a:solidFill>
                  <a:srgbClr val="595959"/>
                </a:solidFill>
                <a:latin typeface="Arial"/>
                <a:ea typeface="Arial"/>
                <a:cs typeface="Arial"/>
                <a:sym typeface="Arial"/>
              </a:rPr>
              <a:t>Best-in-class for open source</a:t>
            </a:r>
            <a:endParaRPr/>
          </a:p>
        </p:txBody>
      </p:sp>
      <p:sp>
        <p:nvSpPr>
          <p:cNvPr id="477" name="Google Shape;477;p4"/>
          <p:cNvSpPr txBox="1"/>
          <p:nvPr/>
        </p:nvSpPr>
        <p:spPr>
          <a:xfrm>
            <a:off x="1044772" y="5002137"/>
            <a:ext cx="4210700" cy="1194836"/>
          </a:xfrm>
          <a:prstGeom prst="rect">
            <a:avLst/>
          </a:prstGeom>
          <a:noFill/>
          <a:ln>
            <a:noFill/>
          </a:ln>
        </p:spPr>
        <p:txBody>
          <a:bodyPr anchorCtr="0" anchor="t" bIns="143425" lIns="179275" spcFirstLastPara="1" rIns="179275" wrap="square" tIns="143425">
            <a:spAutoFit/>
          </a:bodyPr>
          <a:lstStyle/>
          <a:p>
            <a:pPr indent="0" lvl="0" marL="0" marR="0" rtl="0" algn="l">
              <a:lnSpc>
                <a:spcPct val="100000"/>
              </a:lnSpc>
              <a:spcBef>
                <a:spcPts val="0"/>
              </a:spcBef>
              <a:spcAft>
                <a:spcPts val="0"/>
              </a:spcAft>
              <a:buNone/>
            </a:pPr>
            <a:r>
              <a:rPr b="0" i="0" lang="en-US" sz="1176" u="none" cap="none" strike="noStrike">
                <a:solidFill>
                  <a:srgbClr val="595959"/>
                </a:solidFill>
                <a:latin typeface="Arial"/>
                <a:ea typeface="Arial"/>
                <a:cs typeface="Arial"/>
                <a:sym typeface="Arial"/>
              </a:rPr>
              <a:t>Ensure fast continuous integration/continuous delivery (CI/CD) pipelines for every open source project. Get unlimited build minutes for all open source projects with up to 10 free parallel jobs across Linux, macOS and Windows</a:t>
            </a:r>
            <a:endParaRPr b="0" i="0" sz="1176" u="none" cap="none" strike="noStrike">
              <a:solidFill>
                <a:srgbClr val="595959"/>
              </a:solidFill>
              <a:latin typeface="Arial"/>
              <a:ea typeface="Arial"/>
              <a:cs typeface="Arial"/>
              <a:sym typeface="Arial"/>
            </a:endParaRPr>
          </a:p>
        </p:txBody>
      </p:sp>
      <p:sp>
        <p:nvSpPr>
          <p:cNvPr id="478" name="Google Shape;478;p4"/>
          <p:cNvSpPr/>
          <p:nvPr/>
        </p:nvSpPr>
        <p:spPr>
          <a:xfrm>
            <a:off x="436379" y="3917073"/>
            <a:ext cx="544382" cy="544382"/>
          </a:xfrm>
          <a:prstGeom prst="ellipse">
            <a:avLst/>
          </a:prstGeom>
          <a:solidFill>
            <a:srgbClr val="EAEAEA"/>
          </a:solidFill>
          <a:ln>
            <a:noFill/>
          </a:ln>
        </p:spPr>
        <p:txBody>
          <a:bodyPr anchorCtr="0" anchor="t" bIns="143425" lIns="179275" spcFirstLastPara="1" rIns="179275" wrap="square" tIns="143425">
            <a:noAutofit/>
          </a:bodyPr>
          <a:lstStyle/>
          <a:p>
            <a:pPr indent="0" lvl="0" marL="0" marR="0" rtl="0" algn="ctr">
              <a:lnSpc>
                <a:spcPct val="90000"/>
              </a:lnSpc>
              <a:spcBef>
                <a:spcPts val="0"/>
              </a:spcBef>
              <a:spcAft>
                <a:spcPts val="0"/>
              </a:spcAft>
              <a:buNone/>
            </a:pPr>
            <a:r>
              <a:t/>
            </a:r>
            <a:endParaRPr b="0" i="0" sz="2353" u="none" cap="none" strike="noStrike">
              <a:solidFill>
                <a:srgbClr val="FFFFFF"/>
              </a:solidFill>
              <a:latin typeface="Arial"/>
              <a:ea typeface="Arial"/>
              <a:cs typeface="Arial"/>
              <a:sym typeface="Arial"/>
            </a:endParaRPr>
          </a:p>
        </p:txBody>
      </p:sp>
      <p:sp>
        <p:nvSpPr>
          <p:cNvPr id="479" name="Google Shape;479;p4"/>
          <p:cNvSpPr txBox="1"/>
          <p:nvPr/>
        </p:nvSpPr>
        <p:spPr>
          <a:xfrm>
            <a:off x="1044773" y="3795101"/>
            <a:ext cx="3584824" cy="534056"/>
          </a:xfrm>
          <a:prstGeom prst="rect">
            <a:avLst/>
          </a:prstGeom>
          <a:noFill/>
          <a:ln>
            <a:noFill/>
          </a:ln>
        </p:spPr>
        <p:txBody>
          <a:bodyPr anchorCtr="0" anchor="t" bIns="143425" lIns="179275" spcFirstLastPara="1" rIns="179275" wrap="square" tIns="143425">
            <a:spAutoFit/>
          </a:bodyPr>
          <a:lstStyle/>
          <a:p>
            <a:pPr indent="0" lvl="0" marL="0" marR="0" rtl="0" algn="l">
              <a:lnSpc>
                <a:spcPct val="90000"/>
              </a:lnSpc>
              <a:spcBef>
                <a:spcPts val="0"/>
              </a:spcBef>
              <a:spcAft>
                <a:spcPts val="0"/>
              </a:spcAft>
              <a:buNone/>
            </a:pPr>
            <a:r>
              <a:rPr b="0" i="0" lang="en-US" sz="1400" u="none" cap="none" strike="noStrike">
                <a:solidFill>
                  <a:srgbClr val="595959"/>
                </a:solidFill>
                <a:latin typeface="Arial"/>
                <a:ea typeface="Arial"/>
                <a:cs typeface="Arial"/>
                <a:sym typeface="Arial"/>
              </a:rPr>
              <a:t>Containers and Kubernetes</a:t>
            </a:r>
            <a:endParaRPr/>
          </a:p>
        </p:txBody>
      </p:sp>
      <p:sp>
        <p:nvSpPr>
          <p:cNvPr id="480" name="Google Shape;480;p4"/>
          <p:cNvSpPr txBox="1"/>
          <p:nvPr/>
        </p:nvSpPr>
        <p:spPr>
          <a:xfrm>
            <a:off x="1044772" y="4019736"/>
            <a:ext cx="4210699" cy="832764"/>
          </a:xfrm>
          <a:prstGeom prst="rect">
            <a:avLst/>
          </a:prstGeom>
          <a:noFill/>
          <a:ln>
            <a:noFill/>
          </a:ln>
        </p:spPr>
        <p:txBody>
          <a:bodyPr anchorCtr="0" anchor="t" bIns="143425" lIns="179275" spcFirstLastPara="1" rIns="179275" wrap="square" tIns="143425">
            <a:spAutoFit/>
          </a:bodyPr>
          <a:lstStyle/>
          <a:p>
            <a:pPr indent="0" lvl="0" marL="0" marR="0" rtl="0" algn="l">
              <a:lnSpc>
                <a:spcPct val="100000"/>
              </a:lnSpc>
              <a:spcBef>
                <a:spcPts val="0"/>
              </a:spcBef>
              <a:spcAft>
                <a:spcPts val="0"/>
              </a:spcAft>
              <a:buNone/>
            </a:pPr>
            <a:r>
              <a:rPr b="0" i="0" lang="en-US" sz="1176" u="none" cap="none" strike="noStrike">
                <a:solidFill>
                  <a:srgbClr val="595959"/>
                </a:solidFill>
                <a:latin typeface="Arial"/>
                <a:ea typeface="Arial"/>
                <a:cs typeface="Arial"/>
                <a:sym typeface="Arial"/>
              </a:rPr>
              <a:t>Easily build and push images to container registries like Docker Hub and Azure Container Registry. Deploy containers to individual hosts or Kubernetes.</a:t>
            </a:r>
            <a:endParaRPr b="0" i="0" sz="1176" u="none" cap="none" strike="noStrike">
              <a:solidFill>
                <a:srgbClr val="595959"/>
              </a:solidFill>
              <a:latin typeface="Arial"/>
              <a:ea typeface="Arial"/>
              <a:cs typeface="Arial"/>
              <a:sym typeface="Arial"/>
            </a:endParaRPr>
          </a:p>
        </p:txBody>
      </p:sp>
      <p:pic>
        <p:nvPicPr>
          <p:cNvPr id="481" name="Google Shape;481;p4"/>
          <p:cNvPicPr preferRelativeResize="0"/>
          <p:nvPr/>
        </p:nvPicPr>
        <p:blipFill rotWithShape="1">
          <a:blip r:embed="rId4">
            <a:alphaModFix/>
          </a:blip>
          <a:srcRect b="0" l="0" r="0" t="0"/>
          <a:stretch/>
        </p:blipFill>
        <p:spPr>
          <a:xfrm>
            <a:off x="540491" y="1801135"/>
            <a:ext cx="336159" cy="319351"/>
          </a:xfrm>
          <a:prstGeom prst="rect">
            <a:avLst/>
          </a:prstGeom>
          <a:noFill/>
          <a:ln>
            <a:noFill/>
          </a:ln>
        </p:spPr>
      </p:pic>
      <p:pic>
        <p:nvPicPr>
          <p:cNvPr id="482" name="Google Shape;482;p4"/>
          <p:cNvPicPr preferRelativeResize="0"/>
          <p:nvPr/>
        </p:nvPicPr>
        <p:blipFill rotWithShape="1">
          <a:blip r:embed="rId5">
            <a:alphaModFix/>
          </a:blip>
          <a:srcRect b="0" l="0" r="0" t="0"/>
          <a:stretch/>
        </p:blipFill>
        <p:spPr>
          <a:xfrm>
            <a:off x="547655" y="2916002"/>
            <a:ext cx="280133" cy="336159"/>
          </a:xfrm>
          <a:prstGeom prst="rect">
            <a:avLst/>
          </a:prstGeom>
          <a:noFill/>
          <a:ln>
            <a:noFill/>
          </a:ln>
        </p:spPr>
      </p:pic>
      <p:pic>
        <p:nvPicPr>
          <p:cNvPr id="483" name="Google Shape;483;p4"/>
          <p:cNvPicPr preferRelativeResize="0"/>
          <p:nvPr/>
        </p:nvPicPr>
        <p:blipFill rotWithShape="1">
          <a:blip r:embed="rId6">
            <a:alphaModFix/>
          </a:blip>
          <a:srcRect b="0" l="0" r="0" t="0"/>
          <a:stretch/>
        </p:blipFill>
        <p:spPr>
          <a:xfrm>
            <a:off x="540491" y="4014621"/>
            <a:ext cx="336159" cy="336159"/>
          </a:xfrm>
          <a:prstGeom prst="rect">
            <a:avLst/>
          </a:prstGeom>
          <a:noFill/>
          <a:ln>
            <a:noFill/>
          </a:ln>
        </p:spPr>
      </p:pic>
      <p:pic>
        <p:nvPicPr>
          <p:cNvPr id="484" name="Google Shape;484;p4"/>
          <p:cNvPicPr preferRelativeResize="0"/>
          <p:nvPr/>
        </p:nvPicPr>
        <p:blipFill rotWithShape="1">
          <a:blip r:embed="rId7">
            <a:alphaModFix/>
          </a:blip>
          <a:srcRect b="0" l="0" r="0" t="0"/>
          <a:stretch/>
        </p:blipFill>
        <p:spPr>
          <a:xfrm>
            <a:off x="527357" y="4989698"/>
            <a:ext cx="354835" cy="354835"/>
          </a:xfrm>
          <a:prstGeom prst="rect">
            <a:avLst/>
          </a:prstGeom>
          <a:noFill/>
          <a:ln>
            <a:noFill/>
          </a:ln>
        </p:spPr>
      </p:pic>
      <p:pic>
        <p:nvPicPr>
          <p:cNvPr descr="A screenshot of a cell phone&#10;&#10;Description generated with very high confidence" id="485" name="Google Shape;485;p4"/>
          <p:cNvPicPr preferRelativeResize="0"/>
          <p:nvPr/>
        </p:nvPicPr>
        <p:blipFill rotWithShape="1">
          <a:blip r:embed="rId8">
            <a:alphaModFix/>
          </a:blip>
          <a:srcRect b="0" l="0" r="13127" t="0"/>
          <a:stretch/>
        </p:blipFill>
        <p:spPr>
          <a:xfrm>
            <a:off x="6151992" y="1516281"/>
            <a:ext cx="6040009" cy="434544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
          <p:cNvSpPr txBox="1"/>
          <p:nvPr>
            <p:ph type="title"/>
          </p:nvPr>
        </p:nvSpPr>
        <p:spPr>
          <a:xfrm>
            <a:off x="838200" y="174625"/>
            <a:ext cx="10515600" cy="10369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Tool - Technology</a:t>
            </a:r>
            <a:endParaRPr/>
          </a:p>
        </p:txBody>
      </p:sp>
      <p:grpSp>
        <p:nvGrpSpPr>
          <p:cNvPr id="492" name="Google Shape;492;p5"/>
          <p:cNvGrpSpPr/>
          <p:nvPr/>
        </p:nvGrpSpPr>
        <p:grpSpPr>
          <a:xfrm>
            <a:off x="1207703" y="1377338"/>
            <a:ext cx="9759328" cy="1635850"/>
            <a:chOff x="1242574" y="1358945"/>
            <a:chExt cx="9955023" cy="1668652"/>
          </a:xfrm>
        </p:grpSpPr>
        <p:pic>
          <p:nvPicPr>
            <p:cNvPr descr="A picture containing object&#10;&#10;Description generated with very high confidence" id="493" name="Google Shape;493;p5"/>
            <p:cNvPicPr preferRelativeResize="0"/>
            <p:nvPr/>
          </p:nvPicPr>
          <p:blipFill rotWithShape="1">
            <a:blip r:embed="rId3">
              <a:alphaModFix/>
            </a:blip>
            <a:srcRect b="0" l="0" r="0" t="0"/>
            <a:stretch/>
          </p:blipFill>
          <p:spPr>
            <a:xfrm>
              <a:off x="5625122" y="1358945"/>
              <a:ext cx="950651" cy="958567"/>
            </a:xfrm>
            <a:prstGeom prst="rect">
              <a:avLst/>
            </a:prstGeom>
            <a:noFill/>
            <a:ln>
              <a:noFill/>
            </a:ln>
          </p:spPr>
        </p:pic>
        <p:pic>
          <p:nvPicPr>
            <p:cNvPr descr="A picture containing stop, sign, outdoor, sitting&#10;&#10;Description generated with very high confidence" id="494" name="Google Shape;494;p5"/>
            <p:cNvPicPr preferRelativeResize="0"/>
            <p:nvPr/>
          </p:nvPicPr>
          <p:blipFill rotWithShape="1">
            <a:blip r:embed="rId4">
              <a:alphaModFix/>
            </a:blip>
            <a:srcRect b="0" l="0" r="0" t="0"/>
            <a:stretch/>
          </p:blipFill>
          <p:spPr>
            <a:xfrm>
              <a:off x="3741570" y="1441667"/>
              <a:ext cx="837314" cy="837073"/>
            </a:xfrm>
            <a:prstGeom prst="rect">
              <a:avLst/>
            </a:prstGeom>
            <a:noFill/>
            <a:ln>
              <a:noFill/>
            </a:ln>
          </p:spPr>
        </p:pic>
        <p:sp>
          <p:nvSpPr>
            <p:cNvPr id="495" name="Google Shape;495;p5"/>
            <p:cNvSpPr txBox="1"/>
            <p:nvPr/>
          </p:nvSpPr>
          <p:spPr>
            <a:xfrm>
              <a:off x="1242574" y="2414253"/>
              <a:ext cx="1944000" cy="612000"/>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6600CC"/>
                  </a:solidFill>
                  <a:latin typeface="Arial"/>
                  <a:ea typeface="Arial"/>
                  <a:cs typeface="Arial"/>
                  <a:sym typeface="Arial"/>
                </a:rPr>
                <a:t>.NET Core</a:t>
              </a:r>
              <a:endParaRPr b="0" i="0" sz="1400" u="none" cap="none" strike="noStrike">
                <a:solidFill>
                  <a:srgbClr val="6600CC"/>
                </a:solidFill>
                <a:latin typeface="Arial"/>
                <a:ea typeface="Arial"/>
                <a:cs typeface="Arial"/>
                <a:sym typeface="Arial"/>
              </a:endParaRPr>
            </a:p>
          </p:txBody>
        </p:sp>
        <p:sp>
          <p:nvSpPr>
            <p:cNvPr id="496" name="Google Shape;496;p5"/>
            <p:cNvSpPr txBox="1"/>
            <p:nvPr/>
          </p:nvSpPr>
          <p:spPr>
            <a:xfrm>
              <a:off x="3188227" y="2411275"/>
              <a:ext cx="1944000" cy="612000"/>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D83B01"/>
                  </a:solidFill>
                  <a:latin typeface="Arial"/>
                  <a:ea typeface="Arial"/>
                  <a:cs typeface="Arial"/>
                  <a:sym typeface="Arial"/>
                </a:rPr>
                <a:t>Azure Repos</a:t>
              </a:r>
              <a:endParaRPr/>
            </a:p>
          </p:txBody>
        </p:sp>
        <p:sp>
          <p:nvSpPr>
            <p:cNvPr id="497" name="Google Shape;497;p5"/>
            <p:cNvSpPr txBox="1"/>
            <p:nvPr/>
          </p:nvSpPr>
          <p:spPr>
            <a:xfrm>
              <a:off x="5132227" y="2415597"/>
              <a:ext cx="1944000" cy="612000"/>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2560E0"/>
                  </a:solidFill>
                  <a:latin typeface="Arial"/>
                  <a:ea typeface="Arial"/>
                  <a:cs typeface="Arial"/>
                  <a:sym typeface="Arial"/>
                </a:rPr>
                <a:t>Azure Pipelines</a:t>
              </a:r>
              <a:endParaRPr b="0" i="0" sz="1400" u="none" cap="none" strike="noStrike">
                <a:solidFill>
                  <a:srgbClr val="2560E0"/>
                </a:solidFill>
                <a:latin typeface="Arial"/>
                <a:ea typeface="Arial"/>
                <a:cs typeface="Arial"/>
                <a:sym typeface="Arial"/>
              </a:endParaRPr>
            </a:p>
          </p:txBody>
        </p:sp>
        <p:sp>
          <p:nvSpPr>
            <p:cNvPr id="498" name="Google Shape;498;p5"/>
            <p:cNvSpPr txBox="1"/>
            <p:nvPr/>
          </p:nvSpPr>
          <p:spPr>
            <a:xfrm>
              <a:off x="7304249" y="2411275"/>
              <a:ext cx="1944000" cy="612000"/>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Sonar Cloud</a:t>
              </a:r>
              <a:endParaRPr b="0" i="0" sz="1400" u="none" cap="none" strike="noStrike">
                <a:solidFill>
                  <a:srgbClr val="FF0000"/>
                </a:solidFill>
                <a:latin typeface="Arial"/>
                <a:ea typeface="Arial"/>
                <a:cs typeface="Arial"/>
                <a:sym typeface="Arial"/>
              </a:endParaRPr>
            </a:p>
          </p:txBody>
        </p:sp>
        <p:sp>
          <p:nvSpPr>
            <p:cNvPr id="499" name="Google Shape;499;p5"/>
            <p:cNvSpPr txBox="1"/>
            <p:nvPr/>
          </p:nvSpPr>
          <p:spPr>
            <a:xfrm>
              <a:off x="9253597" y="2431043"/>
              <a:ext cx="1944000" cy="572464"/>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0066CC"/>
                  </a:solidFill>
                  <a:latin typeface="Arial"/>
                  <a:ea typeface="Arial"/>
                  <a:cs typeface="Arial"/>
                  <a:sym typeface="Arial"/>
                </a:rPr>
                <a:t>Azure App Service</a:t>
              </a:r>
              <a:endParaRPr b="0" i="0" sz="1400" u="none" cap="none" strike="noStrike">
                <a:solidFill>
                  <a:srgbClr val="0066CC"/>
                </a:solidFill>
                <a:latin typeface="Arial"/>
                <a:ea typeface="Arial"/>
                <a:cs typeface="Arial"/>
                <a:sym typeface="Arial"/>
              </a:endParaRPr>
            </a:p>
          </p:txBody>
        </p:sp>
      </p:grpSp>
      <p:sp>
        <p:nvSpPr>
          <p:cNvPr descr="data:image/png;base64,iVBORw0KGgoAAAANSUhEUgAAAaQAAAB4CAMAAACKGXbnAAAA3lBMVEX///8AAAD/ZgD4+PihoaEzMzNISEj/YQDz8/P/YgD/XgCHh4diYmJoaGh1dXVwcHAPDw/V1dWlpaVCQkK5ubk8PDzq6ur/WQDk5OTIyMj19fVTU1PDw8N7e3uysrIuLi6EhITc3NwnJyeTk5MaGhpbW1sYGBhFRUWampoiIiL/bQD/9OxOTk7/2MUvLy//uZf/wKH/6t3/7Of/4M//0Lf/dib/kFT/hlD/qHz/bxz/mGH/2MP/fzr/nmz/vZr/o3P/jV//roP/eDL/rZD/iEf/cSr/lWf/fUP/v6r/yawemPMlAAAO50lEQVR4nO1caWPaOBMGDBg7EC5zhpscEMjVkDakSdMj223+/x9a6/Tosk3b3fK+0fMpscayrEdzaDQmk7GwsLCwsLCwsLCwsLCwsLCwsLCwsLCwsLCwsLCwsLCwsLCwsLCwsLCwsLCwsNgLvNt8ef7++en++nb1p4diocXq04dcx3c9z3V9f/t08afHY6Fg9SXnezkOz+28fPzTY7IQ8Xru5yR4nYe3YvScSqHVao1H/9kDJ+h5rZPdbnrqUC3y/BAu/cfNvRFlcs6yCPn/7IEV/LzxTvc8EjVyO/7Ltx8/fjzddYjp8zrX/9Io9wtO8Y+QVNjllq8uNW9ccVbX1Pz5b4Kl/wGS3mM+/Pc3wtVrD1PnvgWLt/8kXXVwNHclX199QOR5uTcQPew9SbcdbOs2miasYu7L7xvbvmLvSXpBIYKv4yjjYJY6//8Gb99J+ogUyf+ib1zdhQx6X3/X0PYW+07Sh1gaNm9DlfacpJsEFh7CEM99+j0j21/sOUlXIUneo7n9Aod+v2Vge4w9J+mzl7Bh/eq9AXu33yStzpG1i9sJfQlVzf/2W0a2v9hvkt4ha3ceJ4GiP/f77xjYHmO/SdogCh7iJFadeKcVwSmVSr/SDtEv9RPaS07anlII7jdJr6EmufHGzE2zU5rmy2eXs9msVaw06ur8OvXGSbGA2tfDQVdqrDNMyf/tUbk5no2blaCteVK3t6isw/bZZfNI6WsqdVUfhpLHdWW09VEjn88P6uwBRpLa9eBgOBzme/Kgd0W73oD97EQSCu5yf/3998uDsawBea34/J0zIu/IUBiK09KdtGDzabknNBdYwxK/zfCYSy4PJC2Yzs9qwqNqJz1tVy0sXSb/iKOpT5q8j+V6jmdNT5IzKI/5g4pzccn0K0chioE8GfN1eHk9ES/WqzPWzxG+YweSbp+35KTP81zf/Xp/oxPCAi/XZprqAgUE4IVKQ7X5CM5bk18O/xkdC4LNaSTnBGu1p2y2Ap51AkkaMC7gwwZKH4gZLUnBmSR5AE1EifDXkGejii+X4aVuRXz57g4k3Tx5wpG553v3qpRD8q/+1hSnNzQT1wKzcqxpz2YXkQQkaa4IRjOsthEAc8ZJCrvqabronqi3ozNzDUntiio6BnSXiNamICmoyf30UpN0nXPlqoZc570iRpLkiKaXW103Oo6yB7x5YZjZbIWLHPFrpbwqd8yDjZGpqyx3GICkdtTMpzbQ3Yz6V0maznSy2agKIjVJmnfKdolUIkkPbPJDQ+e6rKyhoxBxzbXNczWp8rr2XbijMHKUzfIqjEN+Sasr/H37xq4KzHVN+KUMUARGEmC5Ni4UlniFzzI6krpccr0IBvmIfM5SWpKiRbw8qZSp1VgTb5lEEqtqcO/uNxcXHzf3d/ggVs0tfEeXGYXKwaCj8UdhaMCWtlbNGJi6HcYJgTkGdtHU1QG/AhSJdcD1aNmgV6ZBOTvXkVRiogvqhvp5qbO0JE3ZfVVyYz8AKppAEuHI9UGscHPv+/6dLLjCp02vL6QwRalL0ZugIm3tals5BkQqiSRuGE1OKcsDlYgk2CmZHq7zQuFWF0cmMknUAs9ATNI9pdcobSlJEseAEQVS8SQ9YI7kurqbb4qmkARsSN3FltwiWTzgiA/ROJzBPFwpE9oqROblYNoNqvDKmFipJJKyzJjhUGC9GOD/26MCEJkTiQPt/XiCHCre0m2oJZLo0isIG74SZYlqbTqS6LqqCdss7gNiScJVDbnOa5wMAc7t+Zi7J3yTK4TpbHllYSBQr1CXBP10japND1yjIZ5E0mEjaAhcRks/JANOMYjt1+RKDEl0ZpraTIZE0rFmZiNVJJdTkeTAEUQopyDphjiYNKntJ6Q/PlG4Z8SSK8R/IGwYqDdDH8JDCcgSWarCzF6SjVEdhq08VmyIWuCAB5CZU0gqVieVFpoi6mXkiWc9CSRRRVLyDzQsIVqbiqQGvCMCc3lxJD24GsOlBQ7tfLZ7wkZSuA+QpGy9hcBvEl2Ge9seeBMyicwLQC7XpuFNpJ4kkmqLNrKMDniIMqcEIknEIxUUnaNzuyT/pCGJhFVjxcLOE0m6deHMx2FDQm/2L6l4gMVDgIeiaSQY0AMDJTmU5aJ3Bt6upk+ROjBsIZZTp5REliQaxoZkq0ASDQzl5Z9hBJAFkYYk2tOBLMPmLYYkpEje1tzOscl5ouvCx7Q++CYGKktL1qVx1FaF18vgHjRp0CdFUjBulKa21B3MDysnZ0UQOgxxCyRJsGxTSKUKgSSqdBrDSNUbi6UhifY0lWUymWUCSastDqqN7RzXOOz24UHGe0+seGgv4dJd56E2lUCLEPVC84bGD0gCZEL+IUn9wSEM6xjIrECS8ppn6tLqCAJJxB63NEpXIhHFEf47BUmkp0tNPNlMIAkVAKVRpJXnKaWRH/G9IHAHWoFxGMUx0KsIkzMFDUgckAQm1gFS0Xy156dZLVSShKkhz5iZ3hWSRMORoU6OpFxr6M8UJNFeq7JIJjnBiqydqc4OgriuR3ErhSNykDoSImqMNYvjYAAurMo2cEpIxfQkZWqa23V5MANJ4rc/J8bpwoAk0f2QxiXxoAeLJZPUJ6+guqRkklBliavNlUrYup7/XjqheHbZtkkcNkSFrGHgVI5FkoCzQu+YnqQoFZtMkjA1fRJmmVySQFI7GpkCutlChiEFSSVzTwkkYZe0TVOEf/NyrmQgkK0Uj9t1CTXsKUHQ1hL6cEAiAhmVtCQ5Ol9kJEnQhPaxeeLBkCBJPZ3c4GdI0uwgk0i6zcUch3/pJHyPdIuC8A/wiiOeykYsAR0zk4TWe1qStEd+RpIETaIBzi+T1PsZknQ9JZB0gQJw9dgIA5WlqIcVEDcKSdq8J9qPgFMK0WGXLqOWHcyd6I+aB4tRAOLE/4akYA9I+uYnfdq3wnooGcupHONhY2Pc6MC4PX3gUIKJogkJF8F5RCqSdvFJ2o+c6cJDTvdf9UkXnpmkT4ikT6Y7ETBJH5TL9UPpiLjmCNGdEA7DAwxzCC6TBHdXPbWneJLoh8vpojtyvza6oykHLJaaJF1PCSSh7Kqpjg6l6uKjc9UnUbQbYug1EKJzwXcOQIO0mY0hCWgrX+SpSaJ3G7/2hiT1yexr90mtaG6pmJKFhSH4zNhTMZ4kFN15hugOx26x1apqdBehDmnKCxkHYcZARNGU0kJmkoCNjHIB6Umiz0yVcSCr/FJzptE+BbNO4phDWQZmHMju7EyTu7iMJynzF1IGfXSAq1XvEivD1aNBCjDdQ7bsyGjAOOGJe0W6y0wS4CPapqYnKVD7hxBIooGQJuNGeyFJSrIkzyQRuiMThqNmAamDTcg4GOY5JyUUFJx7cfEfUJ6KGI6B5CsMKLAZ3JWkqMgjkC8aSaLRgC4hhyCQRLOGE1WMmgqij9T+SiJdOBxq2NV4hQ7cTNIrPRDX4Ql9MhZziHEr5+4c0ShEczQRc3QzHjqUQL5hiV93V5L44oUbrgSS2MlHmvMkh7iSU8U20heix1tU4aRD1zkcDs0/thTL2Uoi6WZr/JAZb5Ry52Z7h7/7gy4pn82DxQky1+h9oY8q6lI7JO7ZlSQehsCUVBJJTOnSnMzSQHsiSx0Jjx/onkNTG0zbaTQoqxILnX7yPAknVZ9Nd+JCSeHYHTnZyoiqCSwoRG8i1OTN8Lv1YM3hKbkvXeAA/q3h1dsVwskkklhOST1vxa0CSSwBL+VzGuLMssNLYXvBjiopSWwGRHXjCf7Ek1l9pI0L+I0/goJPZmH43mdBwMlkUhVSa1hxpBKTlpRBoqF0uhBcKBAeTyZSIi+JJK5KBZ0uSYUoVJVOhdiBLX+eQDgS+MDgul0WZWqwpxJfqMk1Dnom8Hm5weCpNQ7TrAETMpxLUzsCqy/afTOrAT6IiyMp2mhBA53pYXWR6+7oCqgBXWLxTrTrYbTzKLyLo3I8bkbSlMrUogRGD20mmnhHEVsthAsdXd1PQ27IT0Fpw/B7X6kWMpVnH7fFMepQYHYiZVpoqXYBQLx5HEl9voCX8zqqUClNe/OCcDzHH8894JB96MQUeR2Zyz5T5nGj3g47Iw4ojwMjrl48g3kWTEuZfndAdKuHpWLr7j51DKXdr7Tw27tTvoJZ4equnCc0aL48wOArUD0UZOAcpU2wmuv1EZI1iTt1hGWh2ByTJ6AmpRY8yooUh/lFlZ/HFGDIB3YAyxkd7sTB1iOygcBMj1uXp+w9McHxFazfSZXxs6gwlAfMRU7Ks16QwmSpoFJbCS4kJ+tjvchRZHPSHlWola7FiDiyA4olKdPVHkghH6V+VdFTvldBOBHDcvXEs+yQ0/doQ+ZoTioP6MzFk7R6xGbN316949durkglMfkFtZz/uIkovH3wPE3F/lT3ItmWkJsvVTUiNchG6kM/WW/X7Wj3TBQznqSMoxtLQ0tSZqo5J5vLe2G5v6FDVQekWBxlcaGhYZJOTfwQrIhieP7556uP796923z5TH8n1/9AKrnQd2NPn8K229f7R58SJ4eE9aryidhyIQe5dfm07nQiRFgGksAN7I3Fk6twykrR43GXoFpSR1KoIMq6xvWttPhEzBrlpU+UTjRxoTCiJbYgmKQlpDMQ4qcW9gUkLa8dY4TVA3M/fieEz37J2P++ylzcuezTJdxGP3zxPM0pRntQLUQFPLPKQFcPX58XuF6cHo2krfy81aQowEOcaoXhJMqo8g9qlwd4yg64EP53wbtqmc6O4FiOzxZkB+PgfsrSxqgUHPFXKxxocnkhphUmUqBF0OR1BJ1zRsyp0U9mQyk86MQP46889Us/18P2LGTQU9r8O9MvhZfqgyDEIO4T7XYvCBaNYFBP+WW/CU49GC3Cbn6lDzQWNN5p8licUHQ+CpQv5kWReTgiPYfRMwdBPgh6pjS8ETcvvkiTG/3C52Yr0uT5OWPu2+Jfxe2TH9o5j1o2/xmG15tH/Gv7yMqFbedXb+BHPvcWH6/eb8/Pz7cP35QMxGpz/xI2nd89/dD+doCFhYWFhYWFhYWFhYWFhYWFhYWFhYWFhYWFhYWFhYWFhYWFhYWFhYWFhYWFhYWFhYWFhYXFz+EfhF0NfXZrxHwAAAAASUVORK5CYII=" id="500" name="Google Shape;500;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Docs\CI-CD\ref\download.png" id="501" name="Google Shape;501;p5"/>
          <p:cNvPicPr preferRelativeResize="0"/>
          <p:nvPr/>
        </p:nvPicPr>
        <p:blipFill rotWithShape="1">
          <a:blip r:embed="rId5">
            <a:alphaModFix/>
          </a:blip>
          <a:srcRect b="0" l="0" r="0" t="0"/>
          <a:stretch/>
        </p:blipFill>
        <p:spPr>
          <a:xfrm>
            <a:off x="7071901" y="1641873"/>
            <a:ext cx="2062417" cy="589262"/>
          </a:xfrm>
          <a:prstGeom prst="rect">
            <a:avLst/>
          </a:prstGeom>
          <a:noFill/>
          <a:ln>
            <a:noFill/>
          </a:ln>
        </p:spPr>
      </p:pic>
      <p:pic>
        <p:nvPicPr>
          <p:cNvPr id="502" name="Google Shape;502;p5"/>
          <p:cNvPicPr preferRelativeResize="0"/>
          <p:nvPr/>
        </p:nvPicPr>
        <p:blipFill rotWithShape="1">
          <a:blip r:embed="rId6">
            <a:alphaModFix/>
          </a:blip>
          <a:srcRect b="0" l="0" r="0" t="0"/>
          <a:stretch/>
        </p:blipFill>
        <p:spPr>
          <a:xfrm>
            <a:off x="9555682" y="1396342"/>
            <a:ext cx="916912" cy="901715"/>
          </a:xfrm>
          <a:prstGeom prst="rect">
            <a:avLst/>
          </a:prstGeom>
          <a:noFill/>
          <a:ln>
            <a:noFill/>
          </a:ln>
        </p:spPr>
      </p:pic>
      <p:pic>
        <p:nvPicPr>
          <p:cNvPr descr="D:\Docs\CI-CD\ref\Git_icon.svg.png" id="503" name="Google Shape;503;p5"/>
          <p:cNvPicPr preferRelativeResize="0"/>
          <p:nvPr/>
        </p:nvPicPr>
        <p:blipFill rotWithShape="1">
          <a:blip r:embed="rId7">
            <a:alphaModFix/>
          </a:blip>
          <a:srcRect b="0" l="0" r="0" t="0"/>
          <a:stretch/>
        </p:blipFill>
        <p:spPr>
          <a:xfrm>
            <a:off x="7586429" y="4101578"/>
            <a:ext cx="1036871" cy="1036871"/>
          </a:xfrm>
          <a:prstGeom prst="rect">
            <a:avLst/>
          </a:prstGeom>
          <a:noFill/>
          <a:ln>
            <a:noFill/>
          </a:ln>
        </p:spPr>
      </p:pic>
      <p:pic>
        <p:nvPicPr>
          <p:cNvPr descr="D:\Docs\CI-CD\ref\logo.png" id="504" name="Google Shape;504;p5"/>
          <p:cNvPicPr preferRelativeResize="0"/>
          <p:nvPr/>
        </p:nvPicPr>
        <p:blipFill rotWithShape="1">
          <a:blip r:embed="rId8">
            <a:alphaModFix/>
          </a:blip>
          <a:srcRect b="0" l="0" r="0" t="0"/>
          <a:stretch/>
        </p:blipFill>
        <p:spPr>
          <a:xfrm>
            <a:off x="1697942" y="1307629"/>
            <a:ext cx="950706" cy="950706"/>
          </a:xfrm>
          <a:prstGeom prst="rect">
            <a:avLst/>
          </a:prstGeom>
          <a:noFill/>
          <a:ln>
            <a:noFill/>
          </a:ln>
        </p:spPr>
      </p:pic>
      <p:pic>
        <p:nvPicPr>
          <p:cNvPr descr="D:\Docs\CI-CD\ref\download (1).png" id="505" name="Google Shape;505;p5"/>
          <p:cNvPicPr preferRelativeResize="0"/>
          <p:nvPr/>
        </p:nvPicPr>
        <p:blipFill rotWithShape="1">
          <a:blip r:embed="rId9">
            <a:alphaModFix/>
          </a:blip>
          <a:srcRect b="0" l="0" r="0" t="0"/>
          <a:stretch/>
        </p:blipFill>
        <p:spPr>
          <a:xfrm>
            <a:off x="1667525" y="4088880"/>
            <a:ext cx="943023" cy="943023"/>
          </a:xfrm>
          <a:prstGeom prst="rect">
            <a:avLst/>
          </a:prstGeom>
          <a:noFill/>
          <a:ln>
            <a:noFill/>
          </a:ln>
        </p:spPr>
      </p:pic>
      <p:pic>
        <p:nvPicPr>
          <p:cNvPr descr="D:\Docs\CI-CD\ref\1200px-Visual_Studio_Code_1.18_icon.svg.png" id="506" name="Google Shape;506;p5"/>
          <p:cNvPicPr preferRelativeResize="0"/>
          <p:nvPr/>
        </p:nvPicPr>
        <p:blipFill rotWithShape="1">
          <a:blip r:embed="rId10">
            <a:alphaModFix/>
          </a:blip>
          <a:srcRect b="0" l="0" r="0" t="0"/>
          <a:stretch/>
        </p:blipFill>
        <p:spPr>
          <a:xfrm>
            <a:off x="3594515" y="4205801"/>
            <a:ext cx="883913" cy="880231"/>
          </a:xfrm>
          <a:prstGeom prst="rect">
            <a:avLst/>
          </a:prstGeom>
          <a:noFill/>
          <a:ln>
            <a:noFill/>
          </a:ln>
        </p:spPr>
      </p:pic>
      <p:pic>
        <p:nvPicPr>
          <p:cNvPr descr="D:\Docs\CI-CD\ref\download.jpg" id="507" name="Google Shape;507;p5"/>
          <p:cNvPicPr preferRelativeResize="0"/>
          <p:nvPr/>
        </p:nvPicPr>
        <p:blipFill rotWithShape="1">
          <a:blip r:embed="rId11">
            <a:alphaModFix/>
          </a:blip>
          <a:srcRect b="0" l="0" r="0" t="0"/>
          <a:stretch/>
        </p:blipFill>
        <p:spPr>
          <a:xfrm>
            <a:off x="5504099" y="4051042"/>
            <a:ext cx="1097783" cy="1097783"/>
          </a:xfrm>
          <a:prstGeom prst="rect">
            <a:avLst/>
          </a:prstGeom>
          <a:noFill/>
          <a:ln>
            <a:noFill/>
          </a:ln>
        </p:spPr>
      </p:pic>
      <p:pic>
        <p:nvPicPr>
          <p:cNvPr descr="D:\Docs\CI-CD\ref\27257414-2b830a24-539b-11e7-9d72-a01eaf1181ee.png" id="508" name="Google Shape;508;p5"/>
          <p:cNvPicPr preferRelativeResize="0"/>
          <p:nvPr/>
        </p:nvPicPr>
        <p:blipFill rotWithShape="1">
          <a:blip r:embed="rId12">
            <a:alphaModFix/>
          </a:blip>
          <a:srcRect b="0" l="0" r="0" t="0"/>
          <a:stretch/>
        </p:blipFill>
        <p:spPr>
          <a:xfrm>
            <a:off x="9513079" y="4193101"/>
            <a:ext cx="970130" cy="877946"/>
          </a:xfrm>
          <a:prstGeom prst="rect">
            <a:avLst/>
          </a:prstGeom>
          <a:noFill/>
          <a:ln>
            <a:noFill/>
          </a:ln>
        </p:spPr>
      </p:pic>
      <p:sp>
        <p:nvSpPr>
          <p:cNvPr id="509" name="Google Shape;509;p5"/>
          <p:cNvSpPr txBox="1"/>
          <p:nvPr/>
        </p:nvSpPr>
        <p:spPr>
          <a:xfrm>
            <a:off x="1186143" y="5371001"/>
            <a:ext cx="1905785" cy="599969"/>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6600CC"/>
                </a:solidFill>
                <a:latin typeface="Arial"/>
                <a:ea typeface="Arial"/>
                <a:cs typeface="Arial"/>
                <a:sym typeface="Arial"/>
              </a:rPr>
              <a:t>Visual Studio</a:t>
            </a:r>
            <a:endParaRPr b="0" i="0" sz="1400" u="none" cap="none" strike="noStrike">
              <a:solidFill>
                <a:srgbClr val="6600CC"/>
              </a:solidFill>
              <a:latin typeface="Arial"/>
              <a:ea typeface="Arial"/>
              <a:cs typeface="Arial"/>
              <a:sym typeface="Arial"/>
            </a:endParaRPr>
          </a:p>
        </p:txBody>
      </p:sp>
      <p:sp>
        <p:nvSpPr>
          <p:cNvPr id="510" name="Google Shape;510;p5"/>
          <p:cNvSpPr txBox="1"/>
          <p:nvPr/>
        </p:nvSpPr>
        <p:spPr>
          <a:xfrm>
            <a:off x="3083578" y="5357202"/>
            <a:ext cx="1905785" cy="599969"/>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0066CC"/>
                </a:solidFill>
                <a:latin typeface="Arial"/>
                <a:ea typeface="Arial"/>
                <a:cs typeface="Arial"/>
                <a:sym typeface="Arial"/>
              </a:rPr>
              <a:t>Visual Studio Code</a:t>
            </a:r>
            <a:endParaRPr b="0" i="0" sz="1400" u="none" cap="none" strike="noStrike">
              <a:solidFill>
                <a:srgbClr val="0066CC"/>
              </a:solidFill>
              <a:latin typeface="Arial"/>
              <a:ea typeface="Arial"/>
              <a:cs typeface="Arial"/>
              <a:sym typeface="Arial"/>
            </a:endParaRPr>
          </a:p>
        </p:txBody>
      </p:sp>
      <p:sp>
        <p:nvSpPr>
          <p:cNvPr id="511" name="Google Shape;511;p5"/>
          <p:cNvSpPr txBox="1"/>
          <p:nvPr/>
        </p:nvSpPr>
        <p:spPr>
          <a:xfrm>
            <a:off x="5100097" y="5357202"/>
            <a:ext cx="1905785" cy="599969"/>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0066CC"/>
                </a:solidFill>
                <a:latin typeface="Arial"/>
                <a:ea typeface="Arial"/>
                <a:cs typeface="Arial"/>
                <a:sym typeface="Arial"/>
              </a:rPr>
              <a:t>Source Tree</a:t>
            </a:r>
            <a:endParaRPr b="0" i="0" sz="1400" u="none" cap="none" strike="noStrike">
              <a:solidFill>
                <a:srgbClr val="0066CC"/>
              </a:solidFill>
              <a:latin typeface="Arial"/>
              <a:ea typeface="Arial"/>
              <a:cs typeface="Arial"/>
              <a:sym typeface="Arial"/>
            </a:endParaRPr>
          </a:p>
        </p:txBody>
      </p:sp>
      <p:sp>
        <p:nvSpPr>
          <p:cNvPr id="512" name="Google Shape;512;p5"/>
          <p:cNvSpPr txBox="1"/>
          <p:nvPr/>
        </p:nvSpPr>
        <p:spPr>
          <a:xfrm>
            <a:off x="7150216" y="5356103"/>
            <a:ext cx="1905785" cy="599969"/>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GIT</a:t>
            </a:r>
            <a:endParaRPr b="0" i="0" sz="1400" u="none" cap="none" strike="noStrike">
              <a:solidFill>
                <a:srgbClr val="FF0000"/>
              </a:solidFill>
              <a:latin typeface="Arial"/>
              <a:ea typeface="Arial"/>
              <a:cs typeface="Arial"/>
              <a:sym typeface="Arial"/>
            </a:endParaRPr>
          </a:p>
        </p:txBody>
      </p:sp>
      <p:sp>
        <p:nvSpPr>
          <p:cNvPr id="513" name="Google Shape;513;p5"/>
          <p:cNvSpPr txBox="1"/>
          <p:nvPr/>
        </p:nvSpPr>
        <p:spPr>
          <a:xfrm>
            <a:off x="9045251" y="5344502"/>
            <a:ext cx="1905785" cy="599969"/>
          </a:xfrm>
          <a:prstGeom prst="rect">
            <a:avLst/>
          </a:prstGeom>
          <a:noFill/>
          <a:ln>
            <a:noFill/>
          </a:ln>
        </p:spPr>
        <p:txBody>
          <a:bodyPr anchorCtr="0" anchor="t" bIns="143425" lIns="0" spcFirstLastPara="1" rIns="0" wrap="square" tIns="143425">
            <a:noAutofit/>
          </a:bodyPr>
          <a:lstStyle/>
          <a:p>
            <a:pPr indent="0" lvl="0" marL="0" marR="0" rtl="0" algn="ctr">
              <a:lnSpc>
                <a:spcPct val="100000"/>
              </a:lnSpc>
              <a:spcBef>
                <a:spcPts val="0"/>
              </a:spcBef>
              <a:spcAft>
                <a:spcPts val="0"/>
              </a:spcAft>
              <a:buNone/>
            </a:pPr>
            <a:r>
              <a:rPr b="0" i="0" lang="en-US" sz="1400" u="none" cap="none" strike="noStrike">
                <a:solidFill>
                  <a:srgbClr val="262626"/>
                </a:solidFill>
                <a:latin typeface="Arial"/>
                <a:ea typeface="Arial"/>
                <a:cs typeface="Arial"/>
                <a:sym typeface="Arial"/>
              </a:rPr>
              <a:t>YAML Ain't Markup Language</a:t>
            </a:r>
            <a:endParaRPr b="0" i="0" sz="1400" u="none" cap="none" strike="noStrike">
              <a:solidFill>
                <a:srgbClr val="262626"/>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4"/>
          <p:cNvSpPr txBox="1"/>
          <p:nvPr>
            <p:ph type="title"/>
          </p:nvPr>
        </p:nvSpPr>
        <p:spPr>
          <a:xfrm>
            <a:off x="838200" y="174625"/>
            <a:ext cx="10515600" cy="10369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Tool – Technology (cont.)</a:t>
            </a:r>
            <a:endParaRPr/>
          </a:p>
        </p:txBody>
      </p:sp>
      <p:sp>
        <p:nvSpPr>
          <p:cNvPr descr="data:image/png;base64,iVBORw0KGgoAAAANSUhEUgAAAaQAAAB4CAMAAACKGXbnAAAA3lBMVEX///8AAAD/ZgD4+PihoaEzMzNISEj/YQDz8/P/YgD/XgCHh4diYmJoaGh1dXVwcHAPDw/V1dWlpaVCQkK5ubk8PDzq6ur/WQDk5OTIyMj19fVTU1PDw8N7e3uysrIuLi6EhITc3NwnJyeTk5MaGhpbW1sYGBhFRUWampoiIiL/bQD/9OxOTk7/2MUvLy//uZf/wKH/6t3/7Of/4M//0Lf/dib/kFT/hlD/qHz/bxz/mGH/2MP/fzr/nmz/vZr/o3P/jV//roP/eDL/rZD/iEf/cSr/lWf/fUP/v6r/yawemPMlAAAO50lEQVR4nO1caWPaOBMGDBg7EC5zhpscEMjVkDakSdMj223+/x9a6/Tosk3b3fK+0fMpscayrEdzaDQmk7GwsLCwsLCwsLCwsLCwsLCwsLCwsLCwsLCwsLCwsLCwsLCwsLCwsLCwsLCwsNgLvNt8ef7++en++nb1p4diocXq04dcx3c9z3V9f/t08afHY6Fg9SXnezkOz+28fPzTY7IQ8Xru5yR4nYe3YvScSqHVao1H/9kDJ+h5rZPdbnrqUC3y/BAu/cfNvRFlcs6yCPn/7IEV/LzxTvc8EjVyO/7Ltx8/fjzddYjp8zrX/9Io9wtO8Y+QVNjllq8uNW9ccVbX1Pz5b4Kl/wGS3mM+/Pc3wtVrD1PnvgWLt/8kXXVwNHclX199QOR5uTcQPew9SbcdbOs2miasYu7L7xvbvmLvSXpBIYKv4yjjYJY6//8Gb99J+ogUyf+ib1zdhQx6X3/X0PYW+07Sh1gaNm9DlfacpJsEFh7CEM99+j0j21/sOUlXIUneo7n9Aod+v2Vge4w9J+mzl7Bh/eq9AXu33yStzpG1i9sJfQlVzf/2W0a2v9hvkt4ha3ceJ4GiP/f77xjYHmO/SdogCh7iJFadeKcVwSmVSr/SDtEv9RPaS07anlII7jdJr6EmufHGzE2zU5rmy2eXs9msVaw06ur8OvXGSbGA2tfDQVdqrDNMyf/tUbk5no2blaCteVK3t6isw/bZZfNI6WsqdVUfhpLHdWW09VEjn88P6uwBRpLa9eBgOBzme/Kgd0W73oD97EQSCu5yf/3998uDsawBea34/J0zIu/IUBiK09KdtGDzabknNBdYwxK/zfCYSy4PJC2Yzs9qwqNqJz1tVy0sXSb/iKOpT5q8j+V6jmdNT5IzKI/5g4pzccn0K0chioE8GfN1eHk9ES/WqzPWzxG+YweSbp+35KTP81zf/Xp/oxPCAi/XZprqAgUE4IVKQ7X5CM5bk18O/xkdC4LNaSTnBGu1p2y2Ap51AkkaMC7gwwZKH4gZLUnBmSR5AE1EifDXkGejii+X4aVuRXz57g4k3Tx5wpG553v3qpRD8q/+1hSnNzQT1wKzcqxpz2YXkQQkaa4IRjOsthEAc8ZJCrvqabronqi3ozNzDUntiio6BnSXiNamICmoyf30UpN0nXPlqoZc570iRpLkiKaXW103Oo6yB7x5YZjZbIWLHPFrpbwqd8yDjZGpqyx3GICkdtTMpzbQ3Yz6V0maznSy2agKIjVJmnfKdolUIkkPbPJDQ+e6rKyhoxBxzbXNczWp8rr2XbijMHKUzfIqjEN+Sasr/H37xq4KzHVN+KUMUARGEmC5Ni4UlniFzzI6krpccr0IBvmIfM5SWpKiRbw8qZSp1VgTb5lEEqtqcO/uNxcXHzf3d/ggVs0tfEeXGYXKwaCj8UdhaMCWtlbNGJi6HcYJgTkGdtHU1QG/AhSJdcD1aNmgV6ZBOTvXkVRiogvqhvp5qbO0JE3ZfVVyYz8AKppAEuHI9UGscHPv+/6dLLjCp02vL6QwRalL0ZugIm3tals5BkQqiSRuGE1OKcsDlYgk2CmZHq7zQuFWF0cmMknUAs9ATNI9pdcobSlJEseAEQVS8SQ9YI7kurqbb4qmkARsSN3FltwiWTzgiA/ROJzBPFwpE9oqROblYNoNqvDKmFipJJKyzJjhUGC9GOD/26MCEJkTiQPt/XiCHCre0m2oJZLo0isIG74SZYlqbTqS6LqqCdss7gNiScJVDbnOa5wMAc7t+Zi7J3yTK4TpbHllYSBQr1CXBP10japND1yjIZ5E0mEjaAhcRks/JANOMYjt1+RKDEl0ZpraTIZE0rFmZiNVJJdTkeTAEUQopyDphjiYNKntJ6Q/PlG4Z8SSK8R/IGwYqDdDH8JDCcgSWarCzF6SjVEdhq08VmyIWuCAB5CZU0gqVieVFpoi6mXkiWc9CSRRRVLyDzQsIVqbiqQGvCMCc3lxJD24GsOlBQ7tfLZ7wkZSuA+QpGy9hcBvEl2Ge9seeBMyicwLQC7XpuFNpJ4kkmqLNrKMDniIMqcEIknEIxUUnaNzuyT/pCGJhFVjxcLOE0m6deHMx2FDQm/2L6l4gMVDgIeiaSQY0AMDJTmU5aJ3Bt6upk+ROjBsIZZTp5REliQaxoZkq0ASDQzl5Z9hBJAFkYYk2tOBLMPmLYYkpEje1tzOscl5ouvCx7Q++CYGKktL1qVx1FaF18vgHjRp0CdFUjBulKa21B3MDysnZ0UQOgxxCyRJsGxTSKUKgSSqdBrDSNUbi6UhifY0lWUymWUCSastDqqN7RzXOOz24UHGe0+seGgv4dJd56E2lUCLEPVC84bGD0gCZEL+IUn9wSEM6xjIrECS8ppn6tLqCAJJxB63NEpXIhHFEf47BUmkp0tNPNlMIAkVAKVRpJXnKaWRH/G9IHAHWoFxGMUx0KsIkzMFDUgckAQm1gFS0Xy156dZLVSShKkhz5iZ3hWSRMORoU6OpFxr6M8UJNFeq7JIJjnBiqydqc4OgriuR3ErhSNykDoSImqMNYvjYAAurMo2cEpIxfQkZWqa23V5MANJ4rc/J8bpwoAk0f2QxiXxoAeLJZPUJ6+guqRkklBliavNlUrYup7/XjqheHbZtkkcNkSFrGHgVI5FkoCzQu+YnqQoFZtMkjA1fRJmmVySQFI7GpkCutlChiEFSSVzTwkkYZe0TVOEf/NyrmQgkK0Uj9t1CTXsKUHQ1hL6cEAiAhmVtCQ5Ol9kJEnQhPaxeeLBkCBJPZ3c4GdI0uwgk0i6zcUch3/pJHyPdIuC8A/wiiOeykYsAR0zk4TWe1qStEd+RpIETaIBzi+T1PsZknQ9JZB0gQJw9dgIA5WlqIcVEDcKSdq8J9qPgFMK0WGXLqOWHcyd6I+aB4tRAOLE/4akYA9I+uYnfdq3wnooGcupHONhY2Pc6MC4PX3gUIKJogkJF8F5RCqSdvFJ2o+c6cJDTvdf9UkXnpmkT4ikT6Y7ETBJH5TL9UPpiLjmCNGdEA7DAwxzCC6TBHdXPbWneJLoh8vpojtyvza6oykHLJaaJF1PCSSh7Kqpjg6l6uKjc9UnUbQbYug1EKJzwXcOQIO0mY0hCWgrX+SpSaJ3G7/2hiT1yexr90mtaG6pmJKFhSH4zNhTMZ4kFN15hugOx26x1apqdBehDmnKCxkHYcZARNGU0kJmkoCNjHIB6Umiz0yVcSCr/FJzptE+BbNO4phDWQZmHMju7EyTu7iMJynzF1IGfXSAq1XvEivD1aNBCjDdQ7bsyGjAOOGJe0W6y0wS4CPapqYnKVD7hxBIooGQJuNGeyFJSrIkzyQRuiMThqNmAamDTcg4GOY5JyUUFJx7cfEfUJ6KGI6B5CsMKLAZ3JWkqMgjkC8aSaLRgC4hhyCQRLOGE1WMmgqij9T+SiJdOBxq2NV4hQ7cTNIrPRDX4Ql9MhZziHEr5+4c0ShEczQRc3QzHjqUQL5hiV93V5L44oUbrgSS2MlHmvMkh7iSU8U20heix1tU4aRD1zkcDs0/thTL2Uoi6WZr/JAZb5Ry52Z7h7/7gy4pn82DxQky1+h9oY8q6lI7JO7ZlSQehsCUVBJJTOnSnMzSQHsiSx0Jjx/onkNTG0zbaTQoqxILnX7yPAknVZ9Nd+JCSeHYHTnZyoiqCSwoRG8i1OTN8Lv1YM3hKbkvXeAA/q3h1dsVwskkklhOST1vxa0CSSwBL+VzGuLMssNLYXvBjiopSWwGRHXjCf7Ek1l9pI0L+I0/goJPZmH43mdBwMlkUhVSa1hxpBKTlpRBoqF0uhBcKBAeTyZSIi+JJK5KBZ0uSYUoVJVOhdiBLX+eQDgS+MDgul0WZWqwpxJfqMk1Dnom8Hm5weCpNQ7TrAETMpxLUzsCqy/afTOrAT6IiyMp2mhBA53pYXWR6+7oCqgBXWLxTrTrYbTzKLyLo3I8bkbSlMrUogRGD20mmnhHEVsthAsdXd1PQ27IT0Fpw/B7X6kWMpVnH7fFMepQYHYiZVpoqXYBQLx5HEl9voCX8zqqUClNe/OCcDzHH8894JB96MQUeR2Zyz5T5nGj3g47Iw4ojwMjrl48g3kWTEuZfndAdKuHpWLr7j51DKXdr7Tw27tTvoJZ4equnCc0aL48wOArUD0UZOAcpU2wmuv1EZI1iTt1hGWh2ByTJ6AmpRY8yooUh/lFlZ/HFGDIB3YAyxkd7sTB1iOygcBMj1uXp+w9McHxFazfSZXxs6gwlAfMRU7Ks16QwmSpoFJbCS4kJ+tjvchRZHPSHlWola7FiDiyA4olKdPVHkghH6V+VdFTvldBOBHDcvXEs+yQ0/doQ+ZoTioP6MzFk7R6xGbN316949durkglMfkFtZz/uIkovH3wPE3F/lT3ItmWkJsvVTUiNchG6kM/WW/X7Wj3TBQznqSMoxtLQ0tSZqo5J5vLe2G5v6FDVQekWBxlcaGhYZJOTfwQrIhieP7556uP796923z5TH8n1/9AKrnQd2NPn8K229f7R58SJ4eE9aryidhyIQe5dfm07nQiRFgGksAN7I3Fk6twykrR43GXoFpSR1KoIMq6xvWttPhEzBrlpU+UTjRxoTCiJbYgmKQlpDMQ4qcW9gUkLa8dY4TVA3M/fieEz37J2P++ylzcuezTJdxGP3zxPM0pRntQLUQFPLPKQFcPX58XuF6cHo2krfy81aQowEOcaoXhJMqo8g9qlwd4yg64EP53wbtqmc6O4FiOzxZkB+PgfsrSxqgUHPFXKxxocnkhphUmUqBF0OR1BJ1zRsyp0U9mQyk86MQP46889Us/18P2LGTQU9r8O9MvhZfqgyDEIO4T7XYvCBaNYFBP+WW/CU49GC3Cbn6lDzQWNN5p8licUHQ+CpQv5kWReTgiPYfRMwdBPgh6pjS8ETcvvkiTG/3C52Yr0uT5OWPu2+Jfxe2TH9o5j1o2/xmG15tH/Gv7yMqFbedXb+BHPvcWH6/eb8/Pz7cP35QMxGpz/xI2nd89/dD+doCFhYWFhYWFhYWFhYWFhYWFhYWFhYWFhYWFhYWFhYWFhYWFhYWFhYWFhYWFhYWFhYWFhYXFz+EfhF0NfXZrxHwAAAAASUVORK5CYII=" id="520" name="Google Shape;520;p5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4"/>
          <p:cNvSpPr txBox="1"/>
          <p:nvPr/>
        </p:nvSpPr>
        <p:spPr>
          <a:xfrm>
            <a:off x="460375" y="1384735"/>
            <a:ext cx="11151781" cy="71096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Azure DevOps account (</a:t>
            </a:r>
            <a:r>
              <a:rPr b="0" i="0" lang="en-US" sz="2400" u="none" cap="none" strike="noStrike">
                <a:solidFill>
                  <a:srgbClr val="FF0000"/>
                </a:solidFill>
                <a:latin typeface="Arial"/>
                <a:ea typeface="Arial"/>
                <a:cs typeface="Arial"/>
                <a:sym typeface="Arial"/>
              </a:rPr>
              <a:t>MUST</a:t>
            </a:r>
            <a:r>
              <a:rPr b="0" i="0" lang="en-US" sz="2400" u="none" cap="none" strike="noStrike">
                <a:solidFill>
                  <a:srgbClr val="000000"/>
                </a:solidFill>
                <a:latin typeface="Arial"/>
                <a:ea typeface="Arial"/>
                <a:cs typeface="Arial"/>
                <a:sym typeface="Arial"/>
              </a:rPr>
              <a:t>) (</a:t>
            </a:r>
            <a:r>
              <a:rPr b="0" i="0" lang="en-US" sz="2400" u="sng" cap="none" strike="noStrike">
                <a:solidFill>
                  <a:srgbClr val="000000"/>
                </a:solidFill>
                <a:latin typeface="Arial"/>
                <a:ea typeface="Arial"/>
                <a:cs typeface="Arial"/>
                <a:sym typeface="Arial"/>
                <a:hlinkClick r:id="rId3">
                  <a:extLst>
                    <a:ext uri="{A12FA001-AC4F-418D-AE19-62706E023703}">
                      <ahyp:hlinkClr val="tx"/>
                    </a:ext>
                  </a:extLst>
                </a:hlinkClick>
              </a:rPr>
              <a:t>https://azure.microsoft.com/en-in/services/devops/</a:t>
            </a:r>
            <a:r>
              <a:rPr b="0" i="0" lang="en-US" sz="2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Git (</a:t>
            </a:r>
            <a:r>
              <a:rPr b="0" i="0" lang="en-US" sz="2400" u="none" cap="none" strike="noStrike">
                <a:solidFill>
                  <a:schemeClr val="dk1"/>
                </a:solidFill>
                <a:latin typeface="Arial"/>
                <a:ea typeface="Arial"/>
                <a:cs typeface="Arial"/>
                <a:sym typeface="Arial"/>
              </a:rPr>
              <a:t>SHOULD</a:t>
            </a:r>
            <a:r>
              <a:rPr b="0" i="0" lang="en-US" sz="2400" u="none" cap="none" strike="noStrike">
                <a:solidFill>
                  <a:srgbClr val="000000"/>
                </a:solidFill>
                <a:latin typeface="Arial"/>
                <a:ea typeface="Arial"/>
                <a:cs typeface="Arial"/>
                <a:sym typeface="Arial"/>
              </a:rPr>
              <a:t>) (</a:t>
            </a:r>
            <a:r>
              <a:rPr b="0" i="0" lang="en-US" sz="2400" u="sng" cap="none" strike="noStrike">
                <a:solidFill>
                  <a:srgbClr val="000000"/>
                </a:solidFill>
                <a:latin typeface="Arial"/>
                <a:ea typeface="Arial"/>
                <a:cs typeface="Arial"/>
                <a:sym typeface="Arial"/>
                <a:hlinkClick r:id="rId4">
                  <a:extLst>
                    <a:ext uri="{A12FA001-AC4F-418D-AE19-62706E023703}">
                      <ahyp:hlinkClr val="tx"/>
                    </a:ext>
                  </a:extLst>
                </a:hlinkClick>
              </a:rPr>
              <a:t>https://git-scm.com/downloads</a:t>
            </a:r>
            <a:r>
              <a:rPr b="0" i="0" lang="en-US" sz="2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SonarCloud account (SHOULD) (</a:t>
            </a:r>
            <a:r>
              <a:rPr b="0" i="0" lang="en-US" sz="2400" u="sng" cap="none" strike="noStrike">
                <a:solidFill>
                  <a:srgbClr val="000000"/>
                </a:solidFill>
                <a:latin typeface="Arial"/>
                <a:ea typeface="Arial"/>
                <a:cs typeface="Arial"/>
                <a:sym typeface="Arial"/>
                <a:hlinkClick r:id="rId5">
                  <a:extLst>
                    <a:ext uri="{A12FA001-AC4F-418D-AE19-62706E023703}">
                      <ahyp:hlinkClr val="tx"/>
                    </a:ext>
                  </a:extLst>
                </a:hlinkClick>
              </a:rPr>
              <a:t>https://sonarcloud.io/</a:t>
            </a:r>
            <a:r>
              <a:rPr b="0" i="0" lang="en-US" sz="2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.Net core (2.1+) (SHOULD) (</a:t>
            </a:r>
            <a:r>
              <a:rPr b="0" i="0" lang="en-US" sz="2400" u="sng" cap="none" strike="noStrike">
                <a:solidFill>
                  <a:srgbClr val="000000"/>
                </a:solidFill>
                <a:latin typeface="Arial"/>
                <a:ea typeface="Arial"/>
                <a:cs typeface="Arial"/>
                <a:sym typeface="Arial"/>
                <a:hlinkClick r:id="rId6">
                  <a:extLst>
                    <a:ext uri="{A12FA001-AC4F-418D-AE19-62706E023703}">
                      <ahyp:hlinkClr val="tx"/>
                    </a:ext>
                  </a:extLst>
                </a:hlinkClick>
              </a:rPr>
              <a:t>https://dotnet.microsoft.com/download/dotnet-core/2.1</a:t>
            </a: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Sourcetree git tool (SHOULD) (</a:t>
            </a:r>
            <a:r>
              <a:rPr b="0" i="0" lang="en-US" sz="2400" u="sng" cap="none" strike="noStrike">
                <a:solidFill>
                  <a:srgbClr val="000000"/>
                </a:solidFill>
                <a:latin typeface="Arial"/>
                <a:ea typeface="Arial"/>
                <a:cs typeface="Arial"/>
                <a:sym typeface="Arial"/>
                <a:hlinkClick r:id="rId7">
                  <a:extLst>
                    <a:ext uri="{A12FA001-AC4F-418D-AE19-62706E023703}">
                      <ahyp:hlinkClr val="tx"/>
                    </a:ext>
                  </a:extLst>
                </a:hlinkClick>
              </a:rPr>
              <a:t>https://www.sourcetreeapp.com/</a:t>
            </a: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Visual Studio 2019/2018 Community / Visual Studio Code (SHOULD) (</a:t>
            </a:r>
            <a:r>
              <a:rPr b="0" i="0" lang="en-US" sz="2400" u="sng" cap="none" strike="noStrike">
                <a:solidFill>
                  <a:srgbClr val="000000"/>
                </a:solidFill>
                <a:latin typeface="Arial"/>
                <a:ea typeface="Arial"/>
                <a:cs typeface="Arial"/>
                <a:sym typeface="Arial"/>
                <a:hlinkClick r:id="rId8">
                  <a:extLst>
                    <a:ext uri="{A12FA001-AC4F-418D-AE19-62706E023703}">
                      <ahyp:hlinkClr val="tx"/>
                    </a:ext>
                  </a:extLst>
                </a:hlinkClick>
              </a:rPr>
              <a:t>https://visualstudio.microsoft.com/downloads/</a:t>
            </a: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5"/>
          <p:cNvSpPr txBox="1"/>
          <p:nvPr>
            <p:ph type="title"/>
          </p:nvPr>
        </p:nvSpPr>
        <p:spPr>
          <a:xfrm>
            <a:off x="838200" y="365125"/>
            <a:ext cx="10515600" cy="10369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SonarCloud account</a:t>
            </a:r>
            <a:endParaRPr/>
          </a:p>
        </p:txBody>
      </p:sp>
      <p:sp>
        <p:nvSpPr>
          <p:cNvPr id="527" name="Google Shape;527;p55"/>
          <p:cNvSpPr txBox="1"/>
          <p:nvPr>
            <p:ph idx="1" type="body"/>
          </p:nvPr>
        </p:nvSpPr>
        <p:spPr>
          <a:xfrm>
            <a:off x="754063" y="18891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Access </a:t>
            </a:r>
            <a:r>
              <a:rPr lang="en-US" u="sng">
                <a:solidFill>
                  <a:schemeClr val="hlink"/>
                </a:solidFill>
                <a:hlinkClick r:id="rId3"/>
              </a:rPr>
              <a:t>https://sonarcloud.io/sessions/new</a:t>
            </a:r>
            <a:endParaRPr/>
          </a:p>
          <a:p>
            <a:pPr indent="-342900" lvl="0" marL="457200" rtl="0" algn="l">
              <a:lnSpc>
                <a:spcPct val="90000"/>
              </a:lnSpc>
              <a:spcBef>
                <a:spcPts val="1000"/>
              </a:spcBef>
              <a:spcAft>
                <a:spcPts val="0"/>
              </a:spcAft>
              <a:buClr>
                <a:schemeClr val="dk1"/>
              </a:buClr>
              <a:buSzPts val="1800"/>
              <a:buChar char="•"/>
            </a:pPr>
            <a:r>
              <a:rPr lang="en-US"/>
              <a:t>Login with Microsoft account</a:t>
            </a:r>
            <a:br>
              <a:rPr lang="en-US"/>
            </a:br>
            <a:endParaRPr/>
          </a:p>
          <a:p>
            <a:pPr indent="-228600" lvl="0" marL="457200" rtl="0" algn="l">
              <a:lnSpc>
                <a:spcPct val="90000"/>
              </a:lnSpc>
              <a:spcBef>
                <a:spcPts val="1000"/>
              </a:spcBef>
              <a:spcAft>
                <a:spcPts val="0"/>
              </a:spcAft>
              <a:buClr>
                <a:schemeClr val="dk1"/>
              </a:buClr>
              <a:buSzPts val="1800"/>
              <a:buNone/>
            </a:pPr>
            <a:r>
              <a:t/>
            </a:r>
            <a:endParaRPr/>
          </a:p>
        </p:txBody>
      </p:sp>
      <p:pic>
        <p:nvPicPr>
          <p:cNvPr id="528" name="Google Shape;528;p55"/>
          <p:cNvPicPr preferRelativeResize="0"/>
          <p:nvPr/>
        </p:nvPicPr>
        <p:blipFill rotWithShape="1">
          <a:blip r:embed="rId4">
            <a:alphaModFix/>
          </a:blip>
          <a:srcRect b="0" l="0" r="0" t="0"/>
          <a:stretch/>
        </p:blipFill>
        <p:spPr>
          <a:xfrm>
            <a:off x="792162" y="3243260"/>
            <a:ext cx="2428875" cy="3038475"/>
          </a:xfrm>
          <a:prstGeom prst="rect">
            <a:avLst/>
          </a:prstGeom>
          <a:noFill/>
          <a:ln>
            <a:noFill/>
          </a:ln>
        </p:spPr>
      </p:pic>
      <p:pic>
        <p:nvPicPr>
          <p:cNvPr id="529" name="Google Shape;529;p55"/>
          <p:cNvPicPr preferRelativeResize="0"/>
          <p:nvPr/>
        </p:nvPicPr>
        <p:blipFill rotWithShape="1">
          <a:blip r:embed="rId5">
            <a:alphaModFix/>
          </a:blip>
          <a:srcRect b="0" l="0" r="0" t="0"/>
          <a:stretch/>
        </p:blipFill>
        <p:spPr>
          <a:xfrm>
            <a:off x="3685551" y="3139126"/>
            <a:ext cx="3929687" cy="3226747"/>
          </a:xfrm>
          <a:prstGeom prst="rect">
            <a:avLst/>
          </a:prstGeom>
          <a:noFill/>
          <a:ln>
            <a:noFill/>
          </a:ln>
        </p:spPr>
      </p:pic>
      <p:pic>
        <p:nvPicPr>
          <p:cNvPr id="530" name="Google Shape;530;p55"/>
          <p:cNvPicPr preferRelativeResize="0"/>
          <p:nvPr/>
        </p:nvPicPr>
        <p:blipFill rotWithShape="1">
          <a:blip r:embed="rId6">
            <a:alphaModFix/>
          </a:blip>
          <a:srcRect b="0" l="0" r="0" t="0"/>
          <a:stretch/>
        </p:blipFill>
        <p:spPr>
          <a:xfrm>
            <a:off x="8079752" y="2156349"/>
            <a:ext cx="3657143" cy="42095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6"/>
          <p:cNvSpPr txBox="1"/>
          <p:nvPr>
            <p:ph type="title"/>
          </p:nvPr>
        </p:nvSpPr>
        <p:spPr>
          <a:xfrm>
            <a:off x="838200" y="365125"/>
            <a:ext cx="10515600" cy="10369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Generate SonarCloud user token</a:t>
            </a:r>
            <a:endParaRPr/>
          </a:p>
        </p:txBody>
      </p:sp>
      <p:pic>
        <p:nvPicPr>
          <p:cNvPr id="536" name="Google Shape;536;p56"/>
          <p:cNvPicPr preferRelativeResize="0"/>
          <p:nvPr/>
        </p:nvPicPr>
        <p:blipFill rotWithShape="1">
          <a:blip r:embed="rId3">
            <a:alphaModFix/>
          </a:blip>
          <a:srcRect b="0" l="0" r="0" t="0"/>
          <a:stretch/>
        </p:blipFill>
        <p:spPr>
          <a:xfrm>
            <a:off x="5872162" y="1597025"/>
            <a:ext cx="5481637" cy="4037694"/>
          </a:xfrm>
          <a:prstGeom prst="rect">
            <a:avLst/>
          </a:prstGeom>
          <a:noFill/>
          <a:ln>
            <a:noFill/>
          </a:ln>
        </p:spPr>
      </p:pic>
      <p:sp>
        <p:nvSpPr>
          <p:cNvPr id="537" name="Google Shape;537;p56"/>
          <p:cNvSpPr txBox="1"/>
          <p:nvPr/>
        </p:nvSpPr>
        <p:spPr>
          <a:xfrm>
            <a:off x="838200" y="5716587"/>
            <a:ext cx="10515600" cy="77311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2800"/>
              <a:buFont typeface="Arial"/>
              <a:buChar char="•"/>
            </a:pPr>
            <a:r>
              <a:rPr b="0" i="0" lang="en-US" sz="2800" u="none" cap="none" strike="noStrike">
                <a:solidFill>
                  <a:schemeClr val="dk1"/>
                </a:solidFill>
                <a:latin typeface="Arial"/>
                <a:ea typeface="Arial"/>
                <a:cs typeface="Arial"/>
                <a:sym typeface="Arial"/>
              </a:rPr>
              <a:t>Go to </a:t>
            </a:r>
            <a:r>
              <a:rPr b="1" i="0" lang="en-US" sz="2800" u="none" cap="none" strike="noStrike">
                <a:solidFill>
                  <a:schemeClr val="dk1"/>
                </a:solidFill>
                <a:latin typeface="Arial"/>
                <a:ea typeface="Arial"/>
                <a:cs typeface="Arial"/>
                <a:sym typeface="Arial"/>
              </a:rPr>
              <a:t>My Account</a:t>
            </a:r>
            <a:r>
              <a:rPr b="0" i="0" lang="en-US" sz="2800" u="none" cap="none" strike="noStrike">
                <a:solidFill>
                  <a:schemeClr val="dk1"/>
                </a:solidFill>
                <a:latin typeface="Arial"/>
                <a:ea typeface="Arial"/>
                <a:cs typeface="Arial"/>
                <a:sym typeface="Arial"/>
              </a:rPr>
              <a:t> then </a:t>
            </a:r>
            <a:r>
              <a:rPr b="1" i="0" lang="en-US" sz="2800" u="none" cap="none" strike="noStrike">
                <a:solidFill>
                  <a:schemeClr val="dk1"/>
                </a:solidFill>
                <a:latin typeface="Arial"/>
                <a:ea typeface="Arial"/>
                <a:cs typeface="Arial"/>
                <a:sym typeface="Arial"/>
              </a:rPr>
              <a:t>Security</a:t>
            </a:r>
            <a:r>
              <a:rPr b="0" i="0" lang="en-US" sz="2800" u="none" cap="none" strike="noStrike">
                <a:solidFill>
                  <a:schemeClr val="dk1"/>
                </a:solidFill>
                <a:latin typeface="Arial"/>
                <a:ea typeface="Arial"/>
                <a:cs typeface="Arial"/>
                <a:sym typeface="Arial"/>
              </a:rPr>
              <a:t> to generate user token</a:t>
            </a:r>
            <a:endParaRPr/>
          </a:p>
          <a:p>
            <a:pPr indent="-50800" lvl="0" marL="228600" marR="0" rtl="0" algn="l">
              <a:lnSpc>
                <a:spcPct val="90000"/>
              </a:lnSpc>
              <a:spcBef>
                <a:spcPts val="100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id="538" name="Google Shape;538;p56"/>
          <p:cNvPicPr preferRelativeResize="0"/>
          <p:nvPr/>
        </p:nvPicPr>
        <p:blipFill rotWithShape="1">
          <a:blip r:embed="rId4">
            <a:alphaModFix/>
          </a:blip>
          <a:srcRect b="0" l="0" r="0" t="0"/>
          <a:stretch/>
        </p:blipFill>
        <p:spPr>
          <a:xfrm>
            <a:off x="838200" y="1787007"/>
            <a:ext cx="4733333" cy="21904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7"/>
          <p:cNvSpPr txBox="1"/>
          <p:nvPr>
            <p:ph type="title"/>
          </p:nvPr>
        </p:nvSpPr>
        <p:spPr>
          <a:xfrm>
            <a:off x="838200" y="365125"/>
            <a:ext cx="10515600" cy="10369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Generate SonarCloud user token</a:t>
            </a:r>
            <a:endParaRPr/>
          </a:p>
        </p:txBody>
      </p:sp>
      <p:pic>
        <p:nvPicPr>
          <p:cNvPr id="544" name="Google Shape;544;p57"/>
          <p:cNvPicPr preferRelativeResize="0"/>
          <p:nvPr>
            <p:ph idx="1" type="body"/>
          </p:nvPr>
        </p:nvPicPr>
        <p:blipFill rotWithShape="1">
          <a:blip r:embed="rId3">
            <a:alphaModFix/>
          </a:blip>
          <a:srcRect b="0" l="0" r="0" t="0"/>
          <a:stretch/>
        </p:blipFill>
        <p:spPr>
          <a:xfrm>
            <a:off x="3253143" y="1345665"/>
            <a:ext cx="5685714" cy="4142857"/>
          </a:xfrm>
          <a:prstGeom prst="rect">
            <a:avLst/>
          </a:prstGeom>
          <a:noFill/>
          <a:ln>
            <a:noFill/>
          </a:ln>
        </p:spPr>
      </p:pic>
      <p:sp>
        <p:nvSpPr>
          <p:cNvPr id="545" name="Google Shape;545;p57"/>
          <p:cNvSpPr txBox="1"/>
          <p:nvPr/>
        </p:nvSpPr>
        <p:spPr>
          <a:xfrm>
            <a:off x="838200" y="5602287"/>
            <a:ext cx="10515600" cy="77311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70000"/>
              </a:lnSpc>
              <a:spcBef>
                <a:spcPts val="0"/>
              </a:spcBef>
              <a:spcAft>
                <a:spcPts val="0"/>
              </a:spcAft>
              <a:buClr>
                <a:srgbClr val="000000"/>
              </a:buClr>
              <a:buSzPts val="2380"/>
              <a:buFont typeface="Arial"/>
              <a:buChar char="•"/>
            </a:pPr>
            <a:r>
              <a:rPr b="0" i="0" lang="en-US" sz="2380" u="none" cap="none" strike="noStrike">
                <a:solidFill>
                  <a:schemeClr val="dk1"/>
                </a:solidFill>
                <a:latin typeface="Arial"/>
                <a:ea typeface="Arial"/>
                <a:cs typeface="Arial"/>
                <a:sym typeface="Arial"/>
              </a:rPr>
              <a:t>Copy this token and store it some where</a:t>
            </a:r>
            <a:endParaRPr/>
          </a:p>
          <a:p>
            <a:pPr indent="-228600" lvl="0" marL="228600" marR="0" rtl="0" algn="l">
              <a:lnSpc>
                <a:spcPct val="70000"/>
              </a:lnSpc>
              <a:spcBef>
                <a:spcPts val="1000"/>
              </a:spcBef>
              <a:spcAft>
                <a:spcPts val="0"/>
              </a:spcAft>
              <a:buClr>
                <a:srgbClr val="000000"/>
              </a:buClr>
              <a:buSzPts val="2380"/>
              <a:buFont typeface="Arial"/>
              <a:buChar char="•"/>
            </a:pPr>
            <a:r>
              <a:rPr b="0" i="0" lang="en-US" sz="2380" u="none" cap="none" strike="noStrike">
                <a:solidFill>
                  <a:schemeClr val="dk1"/>
                </a:solidFill>
                <a:latin typeface="Arial"/>
                <a:ea typeface="Arial"/>
                <a:cs typeface="Arial"/>
                <a:sym typeface="Arial"/>
              </a:rPr>
              <a:t>Azure Pipeline will use this token to connect to SonarCloud later</a:t>
            </a:r>
            <a:endParaRPr/>
          </a:p>
          <a:p>
            <a:pPr indent="-77470" lvl="0" marL="228600" marR="0" rtl="0" algn="l">
              <a:lnSpc>
                <a:spcPct val="70000"/>
              </a:lnSpc>
              <a:spcBef>
                <a:spcPts val="1000"/>
              </a:spcBef>
              <a:spcAft>
                <a:spcPts val="0"/>
              </a:spcAft>
              <a:buClr>
                <a:srgbClr val="000000"/>
              </a:buClr>
              <a:buSzPts val="2380"/>
              <a:buFont typeface="Arial"/>
              <a:buNone/>
            </a:pPr>
            <a:r>
              <a:t/>
            </a:r>
            <a:endParaRPr b="0" i="0" sz="238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8"/>
          <p:cNvSpPr txBox="1"/>
          <p:nvPr>
            <p:ph type="title"/>
          </p:nvPr>
        </p:nvSpPr>
        <p:spPr>
          <a:xfrm>
            <a:off x="838200" y="365125"/>
            <a:ext cx="10515600" cy="10369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SonarCloud Organizations</a:t>
            </a:r>
            <a:endParaRPr/>
          </a:p>
        </p:txBody>
      </p:sp>
      <p:sp>
        <p:nvSpPr>
          <p:cNvPr id="551" name="Google Shape;551;p58"/>
          <p:cNvSpPr txBox="1"/>
          <p:nvPr/>
        </p:nvSpPr>
        <p:spPr>
          <a:xfrm>
            <a:off x="533400" y="5063178"/>
            <a:ext cx="6560304" cy="77311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70000"/>
              </a:lnSpc>
              <a:spcBef>
                <a:spcPts val="0"/>
              </a:spcBef>
              <a:spcAft>
                <a:spcPts val="0"/>
              </a:spcAft>
              <a:buClr>
                <a:srgbClr val="000000"/>
              </a:buClr>
              <a:buSzPts val="1750"/>
              <a:buFont typeface="Arial"/>
              <a:buChar char="•"/>
            </a:pPr>
            <a:r>
              <a:rPr b="0" i="0" lang="en-US" sz="1750" u="none" cap="none" strike="noStrike">
                <a:solidFill>
                  <a:schemeClr val="dk1"/>
                </a:solidFill>
                <a:latin typeface="Arial"/>
                <a:ea typeface="Arial"/>
                <a:cs typeface="Arial"/>
                <a:sym typeface="Arial"/>
              </a:rPr>
              <a:t>Remember your organization’s name</a:t>
            </a:r>
            <a:endParaRPr/>
          </a:p>
          <a:p>
            <a:pPr indent="-228600" lvl="0" marL="228600" marR="0" rtl="0" algn="l">
              <a:lnSpc>
                <a:spcPct val="70000"/>
              </a:lnSpc>
              <a:spcBef>
                <a:spcPts val="1000"/>
              </a:spcBef>
              <a:spcAft>
                <a:spcPts val="0"/>
              </a:spcAft>
              <a:buClr>
                <a:srgbClr val="000000"/>
              </a:buClr>
              <a:buSzPts val="1750"/>
              <a:buFont typeface="Arial"/>
              <a:buChar char="•"/>
            </a:pPr>
            <a:r>
              <a:rPr b="0" i="0" lang="en-US" sz="1750" u="none" cap="none" strike="noStrike">
                <a:solidFill>
                  <a:schemeClr val="dk1"/>
                </a:solidFill>
                <a:latin typeface="Arial"/>
                <a:ea typeface="Arial"/>
                <a:cs typeface="Arial"/>
                <a:sym typeface="Arial"/>
              </a:rPr>
              <a:t>Azure Pipeline will use this to connect to SonarCloud later</a:t>
            </a:r>
            <a:endParaRPr/>
          </a:p>
          <a:p>
            <a:pPr indent="-117475" lvl="0" marL="228600" marR="0" rtl="0" algn="l">
              <a:lnSpc>
                <a:spcPct val="70000"/>
              </a:lnSpc>
              <a:spcBef>
                <a:spcPts val="1000"/>
              </a:spcBef>
              <a:spcAft>
                <a:spcPts val="0"/>
              </a:spcAft>
              <a:buClr>
                <a:srgbClr val="000000"/>
              </a:buClr>
              <a:buSzPts val="1750"/>
              <a:buFont typeface="Arial"/>
              <a:buNone/>
            </a:pPr>
            <a:r>
              <a:t/>
            </a:r>
            <a:endParaRPr b="0" i="0" sz="1750" u="none" cap="none" strike="noStrike">
              <a:solidFill>
                <a:schemeClr val="dk1"/>
              </a:solidFill>
              <a:latin typeface="Arial"/>
              <a:ea typeface="Arial"/>
              <a:cs typeface="Arial"/>
              <a:sym typeface="Arial"/>
            </a:endParaRPr>
          </a:p>
        </p:txBody>
      </p:sp>
      <p:pic>
        <p:nvPicPr>
          <p:cNvPr descr="C:\Users\User\AppData\Local\Temp\SNAGHTML10cfb40.PNG" id="552" name="Google Shape;552;p58"/>
          <p:cNvPicPr preferRelativeResize="0"/>
          <p:nvPr/>
        </p:nvPicPr>
        <p:blipFill rotWithShape="1">
          <a:blip r:embed="rId3">
            <a:alphaModFix/>
          </a:blip>
          <a:srcRect b="0" l="0" r="0" t="0"/>
          <a:stretch/>
        </p:blipFill>
        <p:spPr>
          <a:xfrm>
            <a:off x="1333501" y="1649720"/>
            <a:ext cx="4749800" cy="1762736"/>
          </a:xfrm>
          <a:prstGeom prst="rect">
            <a:avLst/>
          </a:prstGeom>
          <a:noFill/>
          <a:ln>
            <a:noFill/>
          </a:ln>
        </p:spPr>
      </p:pic>
      <p:pic>
        <p:nvPicPr>
          <p:cNvPr id="553" name="Google Shape;553;p58"/>
          <p:cNvPicPr preferRelativeResize="0"/>
          <p:nvPr/>
        </p:nvPicPr>
        <p:blipFill rotWithShape="1">
          <a:blip r:embed="rId4">
            <a:alphaModFix/>
          </a:blip>
          <a:srcRect b="0" l="0" r="0" t="0"/>
          <a:stretch/>
        </p:blipFill>
        <p:spPr>
          <a:xfrm>
            <a:off x="7110531" y="1159822"/>
            <a:ext cx="4554420" cy="2624444"/>
          </a:xfrm>
          <a:prstGeom prst="rect">
            <a:avLst/>
          </a:prstGeom>
          <a:noFill/>
          <a:ln>
            <a:noFill/>
          </a:ln>
        </p:spPr>
      </p:pic>
      <p:pic>
        <p:nvPicPr>
          <p:cNvPr id="554" name="Google Shape;554;p58"/>
          <p:cNvPicPr preferRelativeResize="0"/>
          <p:nvPr/>
        </p:nvPicPr>
        <p:blipFill rotWithShape="1">
          <a:blip r:embed="rId5">
            <a:alphaModFix/>
          </a:blip>
          <a:srcRect b="0" l="0" r="0" t="0"/>
          <a:stretch/>
        </p:blipFill>
        <p:spPr>
          <a:xfrm>
            <a:off x="7339131" y="3784266"/>
            <a:ext cx="3872747" cy="262444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11"/>
          <p:cNvSpPr txBox="1"/>
          <p:nvPr>
            <p:ph type="title"/>
          </p:nvPr>
        </p:nvSpPr>
        <p:spPr>
          <a:xfrm>
            <a:off x="838200" y="365125"/>
            <a:ext cx="10515600" cy="10369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Azure DevOps account</a:t>
            </a:r>
            <a:endParaRPr/>
          </a:p>
        </p:txBody>
      </p:sp>
      <p:sp>
        <p:nvSpPr>
          <p:cNvPr id="560" name="Google Shape;560;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Access </a:t>
            </a:r>
            <a:r>
              <a:rPr lang="en-US" u="sng">
                <a:solidFill>
                  <a:schemeClr val="hlink"/>
                </a:solidFill>
                <a:hlinkClick r:id="rId3"/>
              </a:rPr>
              <a:t>https://dev.azure.com</a:t>
            </a:r>
            <a:endParaRPr/>
          </a:p>
          <a:p>
            <a:pPr indent="-342900" lvl="0" marL="457200" rtl="0" algn="l">
              <a:lnSpc>
                <a:spcPct val="90000"/>
              </a:lnSpc>
              <a:spcBef>
                <a:spcPts val="1000"/>
              </a:spcBef>
              <a:spcAft>
                <a:spcPts val="0"/>
              </a:spcAft>
              <a:buClr>
                <a:schemeClr val="dk1"/>
              </a:buClr>
              <a:buSzPts val="1800"/>
              <a:buChar char="•"/>
            </a:pPr>
            <a:r>
              <a:rPr lang="en-US"/>
              <a:t>Sign in with Microsoft account</a:t>
            </a:r>
            <a:endParaRPr/>
          </a:p>
          <a:p>
            <a:pPr indent="-228600" lvl="0" marL="457200" rtl="0" algn="l">
              <a:lnSpc>
                <a:spcPct val="90000"/>
              </a:lnSpc>
              <a:spcBef>
                <a:spcPts val="1000"/>
              </a:spcBef>
              <a:spcAft>
                <a:spcPts val="0"/>
              </a:spcAft>
              <a:buClr>
                <a:schemeClr val="dk1"/>
              </a:buClr>
              <a:buSzPts val="1800"/>
              <a:buNone/>
            </a:pPr>
            <a:r>
              <a:t/>
            </a:r>
            <a:endParaRPr/>
          </a:p>
        </p:txBody>
      </p:sp>
      <p:pic>
        <p:nvPicPr>
          <p:cNvPr id="561" name="Google Shape;561;p11"/>
          <p:cNvPicPr preferRelativeResize="0"/>
          <p:nvPr/>
        </p:nvPicPr>
        <p:blipFill rotWithShape="1">
          <a:blip r:embed="rId4">
            <a:alphaModFix/>
          </a:blip>
          <a:srcRect b="0" l="0" r="0" t="0"/>
          <a:stretch/>
        </p:blipFill>
        <p:spPr>
          <a:xfrm>
            <a:off x="1034257" y="3275106"/>
            <a:ext cx="6077744" cy="2084294"/>
          </a:xfrm>
          <a:prstGeom prst="rect">
            <a:avLst/>
          </a:prstGeom>
          <a:noFill/>
          <a:ln>
            <a:noFill/>
          </a:ln>
        </p:spPr>
      </p:pic>
      <p:pic>
        <p:nvPicPr>
          <p:cNvPr id="562" name="Google Shape;562;p11"/>
          <p:cNvPicPr preferRelativeResize="0"/>
          <p:nvPr/>
        </p:nvPicPr>
        <p:blipFill rotWithShape="1">
          <a:blip r:embed="rId5">
            <a:alphaModFix/>
          </a:blip>
          <a:srcRect b="0" l="0" r="0" t="0"/>
          <a:stretch/>
        </p:blipFill>
        <p:spPr>
          <a:xfrm>
            <a:off x="7308058" y="2207019"/>
            <a:ext cx="4171429" cy="315238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pic>
        <p:nvPicPr>
          <p:cNvPr id="567" name="Google Shape;567;p59"/>
          <p:cNvPicPr preferRelativeResize="0"/>
          <p:nvPr/>
        </p:nvPicPr>
        <p:blipFill rotWithShape="1">
          <a:blip r:embed="rId3">
            <a:alphaModFix/>
          </a:blip>
          <a:srcRect b="0" l="0" r="0" t="0"/>
          <a:stretch/>
        </p:blipFill>
        <p:spPr>
          <a:xfrm>
            <a:off x="1676952" y="837270"/>
            <a:ext cx="8838095" cy="5695238"/>
          </a:xfrm>
          <a:prstGeom prst="rect">
            <a:avLst/>
          </a:prstGeom>
          <a:noFill/>
          <a:ln>
            <a:noFill/>
          </a:ln>
        </p:spPr>
      </p:pic>
      <p:sp>
        <p:nvSpPr>
          <p:cNvPr id="568" name="Google Shape;568;p59"/>
          <p:cNvSpPr txBox="1"/>
          <p:nvPr>
            <p:ph type="title"/>
          </p:nvPr>
        </p:nvSpPr>
        <p:spPr>
          <a:xfrm>
            <a:off x="4258457" y="0"/>
            <a:ext cx="3932237"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Create project</a:t>
            </a:r>
            <a:endParaRPr/>
          </a:p>
        </p:txBody>
      </p:sp>
      <p:sp>
        <p:nvSpPr>
          <p:cNvPr id="569" name="Google Shape;569;p59"/>
          <p:cNvSpPr/>
          <p:nvPr/>
        </p:nvSpPr>
        <p:spPr>
          <a:xfrm>
            <a:off x="1722473" y="5878031"/>
            <a:ext cx="1444255" cy="274675"/>
          </a:xfrm>
          <a:prstGeom prst="rect">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0" name="Google Shape;570;p59"/>
          <p:cNvSpPr/>
          <p:nvPr/>
        </p:nvSpPr>
        <p:spPr>
          <a:xfrm>
            <a:off x="8405478" y="1077874"/>
            <a:ext cx="496186" cy="451883"/>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2</a:t>
            </a:r>
            <a:endParaRPr/>
          </a:p>
        </p:txBody>
      </p:sp>
      <p:sp>
        <p:nvSpPr>
          <p:cNvPr id="571" name="Google Shape;571;p59"/>
          <p:cNvSpPr/>
          <p:nvPr/>
        </p:nvSpPr>
        <p:spPr>
          <a:xfrm>
            <a:off x="1184199" y="5703036"/>
            <a:ext cx="496186" cy="451883"/>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1</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60"/>
          <p:cNvSpPr txBox="1"/>
          <p:nvPr>
            <p:ph type="title"/>
          </p:nvPr>
        </p:nvSpPr>
        <p:spPr>
          <a:xfrm>
            <a:off x="4129881" y="193675"/>
            <a:ext cx="3932237"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Create project</a:t>
            </a:r>
            <a:endParaRPr/>
          </a:p>
        </p:txBody>
      </p:sp>
      <p:pic>
        <p:nvPicPr>
          <p:cNvPr id="577" name="Google Shape;577;p60"/>
          <p:cNvPicPr preferRelativeResize="0"/>
          <p:nvPr>
            <p:ph idx="1" type="body"/>
          </p:nvPr>
        </p:nvPicPr>
        <p:blipFill rotWithShape="1">
          <a:blip r:embed="rId3">
            <a:alphaModFix/>
          </a:blip>
          <a:srcRect b="0" l="0" r="0" t="0"/>
          <a:stretch/>
        </p:blipFill>
        <p:spPr>
          <a:xfrm>
            <a:off x="2818924" y="1039050"/>
            <a:ext cx="6554149" cy="56252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1"/>
          <p:cNvSpPr txBox="1"/>
          <p:nvPr>
            <p:ph type="title"/>
          </p:nvPr>
        </p:nvSpPr>
        <p:spPr>
          <a:xfrm>
            <a:off x="3415897" y="244851"/>
            <a:ext cx="5790733"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Import sample repository</a:t>
            </a:r>
            <a:endParaRPr/>
          </a:p>
        </p:txBody>
      </p:sp>
      <p:pic>
        <p:nvPicPr>
          <p:cNvPr id="583" name="Google Shape;583;p61"/>
          <p:cNvPicPr preferRelativeResize="0"/>
          <p:nvPr>
            <p:ph idx="1" type="body"/>
          </p:nvPr>
        </p:nvPicPr>
        <p:blipFill rotWithShape="1">
          <a:blip r:embed="rId3">
            <a:alphaModFix/>
          </a:blip>
          <a:srcRect b="0" l="0" r="0" t="0"/>
          <a:stretch/>
        </p:blipFill>
        <p:spPr>
          <a:xfrm>
            <a:off x="2375610" y="1416137"/>
            <a:ext cx="7440779" cy="448372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2"/>
          <p:cNvSpPr txBox="1"/>
          <p:nvPr>
            <p:ph type="title"/>
          </p:nvPr>
        </p:nvSpPr>
        <p:spPr>
          <a:xfrm>
            <a:off x="4129881" y="193675"/>
            <a:ext cx="4845677"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Import sample repository</a:t>
            </a:r>
            <a:endParaRPr/>
          </a:p>
        </p:txBody>
      </p:sp>
      <p:pic>
        <p:nvPicPr>
          <p:cNvPr id="589" name="Google Shape;589;p62"/>
          <p:cNvPicPr preferRelativeResize="0"/>
          <p:nvPr>
            <p:ph idx="1" type="body"/>
          </p:nvPr>
        </p:nvPicPr>
        <p:blipFill rotWithShape="1">
          <a:blip r:embed="rId3">
            <a:alphaModFix/>
          </a:blip>
          <a:srcRect b="0" l="0" r="0" t="0"/>
          <a:stretch/>
        </p:blipFill>
        <p:spPr>
          <a:xfrm>
            <a:off x="2844549" y="948499"/>
            <a:ext cx="6645058" cy="4789406"/>
          </a:xfrm>
          <a:prstGeom prst="rect">
            <a:avLst/>
          </a:prstGeom>
          <a:noFill/>
          <a:ln>
            <a:noFill/>
          </a:ln>
        </p:spPr>
      </p:pic>
      <p:sp>
        <p:nvSpPr>
          <p:cNvPr id="590" name="Google Shape;590;p62"/>
          <p:cNvSpPr txBox="1"/>
          <p:nvPr/>
        </p:nvSpPr>
        <p:spPr>
          <a:xfrm>
            <a:off x="1019175" y="5863277"/>
            <a:ext cx="10551279" cy="77311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2000"/>
              <a:buFont typeface="Arial"/>
              <a:buChar char="•"/>
            </a:pPr>
            <a:r>
              <a:rPr b="0" i="0" lang="en-US" sz="2000" u="none" cap="none" strike="noStrike">
                <a:solidFill>
                  <a:schemeClr val="dk1"/>
                </a:solidFill>
                <a:latin typeface="Arial"/>
                <a:ea typeface="Arial"/>
                <a:cs typeface="Arial"/>
                <a:sym typeface="Arial"/>
              </a:rPr>
              <a:t>Clone URL: https://dinhnc0201@dev.azure.com/dinhnc0201/MyToDo/_git/MyToDo</a:t>
            </a:r>
            <a:endParaRPr b="0" i="0" sz="2000" u="none" cap="none" strike="noStrike">
              <a:solidFill>
                <a:schemeClr val="dk1"/>
              </a:solidFill>
              <a:latin typeface="Arial"/>
              <a:ea typeface="Arial"/>
              <a:cs typeface="Arial"/>
              <a:sym typeface="Arial"/>
            </a:endParaRPr>
          </a:p>
          <a:p>
            <a:pPr indent="-101600" lvl="0" marL="228600" marR="0" rtl="0" algn="l">
              <a:lnSpc>
                <a:spcPct val="90000"/>
              </a:lnSpc>
              <a:spcBef>
                <a:spcPts val="100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63"/>
          <p:cNvSpPr txBox="1"/>
          <p:nvPr>
            <p:ph type="title"/>
          </p:nvPr>
        </p:nvSpPr>
        <p:spPr>
          <a:xfrm>
            <a:off x="4129881" y="193675"/>
            <a:ext cx="5459287"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Import sample repository</a:t>
            </a:r>
            <a:endParaRPr/>
          </a:p>
        </p:txBody>
      </p:sp>
      <p:pic>
        <p:nvPicPr>
          <p:cNvPr id="596" name="Google Shape;596;p63"/>
          <p:cNvPicPr preferRelativeResize="0"/>
          <p:nvPr/>
        </p:nvPicPr>
        <p:blipFill rotWithShape="1">
          <a:blip r:embed="rId3">
            <a:alphaModFix/>
          </a:blip>
          <a:srcRect b="0" l="0" r="0" t="0"/>
          <a:stretch/>
        </p:blipFill>
        <p:spPr>
          <a:xfrm>
            <a:off x="947738" y="1090569"/>
            <a:ext cx="10294937" cy="5029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64"/>
          <p:cNvSpPr txBox="1"/>
          <p:nvPr>
            <p:ph type="title"/>
          </p:nvPr>
        </p:nvSpPr>
        <p:spPr>
          <a:xfrm>
            <a:off x="2530259" y="193675"/>
            <a:ext cx="7678454"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Change default branch</a:t>
            </a:r>
            <a:endParaRPr/>
          </a:p>
        </p:txBody>
      </p:sp>
      <p:pic>
        <p:nvPicPr>
          <p:cNvPr id="602" name="Google Shape;602;p64"/>
          <p:cNvPicPr preferRelativeResize="0"/>
          <p:nvPr>
            <p:ph idx="1" type="body"/>
          </p:nvPr>
        </p:nvPicPr>
        <p:blipFill rotWithShape="1">
          <a:blip r:embed="rId3">
            <a:alphaModFix/>
          </a:blip>
          <a:srcRect b="0" l="0" r="0" t="0"/>
          <a:stretch/>
        </p:blipFill>
        <p:spPr>
          <a:xfrm>
            <a:off x="2036357" y="1171688"/>
            <a:ext cx="8119286" cy="50157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5"/>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8" name="Google Shape;608;p65"/>
          <p:cNvSpPr/>
          <p:nvPr/>
        </p:nvSpPr>
        <p:spPr>
          <a:xfrm>
            <a:off x="6650285" y="0"/>
            <a:ext cx="5541715" cy="6857999"/>
          </a:xfrm>
          <a:prstGeom prst="rect">
            <a:avLst/>
          </a:prstGeom>
          <a:solidFill>
            <a:srgbClr val="FFFFFF"/>
          </a:solidFill>
          <a:ln>
            <a:noFill/>
          </a:ln>
        </p:spPr>
        <p:txBody>
          <a:bodyPr anchorCtr="0" anchor="t" bIns="146300" lIns="182875" spcFirstLastPara="1" rIns="182875" wrap="square" tIns="14630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rgbClr val="FFFFFF"/>
              </a:solidFill>
              <a:latin typeface="Quattrocento Sans"/>
              <a:ea typeface="Quattrocento Sans"/>
              <a:cs typeface="Quattrocento Sans"/>
              <a:sym typeface="Quattrocento Sans"/>
            </a:endParaRPr>
          </a:p>
        </p:txBody>
      </p:sp>
      <p:sp>
        <p:nvSpPr>
          <p:cNvPr id="609" name="Google Shape;609;p65"/>
          <p:cNvSpPr txBox="1"/>
          <p:nvPr/>
        </p:nvSpPr>
        <p:spPr>
          <a:xfrm>
            <a:off x="312344" y="2671868"/>
            <a:ext cx="3637487" cy="1514261"/>
          </a:xfrm>
          <a:prstGeom prst="rect">
            <a:avLst/>
          </a:prstGeom>
          <a:noFill/>
          <a:ln>
            <a:noFill/>
          </a:ln>
        </p:spPr>
        <p:txBody>
          <a:bodyPr anchorCtr="0" anchor="t" bIns="91425" lIns="146300" spcFirstLastPara="1" rIns="146300" wrap="square" tIns="91425">
            <a:spAutoFit/>
          </a:bodyPr>
          <a:lstStyle/>
          <a:p>
            <a:pPr indent="0" lvl="0" marL="0" marR="0" rtl="0" algn="l">
              <a:lnSpc>
                <a:spcPct val="90000"/>
              </a:lnSpc>
              <a:spcBef>
                <a:spcPts val="0"/>
              </a:spcBef>
              <a:spcAft>
                <a:spcPts val="0"/>
              </a:spcAft>
              <a:buClr>
                <a:srgbClr val="000000"/>
              </a:buClr>
              <a:buSzPts val="4800"/>
              <a:buFont typeface="Arial"/>
              <a:buNone/>
            </a:pPr>
            <a:r>
              <a:rPr b="0" i="0" lang="en-US" sz="4800" u="none" cap="none" strike="noStrike">
                <a:solidFill>
                  <a:srgbClr val="FFFFFF"/>
                </a:solidFill>
                <a:latin typeface="Quattrocento Sans"/>
                <a:ea typeface="Quattrocento Sans"/>
                <a:cs typeface="Quattrocento Sans"/>
                <a:sym typeface="Quattrocento Sans"/>
              </a:rPr>
              <a:t>Build Pipeline Configuration</a:t>
            </a:r>
            <a:endParaRPr b="0" i="0" sz="4800" u="none" cap="none" strike="noStrike">
              <a:solidFill>
                <a:srgbClr val="FFFFFF"/>
              </a:solidFill>
              <a:latin typeface="Quattrocento Sans"/>
              <a:ea typeface="Quattrocento Sans"/>
              <a:cs typeface="Quattrocento Sans"/>
              <a:sym typeface="Quattrocento Sans"/>
            </a:endParaRPr>
          </a:p>
        </p:txBody>
      </p:sp>
      <p:pic>
        <p:nvPicPr>
          <p:cNvPr id="610" name="Google Shape;610;p65"/>
          <p:cNvPicPr preferRelativeResize="0"/>
          <p:nvPr/>
        </p:nvPicPr>
        <p:blipFill rotWithShape="1">
          <a:blip r:embed="rId3">
            <a:alphaModFix/>
          </a:blip>
          <a:srcRect b="21406" l="2210" r="4124" t="12679"/>
          <a:stretch/>
        </p:blipFill>
        <p:spPr>
          <a:xfrm>
            <a:off x="5910846" y="2641049"/>
            <a:ext cx="5158818" cy="199777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
          <p:cNvSpPr txBox="1"/>
          <p:nvPr>
            <p:ph type="title"/>
          </p:nvPr>
        </p:nvSpPr>
        <p:spPr>
          <a:xfrm>
            <a:off x="839788" y="2184400"/>
            <a:ext cx="3932237" cy="1625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Automate build and artifact creation</a:t>
            </a:r>
            <a:endParaRPr/>
          </a:p>
        </p:txBody>
      </p:sp>
      <p:grpSp>
        <p:nvGrpSpPr>
          <p:cNvPr id="616" name="Google Shape;616;p10"/>
          <p:cNvGrpSpPr/>
          <p:nvPr/>
        </p:nvGrpSpPr>
        <p:grpSpPr>
          <a:xfrm>
            <a:off x="5619422" y="987461"/>
            <a:ext cx="5299730" cy="4873551"/>
            <a:chOff x="436234" y="36"/>
            <a:chExt cx="5299730" cy="4873551"/>
          </a:xfrm>
        </p:grpSpPr>
        <p:sp>
          <p:nvSpPr>
            <p:cNvPr id="617" name="Google Shape;617;p10"/>
            <p:cNvSpPr/>
            <p:nvPr/>
          </p:nvSpPr>
          <p:spPr>
            <a:xfrm>
              <a:off x="2026760" y="36"/>
              <a:ext cx="2118679" cy="2118679"/>
            </a:xfrm>
            <a:prstGeom prst="ellipse">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0"/>
            <p:cNvSpPr txBox="1"/>
            <p:nvPr/>
          </p:nvSpPr>
          <p:spPr>
            <a:xfrm>
              <a:off x="2337033" y="310309"/>
              <a:ext cx="1498133" cy="1498133"/>
            </a:xfrm>
            <a:prstGeom prst="rect">
              <a:avLst/>
            </a:prstGeom>
            <a:noFill/>
            <a:ln>
              <a:noFill/>
            </a:ln>
          </p:spPr>
          <p:txBody>
            <a:bodyPr anchorCtr="0" anchor="ctr" bIns="44450" lIns="44450" spcFirstLastPara="1" rIns="44450" wrap="square" tIns="44450">
              <a:noAutofit/>
            </a:bodyPr>
            <a:lstStyle/>
            <a:p>
              <a:pPr indent="0" lvl="0" marL="0" marR="0" rtl="0" algn="ctr">
                <a:lnSpc>
                  <a:spcPct val="100000"/>
                </a:lnSpc>
                <a:spcBef>
                  <a:spcPts val="0"/>
                </a:spcBef>
                <a:spcAft>
                  <a:spcPts val="0"/>
                </a:spcAft>
                <a:buClr>
                  <a:srgbClr val="000000"/>
                </a:buClr>
                <a:buSzPts val="3500"/>
                <a:buFont typeface="Arial"/>
                <a:buNone/>
              </a:pPr>
              <a:r>
                <a:rPr b="0" i="0" lang="en-US" sz="3500" u="none" cap="none" strike="noStrike">
                  <a:solidFill>
                    <a:schemeClr val="lt1"/>
                  </a:solidFill>
                  <a:latin typeface="Arial"/>
                  <a:ea typeface="Arial"/>
                  <a:cs typeface="Arial"/>
                  <a:sym typeface="Arial"/>
                </a:rPr>
                <a:t>Code</a:t>
              </a:r>
              <a:endParaRPr/>
            </a:p>
          </p:txBody>
        </p:sp>
        <p:sp>
          <p:nvSpPr>
            <p:cNvPr id="619" name="Google Shape;619;p10"/>
            <p:cNvSpPr/>
            <p:nvPr/>
          </p:nvSpPr>
          <p:spPr>
            <a:xfrm rot="3600000">
              <a:off x="3591866" y="2065484"/>
              <a:ext cx="563056" cy="715054"/>
            </a:xfrm>
            <a:prstGeom prst="rightArrow">
              <a:avLst>
                <a:gd fmla="val 60000" name="adj1"/>
                <a:gd fmla="val 50000" name="adj2"/>
              </a:avLst>
            </a:prstGeom>
            <a:solidFill>
              <a:srgbClr val="599B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0"/>
            <p:cNvSpPr txBox="1"/>
            <p:nvPr/>
          </p:nvSpPr>
          <p:spPr>
            <a:xfrm rot="3600000">
              <a:off x="3634095" y="2135352"/>
              <a:ext cx="394139" cy="429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p:txBody>
        </p:sp>
        <p:sp>
          <p:nvSpPr>
            <p:cNvPr id="621" name="Google Shape;621;p10"/>
            <p:cNvSpPr/>
            <p:nvPr/>
          </p:nvSpPr>
          <p:spPr>
            <a:xfrm>
              <a:off x="3617285" y="2754908"/>
              <a:ext cx="2118679" cy="2118679"/>
            </a:xfrm>
            <a:prstGeom prst="ellipse">
              <a:avLst/>
            </a:prstGeom>
            <a:solidFill>
              <a:srgbClr val="4CC38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0"/>
            <p:cNvSpPr txBox="1"/>
            <p:nvPr/>
          </p:nvSpPr>
          <p:spPr>
            <a:xfrm>
              <a:off x="3927558" y="3065181"/>
              <a:ext cx="1498133" cy="1498133"/>
            </a:xfrm>
            <a:prstGeom prst="rect">
              <a:avLst/>
            </a:prstGeom>
            <a:noFill/>
            <a:ln>
              <a:noFill/>
            </a:ln>
          </p:spPr>
          <p:txBody>
            <a:bodyPr anchorCtr="0" anchor="ctr" bIns="44450" lIns="44450" spcFirstLastPara="1" rIns="44450" wrap="square" tIns="44450">
              <a:noAutofit/>
            </a:bodyPr>
            <a:lstStyle/>
            <a:p>
              <a:pPr indent="0" lvl="0" marL="0" marR="0" rtl="0" algn="ctr">
                <a:lnSpc>
                  <a:spcPct val="100000"/>
                </a:lnSpc>
                <a:spcBef>
                  <a:spcPts val="0"/>
                </a:spcBef>
                <a:spcAft>
                  <a:spcPts val="0"/>
                </a:spcAft>
                <a:buClr>
                  <a:srgbClr val="000000"/>
                </a:buClr>
                <a:buSzPts val="3500"/>
                <a:buFont typeface="Arial"/>
                <a:buNone/>
              </a:pPr>
              <a:r>
                <a:rPr b="0" i="0" lang="en-US" sz="3500" u="none" cap="none" strike="noStrike">
                  <a:solidFill>
                    <a:schemeClr val="lt1"/>
                  </a:solidFill>
                  <a:latin typeface="Arial"/>
                  <a:ea typeface="Arial"/>
                  <a:cs typeface="Arial"/>
                  <a:sym typeface="Arial"/>
                </a:rPr>
                <a:t>Build</a:t>
              </a:r>
              <a:endParaRPr b="0" i="0" sz="3500" u="none" cap="none" strike="noStrike">
                <a:solidFill>
                  <a:schemeClr val="lt1"/>
                </a:solidFill>
                <a:latin typeface="Arial"/>
                <a:ea typeface="Arial"/>
                <a:cs typeface="Arial"/>
                <a:sym typeface="Arial"/>
              </a:endParaRPr>
            </a:p>
          </p:txBody>
        </p:sp>
        <p:sp>
          <p:nvSpPr>
            <p:cNvPr id="623" name="Google Shape;623;p10"/>
            <p:cNvSpPr/>
            <p:nvPr/>
          </p:nvSpPr>
          <p:spPr>
            <a:xfrm rot="10800000">
              <a:off x="2820507" y="3456721"/>
              <a:ext cx="563056" cy="715054"/>
            </a:xfrm>
            <a:prstGeom prst="rightArrow">
              <a:avLst>
                <a:gd fmla="val 60000" name="adj1"/>
                <a:gd fmla="val 50000" name="adj2"/>
              </a:avLst>
            </a:prstGeom>
            <a:solidFill>
              <a:srgbClr val="4CC3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0"/>
            <p:cNvSpPr txBox="1"/>
            <p:nvPr/>
          </p:nvSpPr>
          <p:spPr>
            <a:xfrm>
              <a:off x="2989424" y="3599732"/>
              <a:ext cx="394139" cy="429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p:txBody>
        </p:sp>
        <p:sp>
          <p:nvSpPr>
            <p:cNvPr id="625" name="Google Shape;625;p10"/>
            <p:cNvSpPr/>
            <p:nvPr/>
          </p:nvSpPr>
          <p:spPr>
            <a:xfrm>
              <a:off x="436234" y="2754908"/>
              <a:ext cx="2118679" cy="2118679"/>
            </a:xfrm>
            <a:prstGeom prst="ellipse">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0"/>
            <p:cNvSpPr txBox="1"/>
            <p:nvPr/>
          </p:nvSpPr>
          <p:spPr>
            <a:xfrm>
              <a:off x="746507" y="3065181"/>
              <a:ext cx="1498133" cy="1498133"/>
            </a:xfrm>
            <a:prstGeom prst="rect">
              <a:avLst/>
            </a:prstGeom>
            <a:noFill/>
            <a:ln>
              <a:noFill/>
            </a:ln>
          </p:spPr>
          <p:txBody>
            <a:bodyPr anchorCtr="0" anchor="ctr" bIns="44450" lIns="44450" spcFirstLastPara="1" rIns="44450" wrap="square" tIns="44450">
              <a:noAutofit/>
            </a:bodyPr>
            <a:lstStyle/>
            <a:p>
              <a:pPr indent="0" lvl="0" marL="0" marR="0" rtl="0" algn="ctr">
                <a:lnSpc>
                  <a:spcPct val="100000"/>
                </a:lnSpc>
                <a:spcBef>
                  <a:spcPts val="0"/>
                </a:spcBef>
                <a:spcAft>
                  <a:spcPts val="0"/>
                </a:spcAft>
                <a:buClr>
                  <a:srgbClr val="000000"/>
                </a:buClr>
                <a:buSzPts val="3500"/>
                <a:buFont typeface="Arial"/>
                <a:buNone/>
              </a:pPr>
              <a:r>
                <a:rPr b="0" i="0" lang="en-US" sz="3500" u="none" cap="none" strike="noStrike">
                  <a:solidFill>
                    <a:schemeClr val="lt1"/>
                  </a:solidFill>
                  <a:latin typeface="Arial"/>
                  <a:ea typeface="Arial"/>
                  <a:cs typeface="Arial"/>
                  <a:sym typeface="Arial"/>
                </a:rPr>
                <a:t>Artifact</a:t>
              </a:r>
              <a:endParaRPr/>
            </a:p>
          </p:txBody>
        </p:sp>
        <p:sp>
          <p:nvSpPr>
            <p:cNvPr id="627" name="Google Shape;627;p10"/>
            <p:cNvSpPr/>
            <p:nvPr/>
          </p:nvSpPr>
          <p:spPr>
            <a:xfrm rot="-3600000">
              <a:off x="2001340" y="2093085"/>
              <a:ext cx="563056" cy="715054"/>
            </a:xfrm>
            <a:prstGeom prst="rightArrow">
              <a:avLst>
                <a:gd fmla="val 60000" name="adj1"/>
                <a:gd fmla="val 50000" name="adj2"/>
              </a:avLst>
            </a:prstGeom>
            <a:solidFill>
              <a:srgbClr val="6FA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0"/>
            <p:cNvSpPr txBox="1"/>
            <p:nvPr/>
          </p:nvSpPr>
          <p:spPr>
            <a:xfrm rot="-3600000">
              <a:off x="2043569" y="2309239"/>
              <a:ext cx="394139" cy="429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66"/>
          <p:cNvSpPr txBox="1"/>
          <p:nvPr>
            <p:ph type="title"/>
          </p:nvPr>
        </p:nvSpPr>
        <p:spPr>
          <a:xfrm>
            <a:off x="2530259" y="193675"/>
            <a:ext cx="7678454"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Create New Pipeline</a:t>
            </a:r>
            <a:endParaRPr/>
          </a:p>
        </p:txBody>
      </p:sp>
      <p:pic>
        <p:nvPicPr>
          <p:cNvPr id="634" name="Google Shape;634;p66"/>
          <p:cNvPicPr preferRelativeResize="0"/>
          <p:nvPr>
            <p:ph idx="1" type="body"/>
          </p:nvPr>
        </p:nvPicPr>
        <p:blipFill rotWithShape="1">
          <a:blip r:embed="rId3">
            <a:alphaModFix/>
          </a:blip>
          <a:srcRect b="0" l="0" r="0" t="0"/>
          <a:stretch/>
        </p:blipFill>
        <p:spPr>
          <a:xfrm>
            <a:off x="1642373" y="1169874"/>
            <a:ext cx="8907254" cy="536300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67"/>
          <p:cNvSpPr txBox="1"/>
          <p:nvPr>
            <p:ph type="title"/>
          </p:nvPr>
        </p:nvSpPr>
        <p:spPr>
          <a:xfrm>
            <a:off x="2530259" y="193675"/>
            <a:ext cx="7678454"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Create New Pipeline</a:t>
            </a:r>
            <a:endParaRPr/>
          </a:p>
        </p:txBody>
      </p:sp>
      <p:pic>
        <p:nvPicPr>
          <p:cNvPr id="640" name="Google Shape;640;p67"/>
          <p:cNvPicPr preferRelativeResize="0"/>
          <p:nvPr>
            <p:ph idx="1" type="body"/>
          </p:nvPr>
        </p:nvPicPr>
        <p:blipFill rotWithShape="1">
          <a:blip r:embed="rId3">
            <a:alphaModFix/>
          </a:blip>
          <a:srcRect b="0" l="0" r="0" t="0"/>
          <a:stretch/>
        </p:blipFill>
        <p:spPr>
          <a:xfrm>
            <a:off x="1640455" y="1093730"/>
            <a:ext cx="8911090" cy="545946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8"/>
          <p:cNvSpPr txBox="1"/>
          <p:nvPr>
            <p:ph type="title"/>
          </p:nvPr>
        </p:nvSpPr>
        <p:spPr>
          <a:xfrm>
            <a:off x="2530259" y="193675"/>
            <a:ext cx="7678454"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Select your repository</a:t>
            </a:r>
            <a:endParaRPr/>
          </a:p>
        </p:txBody>
      </p:sp>
      <p:pic>
        <p:nvPicPr>
          <p:cNvPr id="646" name="Google Shape;646;p68"/>
          <p:cNvPicPr preferRelativeResize="0"/>
          <p:nvPr>
            <p:ph idx="1" type="body"/>
          </p:nvPr>
        </p:nvPicPr>
        <p:blipFill rotWithShape="1">
          <a:blip r:embed="rId3">
            <a:alphaModFix/>
          </a:blip>
          <a:srcRect b="0" l="0" r="0" t="0"/>
          <a:stretch/>
        </p:blipFill>
        <p:spPr>
          <a:xfrm>
            <a:off x="1881027" y="1202635"/>
            <a:ext cx="8431643" cy="529044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9"/>
          <p:cNvSpPr txBox="1"/>
          <p:nvPr>
            <p:ph type="title"/>
          </p:nvPr>
        </p:nvSpPr>
        <p:spPr>
          <a:xfrm>
            <a:off x="2530259" y="193675"/>
            <a:ext cx="7678454"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Select a template</a:t>
            </a:r>
            <a:endParaRPr/>
          </a:p>
        </p:txBody>
      </p:sp>
      <p:pic>
        <p:nvPicPr>
          <p:cNvPr id="652" name="Google Shape;652;p69"/>
          <p:cNvPicPr preferRelativeResize="0"/>
          <p:nvPr>
            <p:ph idx="1" type="body"/>
          </p:nvPr>
        </p:nvPicPr>
        <p:blipFill rotWithShape="1">
          <a:blip r:embed="rId3">
            <a:alphaModFix/>
          </a:blip>
          <a:srcRect b="0" l="0" r="0" t="0"/>
          <a:stretch/>
        </p:blipFill>
        <p:spPr>
          <a:xfrm>
            <a:off x="1672297" y="1172090"/>
            <a:ext cx="8602900" cy="527065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0"/>
          <p:cNvSpPr txBox="1"/>
          <p:nvPr>
            <p:ph type="title"/>
          </p:nvPr>
        </p:nvSpPr>
        <p:spPr>
          <a:xfrm>
            <a:off x="2530259" y="193675"/>
            <a:ext cx="7678454" cy="7452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Configure property</a:t>
            </a:r>
            <a:endParaRPr/>
          </a:p>
        </p:txBody>
      </p:sp>
      <p:pic>
        <p:nvPicPr>
          <p:cNvPr id="658" name="Google Shape;658;p70"/>
          <p:cNvPicPr preferRelativeResize="0"/>
          <p:nvPr>
            <p:ph idx="1" type="body"/>
          </p:nvPr>
        </p:nvPicPr>
        <p:blipFill rotWithShape="1">
          <a:blip r:embed="rId3">
            <a:alphaModFix/>
          </a:blip>
          <a:srcRect b="0" l="0" r="0" t="0"/>
          <a:stretch/>
        </p:blipFill>
        <p:spPr>
          <a:xfrm>
            <a:off x="384659" y="1180136"/>
            <a:ext cx="11422682" cy="449772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.Net Core restore task</a:t>
            </a:r>
            <a:endParaRPr/>
          </a:p>
        </p:txBody>
      </p:sp>
      <p:pic>
        <p:nvPicPr>
          <p:cNvPr id="664" name="Google Shape;664;p13"/>
          <p:cNvPicPr preferRelativeResize="0"/>
          <p:nvPr>
            <p:ph idx="1" type="body"/>
          </p:nvPr>
        </p:nvPicPr>
        <p:blipFill rotWithShape="1">
          <a:blip r:embed="rId3">
            <a:alphaModFix/>
          </a:blip>
          <a:srcRect b="0" l="0" r="0" t="0"/>
          <a:stretch/>
        </p:blipFill>
        <p:spPr>
          <a:xfrm>
            <a:off x="1949776" y="1495316"/>
            <a:ext cx="8292448" cy="488618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.Net Core restore task</a:t>
            </a:r>
            <a:endParaRPr/>
          </a:p>
        </p:txBody>
      </p:sp>
      <p:pic>
        <p:nvPicPr>
          <p:cNvPr id="670" name="Google Shape;670;p71"/>
          <p:cNvPicPr preferRelativeResize="0"/>
          <p:nvPr>
            <p:ph idx="1" type="body"/>
          </p:nvPr>
        </p:nvPicPr>
        <p:blipFill rotWithShape="1">
          <a:blip r:embed="rId3">
            <a:alphaModFix/>
          </a:blip>
          <a:srcRect b="0" l="0" r="0" t="0"/>
          <a:stretch/>
        </p:blipFill>
        <p:spPr>
          <a:xfrm>
            <a:off x="2747179" y="1759953"/>
            <a:ext cx="6762813" cy="459196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72"/>
          <p:cNvSpPr txBox="1"/>
          <p:nvPr>
            <p:ph type="title"/>
          </p:nvPr>
        </p:nvSpPr>
        <p:spPr>
          <a:xfrm>
            <a:off x="838200" y="365126"/>
            <a:ext cx="10515600" cy="9375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Clone task</a:t>
            </a:r>
            <a:endParaRPr/>
          </a:p>
        </p:txBody>
      </p:sp>
      <p:pic>
        <p:nvPicPr>
          <p:cNvPr id="676" name="Google Shape;676;p72"/>
          <p:cNvPicPr preferRelativeResize="0"/>
          <p:nvPr>
            <p:ph idx="1" type="body"/>
          </p:nvPr>
        </p:nvPicPr>
        <p:blipFill rotWithShape="1">
          <a:blip r:embed="rId3">
            <a:alphaModFix/>
          </a:blip>
          <a:srcRect b="0" l="0" r="0" t="0"/>
          <a:stretch/>
        </p:blipFill>
        <p:spPr>
          <a:xfrm>
            <a:off x="2632798" y="1543170"/>
            <a:ext cx="7475706" cy="469642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73"/>
          <p:cNvSpPr txBox="1"/>
          <p:nvPr>
            <p:ph type="title"/>
          </p:nvPr>
        </p:nvSpPr>
        <p:spPr>
          <a:xfrm>
            <a:off x="838200" y="220742"/>
            <a:ext cx="10515600" cy="9375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.Net Core build task</a:t>
            </a:r>
            <a:endParaRPr/>
          </a:p>
        </p:txBody>
      </p:sp>
      <p:pic>
        <p:nvPicPr>
          <p:cNvPr id="682" name="Google Shape;682;p73"/>
          <p:cNvPicPr preferRelativeResize="0"/>
          <p:nvPr/>
        </p:nvPicPr>
        <p:blipFill rotWithShape="1">
          <a:blip r:embed="rId3">
            <a:alphaModFix/>
          </a:blip>
          <a:srcRect b="0" l="0" r="0" t="0"/>
          <a:stretch/>
        </p:blipFill>
        <p:spPr>
          <a:xfrm>
            <a:off x="2048543" y="1025635"/>
            <a:ext cx="8671264" cy="5467239"/>
          </a:xfrm>
          <a:prstGeom prst="rect">
            <a:avLst/>
          </a:prstGeom>
          <a:noFill/>
          <a:ln>
            <a:noFill/>
          </a:ln>
        </p:spPr>
      </p:pic>
      <p:sp>
        <p:nvSpPr>
          <p:cNvPr id="683" name="Google Shape;683;p73"/>
          <p:cNvSpPr txBox="1"/>
          <p:nvPr/>
        </p:nvSpPr>
        <p:spPr>
          <a:xfrm>
            <a:off x="701749" y="6363586"/>
            <a:ext cx="944171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Arguments: </a:t>
            </a:r>
            <a:r>
              <a:rPr b="1" i="0" lang="en-US" sz="1400" u="none" cap="none" strike="noStrike">
                <a:solidFill>
                  <a:srgbClr val="FF0000"/>
                </a:solidFill>
                <a:latin typeface="Arial"/>
                <a:ea typeface="Arial"/>
                <a:cs typeface="Arial"/>
                <a:sym typeface="Arial"/>
              </a:rPr>
              <a:t>--configuration $(BuildConfiguration)</a:t>
            </a:r>
            <a:endParaRPr b="1" i="0" sz="1400" u="none" cap="none" strike="noStrike">
              <a:solidFill>
                <a:srgbClr val="FF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.Net Core publish task</a:t>
            </a:r>
            <a:endParaRPr/>
          </a:p>
        </p:txBody>
      </p:sp>
      <p:pic>
        <p:nvPicPr>
          <p:cNvPr id="689" name="Google Shape;689;p74"/>
          <p:cNvPicPr preferRelativeResize="0"/>
          <p:nvPr>
            <p:ph idx="1" type="body"/>
          </p:nvPr>
        </p:nvPicPr>
        <p:blipFill rotWithShape="1">
          <a:blip r:embed="rId3">
            <a:alphaModFix/>
          </a:blip>
          <a:srcRect b="0" l="0" r="0" t="0"/>
          <a:stretch/>
        </p:blipFill>
        <p:spPr>
          <a:xfrm>
            <a:off x="1834063" y="1428583"/>
            <a:ext cx="8523874" cy="5064292"/>
          </a:xfrm>
          <a:prstGeom prst="rect">
            <a:avLst/>
          </a:prstGeom>
          <a:noFill/>
          <a:ln>
            <a:noFill/>
          </a:ln>
        </p:spPr>
      </p:pic>
      <p:sp>
        <p:nvSpPr>
          <p:cNvPr id="690" name="Google Shape;690;p74"/>
          <p:cNvSpPr txBox="1"/>
          <p:nvPr/>
        </p:nvSpPr>
        <p:spPr>
          <a:xfrm>
            <a:off x="701749" y="6363586"/>
            <a:ext cx="944171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Arguments: </a:t>
            </a:r>
            <a:r>
              <a:rPr b="0" i="0" lang="en-US" sz="1400" u="none" cap="none" strike="noStrike">
                <a:solidFill>
                  <a:srgbClr val="FF0000"/>
                </a:solidFill>
                <a:latin typeface="Arial"/>
                <a:ea typeface="Arial"/>
                <a:cs typeface="Arial"/>
                <a:sym typeface="Arial"/>
              </a:rPr>
              <a:t>--configuration $(BuildConfiguration) --output $(Build.ArtifactStagingDirectory)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Publish build artifacts</a:t>
            </a:r>
            <a:endParaRPr/>
          </a:p>
        </p:txBody>
      </p:sp>
      <p:pic>
        <p:nvPicPr>
          <p:cNvPr id="696" name="Google Shape;696;p15"/>
          <p:cNvPicPr preferRelativeResize="0"/>
          <p:nvPr>
            <p:ph idx="1" type="body"/>
          </p:nvPr>
        </p:nvPicPr>
        <p:blipFill rotWithShape="1">
          <a:blip r:embed="rId3">
            <a:alphaModFix/>
          </a:blip>
          <a:srcRect b="0" l="0" r="0" t="0"/>
          <a:stretch/>
        </p:blipFill>
        <p:spPr>
          <a:xfrm>
            <a:off x="2335061" y="1825625"/>
            <a:ext cx="7521878" cy="435133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Publish build artifacts</a:t>
            </a:r>
            <a:endParaRPr/>
          </a:p>
        </p:txBody>
      </p:sp>
      <p:pic>
        <p:nvPicPr>
          <p:cNvPr id="702" name="Google Shape;702;p75"/>
          <p:cNvPicPr preferRelativeResize="0"/>
          <p:nvPr>
            <p:ph idx="1" type="body"/>
          </p:nvPr>
        </p:nvPicPr>
        <p:blipFill rotWithShape="1">
          <a:blip r:embed="rId3">
            <a:alphaModFix/>
          </a:blip>
          <a:srcRect b="0" l="0" r="0" t="0"/>
          <a:stretch/>
        </p:blipFill>
        <p:spPr>
          <a:xfrm>
            <a:off x="2918378" y="1825625"/>
            <a:ext cx="6355244" cy="435133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Configure Variables</a:t>
            </a:r>
            <a:endParaRPr/>
          </a:p>
        </p:txBody>
      </p:sp>
      <p:pic>
        <p:nvPicPr>
          <p:cNvPr id="708" name="Google Shape;708;p14"/>
          <p:cNvPicPr preferRelativeResize="0"/>
          <p:nvPr>
            <p:ph idx="1" type="body"/>
          </p:nvPr>
        </p:nvPicPr>
        <p:blipFill rotWithShape="1">
          <a:blip r:embed="rId3">
            <a:alphaModFix/>
          </a:blip>
          <a:srcRect b="0" l="0" r="0" t="0"/>
          <a:stretch/>
        </p:blipFill>
        <p:spPr>
          <a:xfrm>
            <a:off x="838200" y="2314998"/>
            <a:ext cx="10515600" cy="337259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Configure Trigger</a:t>
            </a:r>
            <a:endParaRPr/>
          </a:p>
        </p:txBody>
      </p:sp>
      <p:pic>
        <p:nvPicPr>
          <p:cNvPr descr="C:\Users\User\AppData\Local\Temp\SNAGHTML143c5fc.PNG" id="714" name="Google Shape;714;p76"/>
          <p:cNvPicPr preferRelativeResize="0"/>
          <p:nvPr/>
        </p:nvPicPr>
        <p:blipFill rotWithShape="1">
          <a:blip r:embed="rId3">
            <a:alphaModFix/>
          </a:blip>
          <a:srcRect b="0" l="0" r="0" t="0"/>
          <a:stretch/>
        </p:blipFill>
        <p:spPr>
          <a:xfrm>
            <a:off x="1841500" y="1493919"/>
            <a:ext cx="9093200" cy="509579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Configure Build Number Format</a:t>
            </a:r>
            <a:endParaRPr/>
          </a:p>
        </p:txBody>
      </p:sp>
      <p:pic>
        <p:nvPicPr>
          <p:cNvPr id="720" name="Google Shape;720;p77"/>
          <p:cNvPicPr preferRelativeResize="0"/>
          <p:nvPr>
            <p:ph idx="1" type="body"/>
          </p:nvPr>
        </p:nvPicPr>
        <p:blipFill rotWithShape="1">
          <a:blip r:embed="rId3">
            <a:alphaModFix/>
          </a:blip>
          <a:srcRect b="0" l="0" r="0" t="0"/>
          <a:stretch/>
        </p:blipFill>
        <p:spPr>
          <a:xfrm>
            <a:off x="2232947" y="1426821"/>
            <a:ext cx="7726105" cy="5193375"/>
          </a:xfrm>
          <a:prstGeom prst="rect">
            <a:avLst/>
          </a:prstGeom>
          <a:noFill/>
          <a:ln>
            <a:noFill/>
          </a:ln>
        </p:spPr>
      </p:pic>
      <p:sp>
        <p:nvSpPr>
          <p:cNvPr id="721" name="Google Shape;721;p77"/>
          <p:cNvSpPr txBox="1"/>
          <p:nvPr/>
        </p:nvSpPr>
        <p:spPr>
          <a:xfrm>
            <a:off x="701749" y="6071191"/>
            <a:ext cx="944171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Arial"/>
                <a:ea typeface="Arial"/>
                <a:cs typeface="Arial"/>
                <a:sym typeface="Arial"/>
              </a:rPr>
              <a:t>$(SourceBranchName)-$(Date:yyyyMMdd)$(Rev:.r)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Save &amp; Queue</a:t>
            </a:r>
            <a:endParaRPr/>
          </a:p>
        </p:txBody>
      </p:sp>
      <p:pic>
        <p:nvPicPr>
          <p:cNvPr id="727" name="Google Shape;727;p78"/>
          <p:cNvPicPr preferRelativeResize="0"/>
          <p:nvPr>
            <p:ph idx="1" type="body"/>
          </p:nvPr>
        </p:nvPicPr>
        <p:blipFill rotWithShape="1">
          <a:blip r:embed="rId3">
            <a:alphaModFix/>
          </a:blip>
          <a:srcRect b="0" l="0" r="0" t="0"/>
          <a:stretch/>
        </p:blipFill>
        <p:spPr>
          <a:xfrm>
            <a:off x="2279769" y="1570372"/>
            <a:ext cx="7632461" cy="4802187"/>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Execute the pipeline</a:t>
            </a:r>
            <a:endParaRPr/>
          </a:p>
        </p:txBody>
      </p:sp>
      <p:pic>
        <p:nvPicPr>
          <p:cNvPr id="733" name="Google Shape;733;p79"/>
          <p:cNvPicPr preferRelativeResize="0"/>
          <p:nvPr>
            <p:ph idx="1" type="body"/>
          </p:nvPr>
        </p:nvPicPr>
        <p:blipFill rotWithShape="1">
          <a:blip r:embed="rId3">
            <a:alphaModFix/>
          </a:blip>
          <a:srcRect b="0" l="0" r="0" t="0"/>
          <a:stretch/>
        </p:blipFill>
        <p:spPr>
          <a:xfrm>
            <a:off x="2821719" y="1673916"/>
            <a:ext cx="6548562" cy="481895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Logs </a:t>
            </a:r>
            <a:endParaRPr/>
          </a:p>
        </p:txBody>
      </p:sp>
      <p:pic>
        <p:nvPicPr>
          <p:cNvPr id="739" name="Google Shape;739;p80"/>
          <p:cNvPicPr preferRelativeResize="0"/>
          <p:nvPr>
            <p:ph idx="1" type="body"/>
          </p:nvPr>
        </p:nvPicPr>
        <p:blipFill rotWithShape="1">
          <a:blip r:embed="rId3">
            <a:alphaModFix/>
          </a:blip>
          <a:srcRect b="0" l="0" r="0" t="0"/>
          <a:stretch/>
        </p:blipFill>
        <p:spPr>
          <a:xfrm>
            <a:off x="2449266" y="1487832"/>
            <a:ext cx="7859655" cy="4689131"/>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Summary</a:t>
            </a:r>
            <a:endParaRPr/>
          </a:p>
        </p:txBody>
      </p:sp>
      <p:pic>
        <p:nvPicPr>
          <p:cNvPr id="745" name="Google Shape;745;p81"/>
          <p:cNvPicPr preferRelativeResize="0"/>
          <p:nvPr>
            <p:ph idx="1" type="body"/>
          </p:nvPr>
        </p:nvPicPr>
        <p:blipFill rotWithShape="1">
          <a:blip r:embed="rId3">
            <a:alphaModFix/>
          </a:blip>
          <a:srcRect b="0" l="0" r="0" t="0"/>
          <a:stretch/>
        </p:blipFill>
        <p:spPr>
          <a:xfrm>
            <a:off x="2818357" y="1478071"/>
            <a:ext cx="6685944" cy="494971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Artifacts </a:t>
            </a:r>
            <a:endParaRPr/>
          </a:p>
        </p:txBody>
      </p:sp>
      <p:pic>
        <p:nvPicPr>
          <p:cNvPr id="751" name="Google Shape;751;p82"/>
          <p:cNvPicPr preferRelativeResize="0"/>
          <p:nvPr>
            <p:ph idx="1" type="body"/>
          </p:nvPr>
        </p:nvPicPr>
        <p:blipFill rotWithShape="1">
          <a:blip r:embed="rId3">
            <a:alphaModFix/>
          </a:blip>
          <a:srcRect b="0" l="0" r="0" t="0"/>
          <a:stretch/>
        </p:blipFill>
        <p:spPr>
          <a:xfrm>
            <a:off x="590167" y="1876926"/>
            <a:ext cx="11011665" cy="4077453"/>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Artifacts</a:t>
            </a:r>
            <a:endParaRPr/>
          </a:p>
        </p:txBody>
      </p:sp>
      <p:pic>
        <p:nvPicPr>
          <p:cNvPr id="757" name="Google Shape;757;p83"/>
          <p:cNvPicPr preferRelativeResize="0"/>
          <p:nvPr>
            <p:ph idx="1" type="body"/>
          </p:nvPr>
        </p:nvPicPr>
        <p:blipFill rotWithShape="1">
          <a:blip r:embed="rId3">
            <a:alphaModFix/>
          </a:blip>
          <a:srcRect b="0" l="0" r="0" t="0"/>
          <a:stretch/>
        </p:blipFill>
        <p:spPr>
          <a:xfrm>
            <a:off x="3760896" y="1825625"/>
            <a:ext cx="4670207" cy="4351338"/>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84"/>
          <p:cNvSpPr txBox="1"/>
          <p:nvPr>
            <p:ph type="title"/>
          </p:nvPr>
        </p:nvSpPr>
        <p:spPr>
          <a:xfrm>
            <a:off x="723900" y="2565400"/>
            <a:ext cx="4162425" cy="1600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a:solidFill>
                  <a:srgbClr val="2C65E1"/>
                </a:solidFill>
              </a:rPr>
              <a:t>Automate build, </a:t>
            </a:r>
            <a:r>
              <a:rPr b="1" lang="en-US">
                <a:solidFill>
                  <a:srgbClr val="2C65E1"/>
                </a:solidFill>
              </a:rPr>
              <a:t>UT execution</a:t>
            </a:r>
            <a:br>
              <a:rPr lang="en-US">
                <a:solidFill>
                  <a:srgbClr val="2C65E1"/>
                </a:solidFill>
              </a:rPr>
            </a:br>
            <a:r>
              <a:rPr lang="en-US">
                <a:solidFill>
                  <a:srgbClr val="2C65E1"/>
                </a:solidFill>
              </a:rPr>
              <a:t> and artifact creation</a:t>
            </a:r>
            <a:endParaRPr/>
          </a:p>
        </p:txBody>
      </p:sp>
      <p:grpSp>
        <p:nvGrpSpPr>
          <p:cNvPr id="763" name="Google Shape;763;p84"/>
          <p:cNvGrpSpPr/>
          <p:nvPr/>
        </p:nvGrpSpPr>
        <p:grpSpPr>
          <a:xfrm>
            <a:off x="5833311" y="988260"/>
            <a:ext cx="4871952" cy="4871953"/>
            <a:chOff x="650123" y="835"/>
            <a:chExt cx="4871952" cy="4871953"/>
          </a:xfrm>
        </p:grpSpPr>
        <p:sp>
          <p:nvSpPr>
            <p:cNvPr id="764" name="Google Shape;764;p84"/>
            <p:cNvSpPr/>
            <p:nvPr/>
          </p:nvSpPr>
          <p:spPr>
            <a:xfrm>
              <a:off x="2307040" y="835"/>
              <a:ext cx="1558118" cy="1558118"/>
            </a:xfrm>
            <a:prstGeom prst="ellipse">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84"/>
            <p:cNvSpPr txBox="1"/>
            <p:nvPr/>
          </p:nvSpPr>
          <p:spPr>
            <a:xfrm>
              <a:off x="2535221" y="229016"/>
              <a:ext cx="1101756" cy="110175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Code</a:t>
              </a:r>
              <a:endParaRPr/>
            </a:p>
          </p:txBody>
        </p:sp>
        <p:sp>
          <p:nvSpPr>
            <p:cNvPr id="766" name="Google Shape;766;p84"/>
            <p:cNvSpPr/>
            <p:nvPr/>
          </p:nvSpPr>
          <p:spPr>
            <a:xfrm rot="2700000">
              <a:off x="3698175" y="1337093"/>
              <a:ext cx="416111" cy="525865"/>
            </a:xfrm>
            <a:prstGeom prst="rightArrow">
              <a:avLst>
                <a:gd fmla="val 60000" name="adj1"/>
                <a:gd fmla="val 50000" name="adj2"/>
              </a:avLst>
            </a:prstGeom>
            <a:solidFill>
              <a:srgbClr val="599B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84"/>
            <p:cNvSpPr txBox="1"/>
            <p:nvPr/>
          </p:nvSpPr>
          <p:spPr>
            <a:xfrm rot="2700000">
              <a:off x="3716456" y="1398131"/>
              <a:ext cx="291278" cy="31551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Arial"/>
                <a:ea typeface="Arial"/>
                <a:cs typeface="Arial"/>
                <a:sym typeface="Arial"/>
              </a:endParaRPr>
            </a:p>
          </p:txBody>
        </p:sp>
        <p:sp>
          <p:nvSpPr>
            <p:cNvPr id="768" name="Google Shape;768;p84"/>
            <p:cNvSpPr/>
            <p:nvPr/>
          </p:nvSpPr>
          <p:spPr>
            <a:xfrm>
              <a:off x="3963957" y="1657753"/>
              <a:ext cx="1558118" cy="1558118"/>
            </a:xfrm>
            <a:prstGeom prst="ellipse">
              <a:avLst/>
            </a:prstGeom>
            <a:solidFill>
              <a:srgbClr val="50C9B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84"/>
            <p:cNvSpPr txBox="1"/>
            <p:nvPr/>
          </p:nvSpPr>
          <p:spPr>
            <a:xfrm>
              <a:off x="4192138" y="1885934"/>
              <a:ext cx="1101756" cy="110175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Build</a:t>
              </a:r>
              <a:endParaRPr b="0" i="0" sz="2600" u="none" cap="none" strike="noStrike">
                <a:solidFill>
                  <a:schemeClr val="lt1"/>
                </a:solidFill>
                <a:latin typeface="Arial"/>
                <a:ea typeface="Arial"/>
                <a:cs typeface="Arial"/>
                <a:sym typeface="Arial"/>
              </a:endParaRPr>
            </a:p>
          </p:txBody>
        </p:sp>
        <p:sp>
          <p:nvSpPr>
            <p:cNvPr id="770" name="Google Shape;770;p84"/>
            <p:cNvSpPr/>
            <p:nvPr/>
          </p:nvSpPr>
          <p:spPr>
            <a:xfrm rot="8100000">
              <a:off x="3714830" y="2994011"/>
              <a:ext cx="416111" cy="525865"/>
            </a:xfrm>
            <a:prstGeom prst="rightArrow">
              <a:avLst>
                <a:gd fmla="val 60000" name="adj1"/>
                <a:gd fmla="val 50000" name="adj2"/>
              </a:avLst>
            </a:prstGeom>
            <a:solidFill>
              <a:srgbClr val="50C9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84"/>
            <p:cNvSpPr txBox="1"/>
            <p:nvPr/>
          </p:nvSpPr>
          <p:spPr>
            <a:xfrm rot="-2700000">
              <a:off x="3821382" y="3055049"/>
              <a:ext cx="291278" cy="31551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Arial"/>
                <a:ea typeface="Arial"/>
                <a:cs typeface="Arial"/>
                <a:sym typeface="Arial"/>
              </a:endParaRPr>
            </a:p>
          </p:txBody>
        </p:sp>
        <p:sp>
          <p:nvSpPr>
            <p:cNvPr id="772" name="Google Shape;772;p84"/>
            <p:cNvSpPr/>
            <p:nvPr/>
          </p:nvSpPr>
          <p:spPr>
            <a:xfrm>
              <a:off x="2307040" y="3314670"/>
              <a:ext cx="1558118" cy="1558118"/>
            </a:xfrm>
            <a:prstGeom prst="ellipse">
              <a:avLst/>
            </a:prstGeom>
            <a:solidFill>
              <a:srgbClr val="48BD6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84"/>
            <p:cNvSpPr txBox="1"/>
            <p:nvPr/>
          </p:nvSpPr>
          <p:spPr>
            <a:xfrm>
              <a:off x="2535221" y="3542851"/>
              <a:ext cx="1101756" cy="110175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Test</a:t>
              </a:r>
              <a:endParaRPr/>
            </a:p>
          </p:txBody>
        </p:sp>
        <p:sp>
          <p:nvSpPr>
            <p:cNvPr id="774" name="Google Shape;774;p84"/>
            <p:cNvSpPr/>
            <p:nvPr/>
          </p:nvSpPr>
          <p:spPr>
            <a:xfrm rot="-8100000">
              <a:off x="2057913" y="3010665"/>
              <a:ext cx="416111" cy="525865"/>
            </a:xfrm>
            <a:prstGeom prst="rightArrow">
              <a:avLst>
                <a:gd fmla="val 60000" name="adj1"/>
                <a:gd fmla="val 50000" name="adj2"/>
              </a:avLst>
            </a:prstGeom>
            <a:solidFill>
              <a:srgbClr val="48BD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84"/>
            <p:cNvSpPr txBox="1"/>
            <p:nvPr/>
          </p:nvSpPr>
          <p:spPr>
            <a:xfrm rot="2700000">
              <a:off x="2164465" y="3159973"/>
              <a:ext cx="291278" cy="31551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Arial"/>
                <a:ea typeface="Arial"/>
                <a:cs typeface="Arial"/>
                <a:sym typeface="Arial"/>
              </a:endParaRPr>
            </a:p>
          </p:txBody>
        </p:sp>
        <p:sp>
          <p:nvSpPr>
            <p:cNvPr id="776" name="Google Shape;776;p84"/>
            <p:cNvSpPr/>
            <p:nvPr/>
          </p:nvSpPr>
          <p:spPr>
            <a:xfrm>
              <a:off x="650123" y="1657753"/>
              <a:ext cx="1558118" cy="1558118"/>
            </a:xfrm>
            <a:prstGeom prst="ellipse">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84"/>
            <p:cNvSpPr txBox="1"/>
            <p:nvPr/>
          </p:nvSpPr>
          <p:spPr>
            <a:xfrm>
              <a:off x="878304" y="1885934"/>
              <a:ext cx="1101756" cy="110175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Artifact</a:t>
              </a:r>
              <a:endParaRPr/>
            </a:p>
          </p:txBody>
        </p:sp>
        <p:sp>
          <p:nvSpPr>
            <p:cNvPr id="778" name="Google Shape;778;p84"/>
            <p:cNvSpPr/>
            <p:nvPr/>
          </p:nvSpPr>
          <p:spPr>
            <a:xfrm rot="-2700000">
              <a:off x="2041258" y="1353748"/>
              <a:ext cx="416111" cy="525865"/>
            </a:xfrm>
            <a:prstGeom prst="rightArrow">
              <a:avLst>
                <a:gd fmla="val 60000" name="adj1"/>
                <a:gd fmla="val 50000" name="adj2"/>
              </a:avLst>
            </a:prstGeom>
            <a:solidFill>
              <a:srgbClr val="6FA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84"/>
            <p:cNvSpPr txBox="1"/>
            <p:nvPr/>
          </p:nvSpPr>
          <p:spPr>
            <a:xfrm rot="-2700000">
              <a:off x="2059539" y="1503056"/>
              <a:ext cx="291278" cy="31551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Arial"/>
                <a:ea typeface="Arial"/>
                <a:cs typeface="Arial"/>
                <a:sym typeface="Arial"/>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Coverlet Tool</a:t>
            </a:r>
            <a:endParaRPr/>
          </a:p>
        </p:txBody>
      </p:sp>
      <p:pic>
        <p:nvPicPr>
          <p:cNvPr id="785" name="Google Shape;785;p85"/>
          <p:cNvPicPr preferRelativeResize="0"/>
          <p:nvPr>
            <p:ph idx="1" type="body"/>
          </p:nvPr>
        </p:nvPicPr>
        <p:blipFill rotWithShape="1">
          <a:blip r:embed="rId3">
            <a:alphaModFix/>
          </a:blip>
          <a:srcRect b="0" l="0" r="0" t="0"/>
          <a:stretch/>
        </p:blipFill>
        <p:spPr>
          <a:xfrm>
            <a:off x="2458429" y="1825625"/>
            <a:ext cx="7275141" cy="435133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Coverlet Tool</a:t>
            </a:r>
            <a:endParaRPr/>
          </a:p>
        </p:txBody>
      </p:sp>
      <p:pic>
        <p:nvPicPr>
          <p:cNvPr id="791" name="Google Shape;791;p86"/>
          <p:cNvPicPr preferRelativeResize="0"/>
          <p:nvPr/>
        </p:nvPicPr>
        <p:blipFill rotWithShape="1">
          <a:blip r:embed="rId3">
            <a:alphaModFix/>
          </a:blip>
          <a:srcRect b="0" l="0" r="0" t="0"/>
          <a:stretch/>
        </p:blipFill>
        <p:spPr>
          <a:xfrm>
            <a:off x="2194945" y="1461902"/>
            <a:ext cx="7670509" cy="4774002"/>
          </a:xfrm>
          <a:prstGeom prst="rect">
            <a:avLst/>
          </a:prstGeom>
          <a:noFill/>
          <a:ln>
            <a:noFill/>
          </a:ln>
        </p:spPr>
      </p:pic>
      <p:sp>
        <p:nvSpPr>
          <p:cNvPr id="792" name="Google Shape;792;p86"/>
          <p:cNvSpPr txBox="1"/>
          <p:nvPr/>
        </p:nvSpPr>
        <p:spPr>
          <a:xfrm>
            <a:off x="400493" y="6239540"/>
            <a:ext cx="955689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dotnet add tests/MyToDo.Tests package coverlet.msbuild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.Net Core Test Task</a:t>
            </a:r>
            <a:endParaRPr/>
          </a:p>
        </p:txBody>
      </p:sp>
      <p:pic>
        <p:nvPicPr>
          <p:cNvPr id="798" name="Google Shape;798;p87"/>
          <p:cNvPicPr preferRelativeResize="0"/>
          <p:nvPr>
            <p:ph idx="1" type="body"/>
          </p:nvPr>
        </p:nvPicPr>
        <p:blipFill rotWithShape="1">
          <a:blip r:embed="rId3">
            <a:alphaModFix/>
          </a:blip>
          <a:srcRect b="0" l="0" r="0" t="0"/>
          <a:stretch/>
        </p:blipFill>
        <p:spPr>
          <a:xfrm>
            <a:off x="2821479" y="1690688"/>
            <a:ext cx="6862847" cy="4598754"/>
          </a:xfrm>
          <a:prstGeom prst="rect">
            <a:avLst/>
          </a:prstGeom>
          <a:noFill/>
          <a:ln>
            <a:noFill/>
          </a:ln>
        </p:spPr>
      </p:pic>
      <p:sp>
        <p:nvSpPr>
          <p:cNvPr id="799" name="Google Shape;799;p87"/>
          <p:cNvSpPr txBox="1"/>
          <p:nvPr/>
        </p:nvSpPr>
        <p:spPr>
          <a:xfrm>
            <a:off x="329610" y="6018028"/>
            <a:ext cx="968094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Path to project(s):    **/*[Tt]ests/*.csproj</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Arguments:     /p:CollectCoverage=true /p:CoverletOutputFormat=cobertura --configuration $(BuildConfiguration)</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Publish Code Coverage Results</a:t>
            </a:r>
            <a:endParaRPr/>
          </a:p>
        </p:txBody>
      </p:sp>
      <p:pic>
        <p:nvPicPr>
          <p:cNvPr id="805" name="Google Shape;805;p88"/>
          <p:cNvPicPr preferRelativeResize="0"/>
          <p:nvPr>
            <p:ph idx="1" type="body"/>
          </p:nvPr>
        </p:nvPicPr>
        <p:blipFill rotWithShape="1">
          <a:blip r:embed="rId3">
            <a:alphaModFix/>
          </a:blip>
          <a:srcRect b="0" l="0" r="0" t="0"/>
          <a:stretch/>
        </p:blipFill>
        <p:spPr>
          <a:xfrm>
            <a:off x="2516529" y="1888255"/>
            <a:ext cx="7158942" cy="445906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Publish Code Coverage Results</a:t>
            </a:r>
            <a:endParaRPr/>
          </a:p>
        </p:txBody>
      </p:sp>
      <p:pic>
        <p:nvPicPr>
          <p:cNvPr id="811" name="Google Shape;811;p89"/>
          <p:cNvPicPr preferRelativeResize="0"/>
          <p:nvPr/>
        </p:nvPicPr>
        <p:blipFill rotWithShape="1">
          <a:blip r:embed="rId3">
            <a:alphaModFix/>
          </a:blip>
          <a:srcRect b="0" l="0" r="0" t="0"/>
          <a:stretch/>
        </p:blipFill>
        <p:spPr>
          <a:xfrm>
            <a:off x="2392174" y="1472871"/>
            <a:ext cx="7468150" cy="4869206"/>
          </a:xfrm>
          <a:prstGeom prst="rect">
            <a:avLst/>
          </a:prstGeom>
          <a:noFill/>
          <a:ln>
            <a:noFill/>
          </a:ln>
        </p:spPr>
      </p:pic>
      <p:sp>
        <p:nvSpPr>
          <p:cNvPr id="812" name="Google Shape;812;p89"/>
          <p:cNvSpPr txBox="1"/>
          <p:nvPr/>
        </p:nvSpPr>
        <p:spPr>
          <a:xfrm>
            <a:off x="406031" y="6339220"/>
            <a:ext cx="955689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tests/MyToDo.tests/coverage.cobertura.xml</a:t>
            </a:r>
            <a:endParaRPr/>
          </a:p>
        </p:txBody>
      </p:sp>
      <p:sp>
        <p:nvSpPr>
          <p:cNvPr id="813" name="Google Shape;813;p89"/>
          <p:cNvSpPr/>
          <p:nvPr/>
        </p:nvSpPr>
        <p:spPr>
          <a:xfrm>
            <a:off x="5878032" y="1873101"/>
            <a:ext cx="1258186" cy="354418"/>
          </a:xfrm>
          <a:prstGeom prst="rect">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4" name="Google Shape;814;p89"/>
          <p:cNvSpPr txBox="1"/>
          <p:nvPr/>
        </p:nvSpPr>
        <p:spPr>
          <a:xfrm>
            <a:off x="6772274" y="1509159"/>
            <a:ext cx="421759"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FF0000"/>
                </a:solidFill>
                <a:latin typeface="Arial"/>
                <a:ea typeface="Arial"/>
                <a:cs typeface="Arial"/>
                <a:sym typeface="Arial"/>
              </a:rPr>
              <a:t>5</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Execute the pipeline and check the result</a:t>
            </a:r>
            <a:endParaRPr/>
          </a:p>
        </p:txBody>
      </p:sp>
      <p:pic>
        <p:nvPicPr>
          <p:cNvPr id="820" name="Google Shape;820;p90"/>
          <p:cNvPicPr preferRelativeResize="0"/>
          <p:nvPr>
            <p:ph idx="1" type="body"/>
          </p:nvPr>
        </p:nvPicPr>
        <p:blipFill rotWithShape="1">
          <a:blip r:embed="rId3">
            <a:alphaModFix/>
          </a:blip>
          <a:srcRect b="0" l="0" r="0" t="0"/>
          <a:stretch/>
        </p:blipFill>
        <p:spPr>
          <a:xfrm>
            <a:off x="4114800" y="1825625"/>
            <a:ext cx="3812305" cy="452967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Tests Result</a:t>
            </a:r>
            <a:endParaRPr/>
          </a:p>
        </p:txBody>
      </p:sp>
      <p:pic>
        <p:nvPicPr>
          <p:cNvPr id="826" name="Google Shape;826;p91"/>
          <p:cNvPicPr preferRelativeResize="0"/>
          <p:nvPr>
            <p:ph idx="1" type="body"/>
          </p:nvPr>
        </p:nvPicPr>
        <p:blipFill rotWithShape="1">
          <a:blip r:embed="rId3">
            <a:alphaModFix/>
          </a:blip>
          <a:srcRect b="0" l="0" r="0" t="0"/>
          <a:stretch/>
        </p:blipFill>
        <p:spPr>
          <a:xfrm>
            <a:off x="2886554" y="1602400"/>
            <a:ext cx="7160271" cy="48364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Code Coverage Result</a:t>
            </a:r>
            <a:endParaRPr/>
          </a:p>
        </p:txBody>
      </p:sp>
      <p:pic>
        <p:nvPicPr>
          <p:cNvPr id="832" name="Google Shape;832;p92"/>
          <p:cNvPicPr preferRelativeResize="0"/>
          <p:nvPr>
            <p:ph idx="1" type="body"/>
          </p:nvPr>
        </p:nvPicPr>
        <p:blipFill rotWithShape="1">
          <a:blip r:embed="rId3">
            <a:alphaModFix/>
          </a:blip>
          <a:srcRect b="0" l="0" r="0" t="0"/>
          <a:stretch/>
        </p:blipFill>
        <p:spPr>
          <a:xfrm>
            <a:off x="2371177" y="1520914"/>
            <a:ext cx="7449645" cy="5087708"/>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93"/>
          <p:cNvSpPr txBox="1"/>
          <p:nvPr>
            <p:ph type="title"/>
          </p:nvPr>
        </p:nvSpPr>
        <p:spPr>
          <a:xfrm>
            <a:off x="725488" y="2565400"/>
            <a:ext cx="3932237" cy="1600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3200"/>
              <a:buNone/>
            </a:pPr>
            <a:r>
              <a:rPr lang="en-US" sz="2880">
                <a:solidFill>
                  <a:srgbClr val="2C65E1"/>
                </a:solidFill>
              </a:rPr>
              <a:t>Automate build, UT execution, </a:t>
            </a:r>
            <a:r>
              <a:rPr b="1" lang="en-US" sz="2880">
                <a:solidFill>
                  <a:srgbClr val="2C65E1"/>
                </a:solidFill>
              </a:rPr>
              <a:t>code analyze</a:t>
            </a:r>
            <a:br>
              <a:rPr lang="en-US" sz="2880">
                <a:solidFill>
                  <a:srgbClr val="2C65E1"/>
                </a:solidFill>
              </a:rPr>
            </a:br>
            <a:r>
              <a:rPr lang="en-US" sz="2880">
                <a:solidFill>
                  <a:srgbClr val="2C65E1"/>
                </a:solidFill>
              </a:rPr>
              <a:t> and artifact creation</a:t>
            </a:r>
            <a:endParaRPr/>
          </a:p>
        </p:txBody>
      </p:sp>
      <p:grpSp>
        <p:nvGrpSpPr>
          <p:cNvPr id="838" name="Google Shape;838;p93"/>
          <p:cNvGrpSpPr/>
          <p:nvPr/>
        </p:nvGrpSpPr>
        <p:grpSpPr>
          <a:xfrm>
            <a:off x="5746321" y="988726"/>
            <a:ext cx="5045932" cy="4871022"/>
            <a:chOff x="563133" y="1301"/>
            <a:chExt cx="5045932" cy="4871022"/>
          </a:xfrm>
        </p:grpSpPr>
        <p:sp>
          <p:nvSpPr>
            <p:cNvPr id="839" name="Google Shape;839;p93"/>
            <p:cNvSpPr/>
            <p:nvPr/>
          </p:nvSpPr>
          <p:spPr>
            <a:xfrm>
              <a:off x="2349986" y="1301"/>
              <a:ext cx="1472226" cy="1472226"/>
            </a:xfrm>
            <a:prstGeom prst="ellipse">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93"/>
            <p:cNvSpPr txBox="1"/>
            <p:nvPr/>
          </p:nvSpPr>
          <p:spPr>
            <a:xfrm>
              <a:off x="2565589" y="216904"/>
              <a:ext cx="1041020" cy="1041020"/>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2100"/>
                <a:buFont typeface="Arial"/>
                <a:buNone/>
              </a:pPr>
              <a:r>
                <a:rPr b="0" i="0" lang="en-US" sz="2100" u="none" cap="none" strike="noStrike">
                  <a:solidFill>
                    <a:schemeClr val="lt1"/>
                  </a:solidFill>
                  <a:latin typeface="Arial"/>
                  <a:ea typeface="Arial"/>
                  <a:cs typeface="Arial"/>
                  <a:sym typeface="Arial"/>
                </a:rPr>
                <a:t>Code</a:t>
              </a:r>
              <a:endParaRPr/>
            </a:p>
          </p:txBody>
        </p:sp>
        <p:sp>
          <p:nvSpPr>
            <p:cNvPr id="841" name="Google Shape;841;p93"/>
            <p:cNvSpPr/>
            <p:nvPr/>
          </p:nvSpPr>
          <p:spPr>
            <a:xfrm rot="2160000">
              <a:off x="3775431" y="1131595"/>
              <a:ext cx="390315" cy="496876"/>
            </a:xfrm>
            <a:prstGeom prst="rightArrow">
              <a:avLst>
                <a:gd fmla="val 60000" name="adj1"/>
                <a:gd fmla="val 50000" name="adj2"/>
              </a:avLst>
            </a:prstGeom>
            <a:solidFill>
              <a:srgbClr val="599B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93"/>
            <p:cNvSpPr txBox="1"/>
            <p:nvPr/>
          </p:nvSpPr>
          <p:spPr>
            <a:xfrm rot="2160000">
              <a:off x="3786612" y="1196557"/>
              <a:ext cx="273221" cy="2981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843" name="Google Shape;843;p93"/>
            <p:cNvSpPr/>
            <p:nvPr/>
          </p:nvSpPr>
          <p:spPr>
            <a:xfrm>
              <a:off x="4136839" y="1299525"/>
              <a:ext cx="1472226" cy="1472226"/>
            </a:xfrm>
            <a:prstGeom prst="ellipse">
              <a:avLst/>
            </a:prstGeom>
            <a:solidFill>
              <a:srgbClr val="52CBC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3"/>
            <p:cNvSpPr txBox="1"/>
            <p:nvPr/>
          </p:nvSpPr>
          <p:spPr>
            <a:xfrm>
              <a:off x="4352442" y="1515128"/>
              <a:ext cx="1041020" cy="1041020"/>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2100"/>
                <a:buFont typeface="Arial"/>
                <a:buNone/>
              </a:pPr>
              <a:r>
                <a:rPr b="0" i="0" lang="en-US" sz="2100" u="none" cap="none" strike="noStrike">
                  <a:solidFill>
                    <a:schemeClr val="lt1"/>
                  </a:solidFill>
                  <a:latin typeface="Arial"/>
                  <a:ea typeface="Arial"/>
                  <a:cs typeface="Arial"/>
                  <a:sym typeface="Arial"/>
                </a:rPr>
                <a:t>Build</a:t>
              </a:r>
              <a:endParaRPr b="0" i="0" sz="2100" u="none" cap="none" strike="noStrike">
                <a:solidFill>
                  <a:schemeClr val="lt1"/>
                </a:solidFill>
                <a:latin typeface="Arial"/>
                <a:ea typeface="Arial"/>
                <a:cs typeface="Arial"/>
                <a:sym typeface="Arial"/>
              </a:endParaRPr>
            </a:p>
          </p:txBody>
        </p:sp>
        <p:sp>
          <p:nvSpPr>
            <p:cNvPr id="845" name="Google Shape;845;p93"/>
            <p:cNvSpPr/>
            <p:nvPr/>
          </p:nvSpPr>
          <p:spPr>
            <a:xfrm rot="6480000">
              <a:off x="4339949" y="2826980"/>
              <a:ext cx="390315" cy="496876"/>
            </a:xfrm>
            <a:prstGeom prst="rightArrow">
              <a:avLst>
                <a:gd fmla="val 60000" name="adj1"/>
                <a:gd fmla="val 50000" name="adj2"/>
              </a:avLst>
            </a:prstGeom>
            <a:solidFill>
              <a:srgbClr val="52CB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93"/>
            <p:cNvSpPr txBox="1"/>
            <p:nvPr/>
          </p:nvSpPr>
          <p:spPr>
            <a:xfrm rot="-4320000">
              <a:off x="4416588" y="2870673"/>
              <a:ext cx="273221" cy="2981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847" name="Google Shape;847;p93"/>
            <p:cNvSpPr/>
            <p:nvPr/>
          </p:nvSpPr>
          <p:spPr>
            <a:xfrm>
              <a:off x="3454322" y="3400097"/>
              <a:ext cx="1472226" cy="1472226"/>
            </a:xfrm>
            <a:prstGeom prst="ellipse">
              <a:avLst/>
            </a:prstGeom>
            <a:solidFill>
              <a:srgbClr val="4CC38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93"/>
            <p:cNvSpPr txBox="1"/>
            <p:nvPr/>
          </p:nvSpPr>
          <p:spPr>
            <a:xfrm>
              <a:off x="3669925" y="3615700"/>
              <a:ext cx="1041020" cy="1041020"/>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2100"/>
                <a:buFont typeface="Arial"/>
                <a:buNone/>
              </a:pPr>
              <a:r>
                <a:rPr b="0" i="0" lang="en-US" sz="2100" u="none" cap="none" strike="noStrike">
                  <a:solidFill>
                    <a:schemeClr val="lt1"/>
                  </a:solidFill>
                  <a:latin typeface="Arial"/>
                  <a:ea typeface="Arial"/>
                  <a:cs typeface="Arial"/>
                  <a:sym typeface="Arial"/>
                </a:rPr>
                <a:t>Test</a:t>
              </a:r>
              <a:endParaRPr/>
            </a:p>
          </p:txBody>
        </p:sp>
        <p:sp>
          <p:nvSpPr>
            <p:cNvPr id="849" name="Google Shape;849;p93"/>
            <p:cNvSpPr/>
            <p:nvPr/>
          </p:nvSpPr>
          <p:spPr>
            <a:xfrm rot="10800000">
              <a:off x="2901988" y="3887772"/>
              <a:ext cx="390315" cy="496876"/>
            </a:xfrm>
            <a:prstGeom prst="rightArrow">
              <a:avLst>
                <a:gd fmla="val 60000" name="adj1"/>
                <a:gd fmla="val 50000" name="adj2"/>
              </a:avLst>
            </a:prstGeom>
            <a:solidFill>
              <a:srgbClr val="4CC3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93"/>
            <p:cNvSpPr txBox="1"/>
            <p:nvPr/>
          </p:nvSpPr>
          <p:spPr>
            <a:xfrm>
              <a:off x="3019082" y="3987147"/>
              <a:ext cx="273221" cy="2981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851" name="Google Shape;851;p93"/>
            <p:cNvSpPr/>
            <p:nvPr/>
          </p:nvSpPr>
          <p:spPr>
            <a:xfrm>
              <a:off x="1245651" y="3400097"/>
              <a:ext cx="1472226" cy="1472226"/>
            </a:xfrm>
            <a:prstGeom prst="ellipse">
              <a:avLst/>
            </a:prstGeom>
            <a:solidFill>
              <a:srgbClr val="46BA4E"/>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93"/>
            <p:cNvSpPr txBox="1"/>
            <p:nvPr/>
          </p:nvSpPr>
          <p:spPr>
            <a:xfrm>
              <a:off x="1461254" y="3615700"/>
              <a:ext cx="1041020" cy="1041020"/>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2100"/>
                <a:buFont typeface="Arial"/>
                <a:buNone/>
              </a:pPr>
              <a:r>
                <a:rPr b="0" i="0" lang="en-US" sz="2100" u="none" cap="none" strike="noStrike">
                  <a:solidFill>
                    <a:schemeClr val="lt1"/>
                  </a:solidFill>
                  <a:latin typeface="Arial"/>
                  <a:ea typeface="Arial"/>
                  <a:cs typeface="Arial"/>
                  <a:sym typeface="Arial"/>
                </a:rPr>
                <a:t>Analyze</a:t>
              </a:r>
              <a:endParaRPr/>
            </a:p>
          </p:txBody>
        </p:sp>
        <p:sp>
          <p:nvSpPr>
            <p:cNvPr id="853" name="Google Shape;853;p93"/>
            <p:cNvSpPr/>
            <p:nvPr/>
          </p:nvSpPr>
          <p:spPr>
            <a:xfrm rot="-6480000">
              <a:off x="1448761" y="2847992"/>
              <a:ext cx="390315" cy="496876"/>
            </a:xfrm>
            <a:prstGeom prst="rightArrow">
              <a:avLst>
                <a:gd fmla="val 60000" name="adj1"/>
                <a:gd fmla="val 50000" name="adj2"/>
              </a:avLst>
            </a:prstGeom>
            <a:solidFill>
              <a:srgbClr val="46B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93"/>
            <p:cNvSpPr txBox="1"/>
            <p:nvPr/>
          </p:nvSpPr>
          <p:spPr>
            <a:xfrm rot="4320000">
              <a:off x="1525400" y="3003049"/>
              <a:ext cx="273221" cy="2981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sp>
          <p:nvSpPr>
            <p:cNvPr id="855" name="Google Shape;855;p93"/>
            <p:cNvSpPr/>
            <p:nvPr/>
          </p:nvSpPr>
          <p:spPr>
            <a:xfrm>
              <a:off x="563133" y="1299525"/>
              <a:ext cx="1472226" cy="1472226"/>
            </a:xfrm>
            <a:prstGeom prst="ellipse">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93"/>
            <p:cNvSpPr txBox="1"/>
            <p:nvPr/>
          </p:nvSpPr>
          <p:spPr>
            <a:xfrm>
              <a:off x="778736" y="1515128"/>
              <a:ext cx="1041020" cy="1041020"/>
            </a:xfrm>
            <a:prstGeom prst="rect">
              <a:avLst/>
            </a:prstGeom>
            <a:noFill/>
            <a:ln>
              <a:noFill/>
            </a:ln>
          </p:spPr>
          <p:txBody>
            <a:bodyPr anchorCtr="0" anchor="ctr" bIns="26650" lIns="26650" spcFirstLastPara="1" rIns="26650" wrap="square" tIns="26650">
              <a:noAutofit/>
            </a:bodyPr>
            <a:lstStyle/>
            <a:p>
              <a:pPr indent="0" lvl="0" marL="0" marR="0" rtl="0" algn="ctr">
                <a:lnSpc>
                  <a:spcPct val="90000"/>
                </a:lnSpc>
                <a:spcBef>
                  <a:spcPts val="0"/>
                </a:spcBef>
                <a:spcAft>
                  <a:spcPts val="0"/>
                </a:spcAft>
                <a:buClr>
                  <a:srgbClr val="000000"/>
                </a:buClr>
                <a:buSzPts val="2100"/>
                <a:buFont typeface="Arial"/>
                <a:buNone/>
              </a:pPr>
              <a:r>
                <a:rPr b="0" i="0" lang="en-US" sz="2100" u="none" cap="none" strike="noStrike">
                  <a:solidFill>
                    <a:schemeClr val="lt1"/>
                  </a:solidFill>
                  <a:latin typeface="Arial"/>
                  <a:ea typeface="Arial"/>
                  <a:cs typeface="Arial"/>
                  <a:sym typeface="Arial"/>
                </a:rPr>
                <a:t>Artifact</a:t>
              </a:r>
              <a:endParaRPr/>
            </a:p>
          </p:txBody>
        </p:sp>
        <p:sp>
          <p:nvSpPr>
            <p:cNvPr id="857" name="Google Shape;857;p93"/>
            <p:cNvSpPr/>
            <p:nvPr/>
          </p:nvSpPr>
          <p:spPr>
            <a:xfrm rot="-2160000">
              <a:off x="1988578" y="1144581"/>
              <a:ext cx="390315" cy="496876"/>
            </a:xfrm>
            <a:prstGeom prst="rightArrow">
              <a:avLst>
                <a:gd fmla="val 60000" name="adj1"/>
                <a:gd fmla="val 50000" name="adj2"/>
              </a:avLst>
            </a:prstGeom>
            <a:solidFill>
              <a:srgbClr val="6FAB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93"/>
            <p:cNvSpPr txBox="1"/>
            <p:nvPr/>
          </p:nvSpPr>
          <p:spPr>
            <a:xfrm rot="-2160000">
              <a:off x="1999759" y="1278369"/>
              <a:ext cx="273221" cy="29812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700"/>
                <a:buFont typeface="Arial"/>
                <a:buNone/>
              </a:pPr>
              <a:r>
                <a:t/>
              </a:r>
              <a:endParaRPr b="0" i="0" sz="1700" u="none" cap="none" strike="noStrike">
                <a:solidFill>
                  <a:schemeClr val="lt1"/>
                </a:solidFill>
                <a:latin typeface="Arial"/>
                <a:ea typeface="Arial"/>
                <a:cs typeface="Arial"/>
                <a:sym typeface="Arial"/>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SonarCloud Plugin To AzureDevops</a:t>
            </a:r>
            <a:endParaRPr/>
          </a:p>
        </p:txBody>
      </p:sp>
      <p:sp>
        <p:nvSpPr>
          <p:cNvPr id="864" name="Google Shape;864;p94"/>
          <p:cNvSpPr txBox="1"/>
          <p:nvPr>
            <p:ph idx="1" type="body"/>
          </p:nvPr>
        </p:nvSpPr>
        <p:spPr>
          <a:xfrm>
            <a:off x="838200" y="1825625"/>
            <a:ext cx="10515600" cy="82708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Access: </a:t>
            </a:r>
            <a:r>
              <a:rPr lang="en-US" u="sng">
                <a:solidFill>
                  <a:schemeClr val="hlink"/>
                </a:solidFill>
                <a:hlinkClick r:id="rId3"/>
              </a:rPr>
              <a:t>https://marketplace.visualstudio.com/azuredevops</a:t>
            </a:r>
            <a:endParaRPr/>
          </a:p>
        </p:txBody>
      </p:sp>
      <p:pic>
        <p:nvPicPr>
          <p:cNvPr id="865" name="Google Shape;865;p94"/>
          <p:cNvPicPr preferRelativeResize="0"/>
          <p:nvPr/>
        </p:nvPicPr>
        <p:blipFill>
          <a:blip r:embed="rId4">
            <a:alphaModFix/>
          </a:blip>
          <a:stretch>
            <a:fillRect/>
          </a:stretch>
        </p:blipFill>
        <p:spPr>
          <a:xfrm>
            <a:off x="2510700" y="2717201"/>
            <a:ext cx="6404810" cy="3032002"/>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SonarQube Plugin To AzureDevops</a:t>
            </a:r>
            <a:endParaRPr/>
          </a:p>
        </p:txBody>
      </p:sp>
      <p:pic>
        <p:nvPicPr>
          <p:cNvPr id="871" name="Google Shape;871;p95"/>
          <p:cNvPicPr preferRelativeResize="0"/>
          <p:nvPr/>
        </p:nvPicPr>
        <p:blipFill>
          <a:blip r:embed="rId3">
            <a:alphaModFix/>
          </a:blip>
          <a:stretch>
            <a:fillRect/>
          </a:stretch>
        </p:blipFill>
        <p:spPr>
          <a:xfrm>
            <a:off x="1086400" y="2248713"/>
            <a:ext cx="5715001" cy="2578485"/>
          </a:xfrm>
          <a:prstGeom prst="rect">
            <a:avLst/>
          </a:prstGeom>
          <a:noFill/>
          <a:ln>
            <a:noFill/>
          </a:ln>
        </p:spPr>
      </p:pic>
      <p:sp>
        <p:nvSpPr>
          <p:cNvPr id="872" name="Google Shape;872;p95"/>
          <p:cNvSpPr txBox="1"/>
          <p:nvPr/>
        </p:nvSpPr>
        <p:spPr>
          <a:xfrm>
            <a:off x="7122125" y="2471550"/>
            <a:ext cx="3254400" cy="19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Calibri"/>
                <a:ea typeface="Calibri"/>
                <a:cs typeface="Calibri"/>
                <a:sym typeface="Calibri"/>
              </a:rPr>
              <a:t>Get and install the extension into your Azure DevOps organization</a:t>
            </a:r>
            <a:endParaRPr>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9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Output Open Cover Format</a:t>
            </a:r>
            <a:endParaRPr/>
          </a:p>
        </p:txBody>
      </p:sp>
      <p:pic>
        <p:nvPicPr>
          <p:cNvPr id="878" name="Google Shape;878;p96"/>
          <p:cNvPicPr preferRelativeResize="0"/>
          <p:nvPr>
            <p:ph idx="1" type="body"/>
          </p:nvPr>
        </p:nvPicPr>
        <p:blipFill rotWithShape="1">
          <a:blip r:embed="rId3">
            <a:alphaModFix/>
          </a:blip>
          <a:srcRect b="0" l="0" r="0" t="0"/>
          <a:stretch/>
        </p:blipFill>
        <p:spPr>
          <a:xfrm>
            <a:off x="1660251" y="1554404"/>
            <a:ext cx="8871498" cy="484587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SonarQube Tasks</a:t>
            </a:r>
            <a:endParaRPr/>
          </a:p>
        </p:txBody>
      </p:sp>
      <p:pic>
        <p:nvPicPr>
          <p:cNvPr id="884" name="Google Shape;884;p97"/>
          <p:cNvPicPr preferRelativeResize="0"/>
          <p:nvPr/>
        </p:nvPicPr>
        <p:blipFill>
          <a:blip r:embed="rId3">
            <a:alphaModFix/>
          </a:blip>
          <a:stretch>
            <a:fillRect/>
          </a:stretch>
        </p:blipFill>
        <p:spPr>
          <a:xfrm>
            <a:off x="1276350" y="2541163"/>
            <a:ext cx="9639300" cy="30003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98"/>
          <p:cNvSpPr txBox="1"/>
          <p:nvPr>
            <p:ph type="title"/>
          </p:nvPr>
        </p:nvSpPr>
        <p:spPr>
          <a:xfrm>
            <a:off x="838200" y="114300"/>
            <a:ext cx="10515600" cy="736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SonarQube – Prepare Analysis Configuration </a:t>
            </a:r>
            <a:endParaRPr/>
          </a:p>
        </p:txBody>
      </p:sp>
      <p:sp>
        <p:nvSpPr>
          <p:cNvPr id="890" name="Google Shape;890;p98"/>
          <p:cNvSpPr txBox="1"/>
          <p:nvPr>
            <p:ph idx="1" type="body"/>
          </p:nvPr>
        </p:nvSpPr>
        <p:spPr>
          <a:xfrm>
            <a:off x="373062" y="5595937"/>
            <a:ext cx="11222037" cy="1262063"/>
          </a:xfrm>
          <a:prstGeom prst="rect">
            <a:avLst/>
          </a:prstGeom>
          <a:noFill/>
          <a:ln>
            <a:noFill/>
          </a:ln>
        </p:spPr>
        <p:txBody>
          <a:bodyPr anchorCtr="0" anchor="t" bIns="45700" lIns="91425" spcFirstLastPara="1" rIns="91425" wrap="square" tIns="45700">
            <a:normAutofit/>
          </a:bodyPr>
          <a:lstStyle/>
          <a:p>
            <a:pPr indent="-342900" lvl="0" marL="457200" rtl="0" algn="l">
              <a:lnSpc>
                <a:spcPct val="80000"/>
              </a:lnSpc>
              <a:spcBef>
                <a:spcPts val="1000"/>
              </a:spcBef>
              <a:spcAft>
                <a:spcPts val="0"/>
              </a:spcAft>
              <a:buClr>
                <a:schemeClr val="dk1"/>
              </a:buClr>
              <a:buSzPts val="1800"/>
              <a:buChar char="•"/>
            </a:pPr>
            <a:r>
              <a:rPr lang="en-US" sz="2000"/>
              <a:t>Additional Properties:</a:t>
            </a:r>
            <a:endParaRPr/>
          </a:p>
          <a:p>
            <a:pPr indent="0" lvl="0" marL="0" rtl="0" algn="l">
              <a:lnSpc>
                <a:spcPct val="80000"/>
              </a:lnSpc>
              <a:spcBef>
                <a:spcPts val="1000"/>
              </a:spcBef>
              <a:spcAft>
                <a:spcPts val="0"/>
              </a:spcAft>
              <a:buSzPts val="1800"/>
              <a:buNone/>
            </a:pPr>
            <a:r>
              <a:rPr lang="en-US" sz="2000"/>
              <a:t>sonar.organization=workshop</a:t>
            </a:r>
            <a:endParaRPr sz="2000"/>
          </a:p>
          <a:p>
            <a:pPr indent="0" lvl="0" marL="0" rtl="0" algn="l">
              <a:lnSpc>
                <a:spcPct val="80000"/>
              </a:lnSpc>
              <a:spcBef>
                <a:spcPts val="1000"/>
              </a:spcBef>
              <a:spcAft>
                <a:spcPts val="0"/>
              </a:spcAft>
              <a:buSzPts val="1800"/>
              <a:buNone/>
            </a:pPr>
            <a:r>
              <a:rPr lang="en-US" sz="2000"/>
              <a:t>sonar.cs.opencover.reportsPaths=$(Build.SourcesDirectory)/tests/MyToDo.Tests/coverage.opencover.xml</a:t>
            </a:r>
            <a:endParaRPr sz="2000"/>
          </a:p>
          <a:p>
            <a:pPr indent="-228600" lvl="0" marL="457200" rtl="0" algn="l">
              <a:lnSpc>
                <a:spcPct val="80000"/>
              </a:lnSpc>
              <a:spcBef>
                <a:spcPts val="1000"/>
              </a:spcBef>
              <a:spcAft>
                <a:spcPts val="0"/>
              </a:spcAft>
              <a:buClr>
                <a:schemeClr val="dk1"/>
              </a:buClr>
              <a:buSzPts val="1800"/>
              <a:buNone/>
            </a:pPr>
            <a:r>
              <a:t/>
            </a:r>
            <a:endParaRPr sz="2000"/>
          </a:p>
        </p:txBody>
      </p:sp>
      <p:pic>
        <p:nvPicPr>
          <p:cNvPr id="891" name="Google Shape;891;p98"/>
          <p:cNvPicPr preferRelativeResize="0"/>
          <p:nvPr/>
        </p:nvPicPr>
        <p:blipFill>
          <a:blip r:embed="rId3">
            <a:alphaModFix/>
          </a:blip>
          <a:stretch>
            <a:fillRect/>
          </a:stretch>
        </p:blipFill>
        <p:spPr>
          <a:xfrm>
            <a:off x="2580600" y="1155675"/>
            <a:ext cx="7030803" cy="4440238"/>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99"/>
          <p:cNvSpPr txBox="1"/>
          <p:nvPr>
            <p:ph type="title"/>
          </p:nvPr>
        </p:nvSpPr>
        <p:spPr>
          <a:xfrm>
            <a:off x="838200" y="114300"/>
            <a:ext cx="10515600" cy="736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SonarQube – Add SonarCloud Connection </a:t>
            </a:r>
            <a:endParaRPr/>
          </a:p>
        </p:txBody>
      </p:sp>
      <p:sp>
        <p:nvSpPr>
          <p:cNvPr id="897" name="Google Shape;897;p99"/>
          <p:cNvSpPr txBox="1"/>
          <p:nvPr>
            <p:ph idx="1" type="body"/>
          </p:nvPr>
        </p:nvSpPr>
        <p:spPr>
          <a:xfrm>
            <a:off x="373062" y="5595937"/>
            <a:ext cx="11222037" cy="12620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t/>
            </a:r>
            <a:endParaRPr sz="2000"/>
          </a:p>
          <a:p>
            <a:pPr indent="-342900" lvl="0" marL="457200" rtl="0" algn="l">
              <a:lnSpc>
                <a:spcPct val="90000"/>
              </a:lnSpc>
              <a:spcBef>
                <a:spcPts val="1000"/>
              </a:spcBef>
              <a:spcAft>
                <a:spcPts val="0"/>
              </a:spcAft>
              <a:buClr>
                <a:schemeClr val="dk1"/>
              </a:buClr>
              <a:buSzPts val="1800"/>
              <a:buChar char="•"/>
            </a:pPr>
            <a:r>
              <a:rPr lang="en-US" sz="2000"/>
              <a:t>Token: 8a335aa96ba934941bad101a1e72a77e227b12e3</a:t>
            </a:r>
            <a:endParaRPr sz="2000"/>
          </a:p>
          <a:p>
            <a:pPr indent="-228600" lvl="0" marL="457200" rtl="0" algn="l">
              <a:lnSpc>
                <a:spcPct val="90000"/>
              </a:lnSpc>
              <a:spcBef>
                <a:spcPts val="1000"/>
              </a:spcBef>
              <a:spcAft>
                <a:spcPts val="0"/>
              </a:spcAft>
              <a:buClr>
                <a:schemeClr val="dk1"/>
              </a:buClr>
              <a:buSzPts val="1800"/>
              <a:buNone/>
            </a:pPr>
            <a:r>
              <a:t/>
            </a:r>
            <a:endParaRPr sz="2000"/>
          </a:p>
        </p:txBody>
      </p:sp>
      <p:pic>
        <p:nvPicPr>
          <p:cNvPr id="898" name="Google Shape;898;p99"/>
          <p:cNvPicPr preferRelativeResize="0"/>
          <p:nvPr/>
        </p:nvPicPr>
        <p:blipFill rotWithShape="1">
          <a:blip r:embed="rId3">
            <a:alphaModFix/>
          </a:blip>
          <a:srcRect b="0" l="0" r="0" t="0"/>
          <a:stretch/>
        </p:blipFill>
        <p:spPr>
          <a:xfrm>
            <a:off x="793320" y="1410269"/>
            <a:ext cx="5440277" cy="1107834"/>
          </a:xfrm>
          <a:prstGeom prst="rect">
            <a:avLst/>
          </a:prstGeom>
          <a:noFill/>
          <a:ln>
            <a:noFill/>
          </a:ln>
        </p:spPr>
      </p:pic>
      <p:pic>
        <p:nvPicPr>
          <p:cNvPr id="899" name="Google Shape;899;p99"/>
          <p:cNvPicPr preferRelativeResize="0"/>
          <p:nvPr/>
        </p:nvPicPr>
        <p:blipFill>
          <a:blip r:embed="rId4">
            <a:alphaModFix/>
          </a:blip>
          <a:stretch>
            <a:fillRect/>
          </a:stretch>
        </p:blipFill>
        <p:spPr>
          <a:xfrm>
            <a:off x="6942573" y="1059900"/>
            <a:ext cx="3243976" cy="4440237"/>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0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SonarQube – Prepare Analysis Configuration </a:t>
            </a:r>
            <a:endParaRPr/>
          </a:p>
        </p:txBody>
      </p:sp>
      <p:pic>
        <p:nvPicPr>
          <p:cNvPr id="905" name="Google Shape;905;p100"/>
          <p:cNvPicPr preferRelativeResize="0"/>
          <p:nvPr/>
        </p:nvPicPr>
        <p:blipFill rotWithShape="1">
          <a:blip r:embed="rId3">
            <a:alphaModFix/>
          </a:blip>
          <a:srcRect b="0" l="0" r="0" t="0"/>
          <a:stretch/>
        </p:blipFill>
        <p:spPr>
          <a:xfrm>
            <a:off x="495407" y="1770283"/>
            <a:ext cx="5422793" cy="4166578"/>
          </a:xfrm>
          <a:prstGeom prst="rect">
            <a:avLst/>
          </a:prstGeom>
          <a:noFill/>
          <a:ln>
            <a:noFill/>
          </a:ln>
        </p:spPr>
      </p:pic>
      <p:sp>
        <p:nvSpPr>
          <p:cNvPr id="906" name="Google Shape;906;p100"/>
          <p:cNvSpPr txBox="1"/>
          <p:nvPr>
            <p:ph idx="1" type="body"/>
          </p:nvPr>
        </p:nvSpPr>
        <p:spPr>
          <a:xfrm>
            <a:off x="6438900" y="1812925"/>
            <a:ext cx="53213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Because of sonarqube license, the Pipeline will analyze on default branch only (develop) </a:t>
            </a:r>
            <a:endParaRPr/>
          </a:p>
        </p:txBody>
      </p:sp>
      <p:sp>
        <p:nvSpPr>
          <p:cNvPr id="907" name="Google Shape;907;p100"/>
          <p:cNvSpPr txBox="1"/>
          <p:nvPr/>
        </p:nvSpPr>
        <p:spPr>
          <a:xfrm>
            <a:off x="418213" y="6283842"/>
            <a:ext cx="1145303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and(succeeded(), eq(variables['Build.SourceBranch'], 'refs/heads/develop'))</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SonarQube – Run Code Analysis </a:t>
            </a:r>
            <a:endParaRPr/>
          </a:p>
        </p:txBody>
      </p:sp>
      <p:pic>
        <p:nvPicPr>
          <p:cNvPr id="913" name="Google Shape;913;p101"/>
          <p:cNvPicPr preferRelativeResize="0"/>
          <p:nvPr>
            <p:ph idx="1" type="body"/>
          </p:nvPr>
        </p:nvPicPr>
        <p:blipFill rotWithShape="1">
          <a:blip r:embed="rId3">
            <a:alphaModFix/>
          </a:blip>
          <a:srcRect b="0" l="0" r="0" t="0"/>
          <a:stretch/>
        </p:blipFill>
        <p:spPr>
          <a:xfrm>
            <a:off x="2702440" y="1529655"/>
            <a:ext cx="6787120" cy="496322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0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SonarQube – Publish Quality Gate Result </a:t>
            </a:r>
            <a:endParaRPr/>
          </a:p>
        </p:txBody>
      </p:sp>
      <p:pic>
        <p:nvPicPr>
          <p:cNvPr id="919" name="Google Shape;919;p102"/>
          <p:cNvPicPr preferRelativeResize="0"/>
          <p:nvPr>
            <p:ph idx="1" type="body"/>
          </p:nvPr>
        </p:nvPicPr>
        <p:blipFill rotWithShape="1">
          <a:blip r:embed="rId3">
            <a:alphaModFix/>
          </a:blip>
          <a:srcRect b="0" l="0" r="0" t="0"/>
          <a:stretch/>
        </p:blipFill>
        <p:spPr>
          <a:xfrm>
            <a:off x="2767055" y="1573252"/>
            <a:ext cx="6657890" cy="4742607"/>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Execute the pipeline and check the result</a:t>
            </a:r>
            <a:endParaRPr/>
          </a:p>
        </p:txBody>
      </p:sp>
      <p:pic>
        <p:nvPicPr>
          <p:cNvPr id="925" name="Google Shape;925;p103"/>
          <p:cNvPicPr preferRelativeResize="0"/>
          <p:nvPr>
            <p:ph idx="1" type="body"/>
          </p:nvPr>
        </p:nvPicPr>
        <p:blipFill rotWithShape="1">
          <a:blip r:embed="rId3">
            <a:alphaModFix/>
          </a:blip>
          <a:srcRect b="0" l="0" r="0" t="0"/>
          <a:stretch/>
        </p:blipFill>
        <p:spPr>
          <a:xfrm>
            <a:off x="3737282" y="1825625"/>
            <a:ext cx="4717436" cy="4351338"/>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0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Execute the pipeline and check the result</a:t>
            </a:r>
            <a:endParaRPr/>
          </a:p>
        </p:txBody>
      </p:sp>
      <p:pic>
        <p:nvPicPr>
          <p:cNvPr id="931" name="Google Shape;931;p104"/>
          <p:cNvPicPr preferRelativeResize="0"/>
          <p:nvPr>
            <p:ph idx="1" type="body"/>
          </p:nvPr>
        </p:nvPicPr>
        <p:blipFill rotWithShape="1">
          <a:blip r:embed="rId3">
            <a:alphaModFix/>
          </a:blip>
          <a:srcRect b="0" l="0" r="0" t="0"/>
          <a:stretch/>
        </p:blipFill>
        <p:spPr>
          <a:xfrm>
            <a:off x="6022004" y="1367925"/>
            <a:ext cx="5862992" cy="5263732"/>
          </a:xfrm>
          <a:prstGeom prst="rect">
            <a:avLst/>
          </a:prstGeom>
          <a:noFill/>
          <a:ln>
            <a:noFill/>
          </a:ln>
        </p:spPr>
      </p:pic>
      <p:sp>
        <p:nvSpPr>
          <p:cNvPr id="932" name="Google Shape;932;p104"/>
          <p:cNvSpPr txBox="1"/>
          <p:nvPr/>
        </p:nvSpPr>
        <p:spPr>
          <a:xfrm>
            <a:off x="371475" y="1609725"/>
            <a:ext cx="5543550"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Access: </a:t>
            </a:r>
            <a:br>
              <a:rPr b="0" i="0" lang="en-US" sz="1400" u="none" cap="none" strike="noStrike">
                <a:solidFill>
                  <a:srgbClr val="000000"/>
                </a:solidFill>
                <a:latin typeface="Arial"/>
                <a:ea typeface="Arial"/>
                <a:cs typeface="Arial"/>
                <a:sym typeface="Arial"/>
              </a:rPr>
            </a:br>
            <a:r>
              <a:rPr b="0" i="0" lang="en-US" sz="1400" u="sng" cap="none" strike="noStrike">
                <a:solidFill>
                  <a:srgbClr val="000000"/>
                </a:solidFill>
                <a:latin typeface="Arial"/>
                <a:ea typeface="Arial"/>
                <a:cs typeface="Arial"/>
                <a:sym typeface="Arial"/>
                <a:hlinkClick r:id="rId4">
                  <a:extLst>
                    <a:ext uri="{A12FA001-AC4F-418D-AE19-62706E023703}">
                      <ahyp:hlinkClr val="tx"/>
                    </a:ext>
                  </a:extLst>
                </a:hlinkClick>
              </a:rPr>
              <a:t>https://sonarcloud.io/organizations/workshop/projects</a:t>
            </a:r>
            <a:br>
              <a:rPr b="0" i="0" lang="en-US" sz="1400" u="none" cap="none" strike="noStrike">
                <a:solidFill>
                  <a:srgbClr val="000000"/>
                </a:solidFill>
                <a:latin typeface="Arial"/>
                <a:ea typeface="Arial"/>
                <a:cs typeface="Arial"/>
                <a:sym typeface="Arial"/>
              </a:rPr>
            </a:br>
            <a:br>
              <a:rPr b="0" i="0" lang="en-US" sz="1400" u="none" cap="none" strike="noStrike">
                <a:solidFill>
                  <a:srgbClr val="000000"/>
                </a:solidFill>
                <a:latin typeface="Arial"/>
                <a:ea typeface="Arial"/>
                <a:cs typeface="Arial"/>
                <a:sym typeface="Arial"/>
              </a:rPr>
            </a:br>
            <a:r>
              <a:rPr b="0" i="0" lang="en-US" sz="1400" u="none" cap="none" strike="noStrike">
                <a:solidFill>
                  <a:srgbClr val="000000"/>
                </a:solidFill>
                <a:latin typeface="Arial"/>
                <a:ea typeface="Arial"/>
                <a:cs typeface="Arial"/>
                <a:sym typeface="Arial"/>
              </a:rPr>
              <a:t>And find your project</a:t>
            </a: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05"/>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38" name="Google Shape;938;p105"/>
          <p:cNvSpPr/>
          <p:nvPr/>
        </p:nvSpPr>
        <p:spPr>
          <a:xfrm>
            <a:off x="6650285" y="0"/>
            <a:ext cx="5541715" cy="6857999"/>
          </a:xfrm>
          <a:prstGeom prst="rect">
            <a:avLst/>
          </a:prstGeom>
          <a:solidFill>
            <a:srgbClr val="FFFFFF"/>
          </a:solidFill>
          <a:ln>
            <a:noFill/>
          </a:ln>
        </p:spPr>
        <p:txBody>
          <a:bodyPr anchorCtr="0" anchor="t" bIns="146300" lIns="182875" spcFirstLastPara="1" rIns="182875" wrap="square" tIns="14630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rgbClr val="FFFFFF"/>
              </a:solidFill>
              <a:latin typeface="Quattrocento Sans"/>
              <a:ea typeface="Quattrocento Sans"/>
              <a:cs typeface="Quattrocento Sans"/>
              <a:sym typeface="Quattrocento Sans"/>
            </a:endParaRPr>
          </a:p>
        </p:txBody>
      </p:sp>
      <p:sp>
        <p:nvSpPr>
          <p:cNvPr id="939" name="Google Shape;939;p105"/>
          <p:cNvSpPr txBox="1"/>
          <p:nvPr/>
        </p:nvSpPr>
        <p:spPr>
          <a:xfrm>
            <a:off x="274637" y="2125677"/>
            <a:ext cx="3505511" cy="2179058"/>
          </a:xfrm>
          <a:prstGeom prst="rect">
            <a:avLst/>
          </a:prstGeom>
          <a:noFill/>
          <a:ln>
            <a:noFill/>
          </a:ln>
        </p:spPr>
        <p:txBody>
          <a:bodyPr anchorCtr="0" anchor="t" bIns="91425" lIns="146300" spcFirstLastPara="1" rIns="146300" wrap="square" tIns="91425">
            <a:spAutoFit/>
          </a:bodyPr>
          <a:lstStyle/>
          <a:p>
            <a:pPr indent="0" lvl="0" marL="0" marR="0" rtl="0" algn="l">
              <a:lnSpc>
                <a:spcPct val="90000"/>
              </a:lnSpc>
              <a:spcBef>
                <a:spcPts val="0"/>
              </a:spcBef>
              <a:spcAft>
                <a:spcPts val="0"/>
              </a:spcAft>
              <a:buClr>
                <a:srgbClr val="000000"/>
              </a:buClr>
              <a:buSzPts val="4800"/>
              <a:buFont typeface="Arial"/>
              <a:buNone/>
            </a:pPr>
            <a:r>
              <a:rPr b="0" i="0" lang="en-US" sz="4800" u="none" cap="none" strike="noStrike">
                <a:solidFill>
                  <a:srgbClr val="FFFFFF"/>
                </a:solidFill>
                <a:latin typeface="Quattrocento Sans"/>
                <a:ea typeface="Quattrocento Sans"/>
                <a:cs typeface="Quattrocento Sans"/>
                <a:sym typeface="Quattrocento Sans"/>
              </a:rPr>
              <a:t>Configure Branch Protection</a:t>
            </a:r>
            <a:endParaRPr b="0" i="0" sz="4800" u="none" cap="none" strike="noStrike">
              <a:solidFill>
                <a:srgbClr val="FFFFFF"/>
              </a:solidFill>
              <a:latin typeface="Quattrocento Sans"/>
              <a:ea typeface="Quattrocento Sans"/>
              <a:cs typeface="Quattrocento Sans"/>
              <a:sym typeface="Quattrocento Sans"/>
            </a:endParaRPr>
          </a:p>
        </p:txBody>
      </p:sp>
      <p:pic>
        <p:nvPicPr>
          <p:cNvPr id="940" name="Google Shape;940;p105"/>
          <p:cNvPicPr preferRelativeResize="0"/>
          <p:nvPr/>
        </p:nvPicPr>
        <p:blipFill rotWithShape="1">
          <a:blip r:embed="rId3">
            <a:alphaModFix/>
          </a:blip>
          <a:srcRect b="21406" l="2210" r="4124" t="12679"/>
          <a:stretch/>
        </p:blipFill>
        <p:spPr>
          <a:xfrm>
            <a:off x="6957221" y="2694570"/>
            <a:ext cx="5158818" cy="1997777"/>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0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Update Branch Policies</a:t>
            </a:r>
            <a:endParaRPr/>
          </a:p>
        </p:txBody>
      </p:sp>
      <p:pic>
        <p:nvPicPr>
          <p:cNvPr id="946" name="Google Shape;946;p106"/>
          <p:cNvPicPr preferRelativeResize="0"/>
          <p:nvPr>
            <p:ph idx="1" type="body"/>
          </p:nvPr>
        </p:nvPicPr>
        <p:blipFill rotWithShape="1">
          <a:blip r:embed="rId3">
            <a:alphaModFix/>
          </a:blip>
          <a:srcRect b="0" l="0" r="0" t="0"/>
          <a:stretch/>
        </p:blipFill>
        <p:spPr>
          <a:xfrm>
            <a:off x="1927215" y="1825625"/>
            <a:ext cx="8337570" cy="4351338"/>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0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Require A Minimum Number Of Reviews</a:t>
            </a:r>
            <a:endParaRPr/>
          </a:p>
        </p:txBody>
      </p:sp>
      <p:pic>
        <p:nvPicPr>
          <p:cNvPr id="952" name="Google Shape;952;p107"/>
          <p:cNvPicPr preferRelativeResize="0"/>
          <p:nvPr>
            <p:ph idx="1" type="body"/>
          </p:nvPr>
        </p:nvPicPr>
        <p:blipFill rotWithShape="1">
          <a:blip r:embed="rId3">
            <a:alphaModFix/>
          </a:blip>
          <a:srcRect b="0" l="0" r="0" t="0"/>
          <a:stretch/>
        </p:blipFill>
        <p:spPr>
          <a:xfrm>
            <a:off x="1058796" y="1690689"/>
            <a:ext cx="8796404" cy="3580636"/>
          </a:xfrm>
          <a:prstGeom prst="rect">
            <a:avLst/>
          </a:prstGeom>
          <a:noFill/>
          <a:ln>
            <a:noFill/>
          </a:ln>
        </p:spPr>
      </p:pic>
      <p:sp>
        <p:nvSpPr>
          <p:cNvPr id="953" name="Google Shape;953;p107"/>
          <p:cNvSpPr txBox="1"/>
          <p:nvPr/>
        </p:nvSpPr>
        <p:spPr>
          <a:xfrm>
            <a:off x="571500" y="5613400"/>
            <a:ext cx="11341100" cy="12319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2800"/>
              <a:buFont typeface="Arial"/>
              <a:buChar char="•"/>
            </a:pPr>
            <a:r>
              <a:rPr b="0" i="0" lang="en-US" sz="2800" u="none" cap="none" strike="noStrike">
                <a:solidFill>
                  <a:srgbClr val="FF0000"/>
                </a:solidFill>
                <a:latin typeface="Arial"/>
                <a:ea typeface="Arial"/>
                <a:cs typeface="Arial"/>
                <a:sym typeface="Arial"/>
              </a:rPr>
              <a:t>In this workshop we will not set Require A Minimum Number Of Reviews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10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For Linked Work Items</a:t>
            </a:r>
            <a:endParaRPr/>
          </a:p>
        </p:txBody>
      </p:sp>
      <p:pic>
        <p:nvPicPr>
          <p:cNvPr id="959" name="Google Shape;959;p108"/>
          <p:cNvPicPr preferRelativeResize="0"/>
          <p:nvPr>
            <p:ph idx="1" type="body"/>
          </p:nvPr>
        </p:nvPicPr>
        <p:blipFill rotWithShape="1">
          <a:blip r:embed="rId3">
            <a:alphaModFix/>
          </a:blip>
          <a:srcRect b="0" l="0" r="0" t="0"/>
          <a:stretch/>
        </p:blipFill>
        <p:spPr>
          <a:xfrm>
            <a:off x="568659" y="2481264"/>
            <a:ext cx="11054682" cy="2727343"/>
          </a:xfrm>
          <a:prstGeom prst="rect">
            <a:avLst/>
          </a:prstGeom>
          <a:noFill/>
          <a:ln>
            <a:noFill/>
          </a:ln>
        </p:spPr>
      </p:pic>
      <p:sp>
        <p:nvSpPr>
          <p:cNvPr id="960" name="Google Shape;960;p108"/>
          <p:cNvSpPr/>
          <p:nvPr/>
        </p:nvSpPr>
        <p:spPr>
          <a:xfrm>
            <a:off x="723900" y="5620435"/>
            <a:ext cx="10198100" cy="46166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FF0000"/>
                </a:solidFill>
                <a:latin typeface="Arial"/>
                <a:ea typeface="Arial"/>
                <a:cs typeface="Arial"/>
                <a:sym typeface="Arial"/>
              </a:rPr>
              <a:t>In this workshop we will not set Check For Linked Work Items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0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For Comment Resolution</a:t>
            </a:r>
            <a:endParaRPr/>
          </a:p>
        </p:txBody>
      </p:sp>
      <p:pic>
        <p:nvPicPr>
          <p:cNvPr id="966" name="Google Shape;966;p109"/>
          <p:cNvPicPr preferRelativeResize="0"/>
          <p:nvPr>
            <p:ph idx="1" type="body"/>
          </p:nvPr>
        </p:nvPicPr>
        <p:blipFill rotWithShape="1">
          <a:blip r:embed="rId3">
            <a:alphaModFix/>
          </a:blip>
          <a:srcRect b="0" l="0" r="0" t="0"/>
          <a:stretch/>
        </p:blipFill>
        <p:spPr>
          <a:xfrm>
            <a:off x="425606" y="2608091"/>
            <a:ext cx="11546674" cy="284358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Limit Merge Types</a:t>
            </a:r>
            <a:endParaRPr/>
          </a:p>
        </p:txBody>
      </p:sp>
      <p:pic>
        <p:nvPicPr>
          <p:cNvPr id="972" name="Google Shape;972;p110"/>
          <p:cNvPicPr preferRelativeResize="0"/>
          <p:nvPr>
            <p:ph idx="1" type="body"/>
          </p:nvPr>
        </p:nvPicPr>
        <p:blipFill rotWithShape="1">
          <a:blip r:embed="rId3">
            <a:alphaModFix/>
          </a:blip>
          <a:srcRect b="0" l="0" r="0" t="0"/>
          <a:stretch/>
        </p:blipFill>
        <p:spPr>
          <a:xfrm>
            <a:off x="1231170" y="2305970"/>
            <a:ext cx="9729659" cy="3562393"/>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Build Validation</a:t>
            </a:r>
            <a:endParaRPr/>
          </a:p>
        </p:txBody>
      </p:sp>
      <p:pic>
        <p:nvPicPr>
          <p:cNvPr id="978" name="Google Shape;978;p111"/>
          <p:cNvPicPr preferRelativeResize="0"/>
          <p:nvPr>
            <p:ph idx="1" type="body"/>
          </p:nvPr>
        </p:nvPicPr>
        <p:blipFill rotWithShape="1">
          <a:blip r:embed="rId3">
            <a:alphaModFix/>
          </a:blip>
          <a:srcRect b="0" l="0" r="0" t="0"/>
          <a:stretch/>
        </p:blipFill>
        <p:spPr>
          <a:xfrm>
            <a:off x="1572420" y="2044964"/>
            <a:ext cx="7588979" cy="1384036"/>
          </a:xfrm>
          <a:prstGeom prst="rect">
            <a:avLst/>
          </a:prstGeom>
          <a:noFill/>
          <a:ln>
            <a:noFill/>
          </a:ln>
        </p:spPr>
      </p:pic>
      <p:pic>
        <p:nvPicPr>
          <p:cNvPr descr="C:\Users\dinhnc\AppData\Local\Temp\SNAGHTML246aa22d.PNG" id="979" name="Google Shape;979;p111"/>
          <p:cNvPicPr preferRelativeResize="0"/>
          <p:nvPr/>
        </p:nvPicPr>
        <p:blipFill rotWithShape="1">
          <a:blip r:embed="rId4">
            <a:alphaModFix/>
          </a:blip>
          <a:srcRect b="0" l="0" r="0" t="0"/>
          <a:stretch/>
        </p:blipFill>
        <p:spPr>
          <a:xfrm>
            <a:off x="6096000" y="1378150"/>
            <a:ext cx="4002067" cy="547985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Automatically Include Code Reviewers</a:t>
            </a:r>
            <a:endParaRPr/>
          </a:p>
        </p:txBody>
      </p:sp>
      <p:pic>
        <p:nvPicPr>
          <p:cNvPr id="985" name="Google Shape;985;p112"/>
          <p:cNvPicPr preferRelativeResize="0"/>
          <p:nvPr>
            <p:ph idx="1" type="body"/>
          </p:nvPr>
        </p:nvPicPr>
        <p:blipFill rotWithShape="1">
          <a:blip r:embed="rId3">
            <a:alphaModFix/>
          </a:blip>
          <a:srcRect b="0" l="0" r="0" t="0"/>
          <a:stretch/>
        </p:blipFill>
        <p:spPr>
          <a:xfrm>
            <a:off x="1209163" y="2878319"/>
            <a:ext cx="5399981" cy="1195969"/>
          </a:xfrm>
          <a:prstGeom prst="rect">
            <a:avLst/>
          </a:prstGeom>
          <a:noFill/>
          <a:ln>
            <a:noFill/>
          </a:ln>
        </p:spPr>
      </p:pic>
      <p:pic>
        <p:nvPicPr>
          <p:cNvPr id="986" name="Google Shape;986;p112"/>
          <p:cNvPicPr preferRelativeResize="0"/>
          <p:nvPr/>
        </p:nvPicPr>
        <p:blipFill rotWithShape="1">
          <a:blip r:embed="rId4">
            <a:alphaModFix/>
          </a:blip>
          <a:srcRect b="0" l="0" r="0" t="0"/>
          <a:stretch/>
        </p:blipFill>
        <p:spPr>
          <a:xfrm>
            <a:off x="7183712" y="1325563"/>
            <a:ext cx="4419229" cy="5167312"/>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Save Policies</a:t>
            </a:r>
            <a:endParaRPr/>
          </a:p>
        </p:txBody>
      </p:sp>
      <p:pic>
        <p:nvPicPr>
          <p:cNvPr id="992" name="Google Shape;992;p113"/>
          <p:cNvPicPr preferRelativeResize="0"/>
          <p:nvPr>
            <p:ph idx="1" type="body"/>
          </p:nvPr>
        </p:nvPicPr>
        <p:blipFill rotWithShape="1">
          <a:blip r:embed="rId3">
            <a:alphaModFix/>
          </a:blip>
          <a:srcRect b="0" l="0" r="0" t="0"/>
          <a:stretch/>
        </p:blipFill>
        <p:spPr>
          <a:xfrm>
            <a:off x="1588541" y="2016884"/>
            <a:ext cx="9014917" cy="3839906"/>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Modify the code to make the pipeline fail</a:t>
            </a:r>
            <a:endParaRPr/>
          </a:p>
        </p:txBody>
      </p:sp>
      <p:sp>
        <p:nvSpPr>
          <p:cNvPr id="998" name="Google Shape;998;p1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Clone repository to your local</a:t>
            </a:r>
            <a:endParaRPr/>
          </a:p>
          <a:p>
            <a:pPr indent="-342900" lvl="0" marL="457200" rtl="0" algn="l">
              <a:lnSpc>
                <a:spcPct val="90000"/>
              </a:lnSpc>
              <a:spcBef>
                <a:spcPts val="1000"/>
              </a:spcBef>
              <a:spcAft>
                <a:spcPts val="0"/>
              </a:spcAft>
              <a:buClr>
                <a:schemeClr val="dk1"/>
              </a:buClr>
              <a:buSzPts val="1800"/>
              <a:buChar char="•"/>
            </a:pPr>
            <a:r>
              <a:rPr lang="en-US"/>
              <a:t>Create and checkout new branch: `</a:t>
            </a:r>
            <a:r>
              <a:rPr lang="en-US">
                <a:solidFill>
                  <a:srgbClr val="FF0000"/>
                </a:solidFill>
              </a:rPr>
              <a:t>feature/update-done-status</a:t>
            </a:r>
            <a:r>
              <a:rPr lang="en-US"/>
              <a:t>`</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1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Modify the code to make the pipeline fail</a:t>
            </a:r>
            <a:endParaRPr/>
          </a:p>
        </p:txBody>
      </p:sp>
      <p:sp>
        <p:nvSpPr>
          <p:cNvPr id="1004" name="Google Shape;1004;p115"/>
          <p:cNvSpPr txBox="1"/>
          <p:nvPr>
            <p:ph idx="1" type="body"/>
          </p:nvPr>
        </p:nvSpPr>
        <p:spPr>
          <a:xfrm>
            <a:off x="838200" y="1825625"/>
            <a:ext cx="1082548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Add new test case: ToDo Item mark complete should set Is Done To True</a:t>
            </a:r>
            <a:endParaRPr/>
          </a:p>
          <a:p>
            <a:pPr indent="0" lvl="0" marL="0" rtl="0" algn="l">
              <a:lnSpc>
                <a:spcPct val="90000"/>
              </a:lnSpc>
              <a:spcBef>
                <a:spcPts val="1000"/>
              </a:spcBef>
              <a:spcAft>
                <a:spcPts val="0"/>
              </a:spcAft>
              <a:buSzPts val="1800"/>
              <a:buNone/>
            </a:pPr>
            <a:r>
              <a:t/>
            </a:r>
            <a:endParaRPr/>
          </a:p>
        </p:txBody>
      </p:sp>
      <p:pic>
        <p:nvPicPr>
          <p:cNvPr id="1005" name="Google Shape;1005;p115"/>
          <p:cNvPicPr preferRelativeResize="0"/>
          <p:nvPr/>
        </p:nvPicPr>
        <p:blipFill rotWithShape="1">
          <a:blip r:embed="rId3">
            <a:alphaModFix/>
          </a:blip>
          <a:srcRect b="0" l="0" r="0" t="0"/>
          <a:stretch/>
        </p:blipFill>
        <p:spPr>
          <a:xfrm>
            <a:off x="838200" y="2426865"/>
            <a:ext cx="5948522" cy="4066009"/>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Modify the code to make the pipeline fail</a:t>
            </a:r>
            <a:endParaRPr/>
          </a:p>
        </p:txBody>
      </p:sp>
      <p:sp>
        <p:nvSpPr>
          <p:cNvPr id="1011" name="Google Shape;1011;p116"/>
          <p:cNvSpPr txBox="1"/>
          <p:nvPr>
            <p:ph idx="1" type="body"/>
          </p:nvPr>
        </p:nvSpPr>
        <p:spPr>
          <a:xfrm>
            <a:off x="6454588" y="1825625"/>
            <a:ext cx="4899212"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Implement feature:</a:t>
            </a:r>
            <a:br>
              <a:rPr lang="en-US"/>
            </a:br>
            <a:br>
              <a:rPr lang="en-US"/>
            </a:br>
            <a:r>
              <a:rPr lang="en-US"/>
              <a:t>We should set </a:t>
            </a:r>
            <a:r>
              <a:rPr lang="en-US">
                <a:solidFill>
                  <a:srgbClr val="FF0000"/>
                </a:solidFill>
              </a:rPr>
              <a:t>IsDone = true </a:t>
            </a:r>
            <a:r>
              <a:rPr lang="en-US"/>
              <a:t>but we will set it to </a:t>
            </a:r>
            <a:r>
              <a:rPr lang="en-US">
                <a:solidFill>
                  <a:srgbClr val="FF0000"/>
                </a:solidFill>
              </a:rPr>
              <a:t>false</a:t>
            </a:r>
            <a:r>
              <a:rPr lang="en-US"/>
              <a:t> to make the pipeline fail</a:t>
            </a:r>
            <a:endParaRPr/>
          </a:p>
          <a:p>
            <a:pPr indent="0" lvl="0" marL="0" rtl="0" algn="l">
              <a:lnSpc>
                <a:spcPct val="90000"/>
              </a:lnSpc>
              <a:spcBef>
                <a:spcPts val="1000"/>
              </a:spcBef>
              <a:spcAft>
                <a:spcPts val="0"/>
              </a:spcAft>
              <a:buSzPts val="1800"/>
              <a:buNone/>
            </a:pPr>
            <a:r>
              <a:t/>
            </a:r>
            <a:endParaRPr/>
          </a:p>
        </p:txBody>
      </p:sp>
      <p:pic>
        <p:nvPicPr>
          <p:cNvPr id="1012" name="Google Shape;1012;p116"/>
          <p:cNvPicPr preferRelativeResize="0"/>
          <p:nvPr/>
        </p:nvPicPr>
        <p:blipFill rotWithShape="1">
          <a:blip r:embed="rId3">
            <a:alphaModFix/>
          </a:blip>
          <a:srcRect b="0" l="0" r="0" t="0"/>
          <a:stretch/>
        </p:blipFill>
        <p:spPr>
          <a:xfrm>
            <a:off x="251582" y="1709514"/>
            <a:ext cx="5844418" cy="4389229"/>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a Pull request</a:t>
            </a:r>
            <a:endParaRPr/>
          </a:p>
        </p:txBody>
      </p:sp>
      <p:pic>
        <p:nvPicPr>
          <p:cNvPr id="1018" name="Google Shape;1018;p117"/>
          <p:cNvPicPr preferRelativeResize="0"/>
          <p:nvPr/>
        </p:nvPicPr>
        <p:blipFill rotWithShape="1">
          <a:blip r:embed="rId3">
            <a:alphaModFix/>
          </a:blip>
          <a:srcRect b="0" l="0" r="0" t="0"/>
          <a:stretch/>
        </p:blipFill>
        <p:spPr>
          <a:xfrm>
            <a:off x="4405810" y="1437510"/>
            <a:ext cx="7032899" cy="5291583"/>
          </a:xfrm>
          <a:prstGeom prst="rect">
            <a:avLst/>
          </a:prstGeom>
          <a:noFill/>
          <a:ln>
            <a:noFill/>
          </a:ln>
        </p:spPr>
      </p:pic>
      <p:sp>
        <p:nvSpPr>
          <p:cNvPr id="1019" name="Google Shape;1019;p117"/>
          <p:cNvSpPr txBox="1"/>
          <p:nvPr>
            <p:ph idx="1" type="body"/>
          </p:nvPr>
        </p:nvSpPr>
        <p:spPr>
          <a:xfrm>
            <a:off x="391160" y="1690688"/>
            <a:ext cx="3408680" cy="4896986"/>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Push the code to remote</a:t>
            </a:r>
            <a:endParaRPr/>
          </a:p>
          <a:p>
            <a:pPr indent="-342900" lvl="0" marL="457200" rtl="0" algn="l">
              <a:lnSpc>
                <a:spcPct val="90000"/>
              </a:lnSpc>
              <a:spcBef>
                <a:spcPts val="1000"/>
              </a:spcBef>
              <a:spcAft>
                <a:spcPts val="0"/>
              </a:spcAft>
              <a:buClr>
                <a:schemeClr val="dk1"/>
              </a:buClr>
              <a:buSzPts val="1800"/>
              <a:buChar char="•"/>
            </a:pPr>
            <a:r>
              <a:rPr lang="en-US"/>
              <a:t>Go to </a:t>
            </a:r>
            <a:r>
              <a:rPr b="1" lang="en-US"/>
              <a:t>Pull Requests </a:t>
            </a:r>
            <a:r>
              <a:rPr lang="en-US"/>
              <a:t>then make a new Pull request</a:t>
            </a:r>
            <a:endParaRPr b="1"/>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CI result</a:t>
            </a:r>
            <a:endParaRPr/>
          </a:p>
        </p:txBody>
      </p:sp>
      <p:pic>
        <p:nvPicPr>
          <p:cNvPr id="1025" name="Google Shape;1025;p118"/>
          <p:cNvPicPr preferRelativeResize="0"/>
          <p:nvPr/>
        </p:nvPicPr>
        <p:blipFill rotWithShape="1">
          <a:blip r:embed="rId3">
            <a:alphaModFix/>
          </a:blip>
          <a:srcRect b="0" l="0" r="0" t="0"/>
          <a:stretch/>
        </p:blipFill>
        <p:spPr>
          <a:xfrm>
            <a:off x="2478338" y="1571785"/>
            <a:ext cx="7235324" cy="485475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test result</a:t>
            </a:r>
            <a:endParaRPr/>
          </a:p>
        </p:txBody>
      </p:sp>
      <p:pic>
        <p:nvPicPr>
          <p:cNvPr id="1031" name="Google Shape;1031;p119"/>
          <p:cNvPicPr preferRelativeResize="0"/>
          <p:nvPr/>
        </p:nvPicPr>
        <p:blipFill rotWithShape="1">
          <a:blip r:embed="rId3">
            <a:alphaModFix/>
          </a:blip>
          <a:srcRect b="0" l="0" r="0" t="0"/>
          <a:stretch/>
        </p:blipFill>
        <p:spPr>
          <a:xfrm>
            <a:off x="2883049" y="1549255"/>
            <a:ext cx="8767483" cy="4855609"/>
          </a:xfrm>
          <a:prstGeom prst="rect">
            <a:avLst/>
          </a:prstGeom>
          <a:noFill/>
          <a:ln>
            <a:noFill/>
          </a:ln>
        </p:spPr>
      </p:pic>
      <p:pic>
        <p:nvPicPr>
          <p:cNvPr id="1032" name="Google Shape;1032;p119"/>
          <p:cNvPicPr preferRelativeResize="0"/>
          <p:nvPr/>
        </p:nvPicPr>
        <p:blipFill rotWithShape="1">
          <a:blip r:embed="rId4">
            <a:alphaModFix/>
          </a:blip>
          <a:srcRect b="0" l="0" r="0" t="0"/>
          <a:stretch/>
        </p:blipFill>
        <p:spPr>
          <a:xfrm>
            <a:off x="102667" y="1549255"/>
            <a:ext cx="2575783" cy="1112616"/>
          </a:xfrm>
          <a:prstGeom prst="rect">
            <a:avLst/>
          </a:prstGeom>
          <a:noFill/>
          <a:ln>
            <a:noFill/>
          </a:ln>
        </p:spPr>
      </p:pic>
      <p:sp>
        <p:nvSpPr>
          <p:cNvPr id="1033" name="Google Shape;1033;p119"/>
          <p:cNvSpPr/>
          <p:nvPr/>
        </p:nvSpPr>
        <p:spPr>
          <a:xfrm>
            <a:off x="1696720" y="2915920"/>
            <a:ext cx="802640" cy="416560"/>
          </a:xfrm>
          <a:prstGeom prst="rightArrow">
            <a:avLst>
              <a:gd fmla="val 50000" name="adj1"/>
              <a:gd fmla="val 50000" name="adj2"/>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Modify the code to make the pipeline pass</a:t>
            </a:r>
            <a:endParaRPr/>
          </a:p>
        </p:txBody>
      </p:sp>
      <p:pic>
        <p:nvPicPr>
          <p:cNvPr id="1039" name="Google Shape;1039;p120"/>
          <p:cNvPicPr preferRelativeResize="0"/>
          <p:nvPr/>
        </p:nvPicPr>
        <p:blipFill rotWithShape="1">
          <a:blip r:embed="rId3">
            <a:alphaModFix/>
          </a:blip>
          <a:srcRect b="0" l="0" r="0" t="0"/>
          <a:stretch/>
        </p:blipFill>
        <p:spPr>
          <a:xfrm>
            <a:off x="838200" y="3128384"/>
            <a:ext cx="10447113" cy="2906656"/>
          </a:xfrm>
          <a:prstGeom prst="rect">
            <a:avLst/>
          </a:prstGeom>
          <a:noFill/>
          <a:ln>
            <a:noFill/>
          </a:ln>
        </p:spPr>
      </p:pic>
      <p:sp>
        <p:nvSpPr>
          <p:cNvPr id="1040" name="Google Shape;1040;p120"/>
          <p:cNvSpPr txBox="1"/>
          <p:nvPr>
            <p:ph idx="1" type="body"/>
          </p:nvPr>
        </p:nvSpPr>
        <p:spPr>
          <a:xfrm>
            <a:off x="838200" y="1825625"/>
            <a:ext cx="10515600" cy="18116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Update feature: Set </a:t>
            </a:r>
            <a:r>
              <a:rPr lang="en-US">
                <a:solidFill>
                  <a:srgbClr val="FF0000"/>
                </a:solidFill>
              </a:rPr>
              <a:t>IsDone = true </a:t>
            </a:r>
            <a:r>
              <a:rPr lang="en-US"/>
              <a:t>to make the pipeline pass</a:t>
            </a:r>
            <a:endParaRPr/>
          </a:p>
          <a:p>
            <a:pPr indent="0" lvl="0" marL="0" rtl="0" algn="l">
              <a:lnSpc>
                <a:spcPct val="90000"/>
              </a:lnSpc>
              <a:spcBef>
                <a:spcPts val="1000"/>
              </a:spcBef>
              <a:spcAft>
                <a:spcPts val="0"/>
              </a:spcAft>
              <a:buSzPts val="1800"/>
              <a:buNone/>
            </a:pPr>
            <a:r>
              <a:rPr lang="en-US"/>
              <a:t>Push the code to remote</a:t>
            </a:r>
            <a:endParaRPr/>
          </a:p>
          <a:p>
            <a:pPr indent="0" lvl="0" marL="0" rtl="0" algn="l">
              <a:lnSpc>
                <a:spcPct val="90000"/>
              </a:lnSpc>
              <a:spcBef>
                <a:spcPts val="1000"/>
              </a:spcBef>
              <a:spcAft>
                <a:spcPts val="0"/>
              </a:spcAft>
              <a:buSzPts val="1800"/>
              <a:buNone/>
            </a:pPr>
            <a:r>
              <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policies and complete PR</a:t>
            </a:r>
            <a:endParaRPr/>
          </a:p>
        </p:txBody>
      </p:sp>
      <p:pic>
        <p:nvPicPr>
          <p:cNvPr id="1046" name="Google Shape;1046;p121"/>
          <p:cNvPicPr preferRelativeResize="0"/>
          <p:nvPr/>
        </p:nvPicPr>
        <p:blipFill rotWithShape="1">
          <a:blip r:embed="rId3">
            <a:alphaModFix/>
          </a:blip>
          <a:srcRect b="0" l="0" r="0" t="0"/>
          <a:stretch/>
        </p:blipFill>
        <p:spPr>
          <a:xfrm>
            <a:off x="2205812" y="1485218"/>
            <a:ext cx="7780375" cy="5085497"/>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Complete the pull request</a:t>
            </a:r>
            <a:endParaRPr/>
          </a:p>
        </p:txBody>
      </p:sp>
      <p:pic>
        <p:nvPicPr>
          <p:cNvPr id="1052" name="Google Shape;1052;p122"/>
          <p:cNvPicPr preferRelativeResize="0"/>
          <p:nvPr/>
        </p:nvPicPr>
        <p:blipFill rotWithShape="1">
          <a:blip r:embed="rId3">
            <a:alphaModFix/>
          </a:blip>
          <a:srcRect b="0" l="0" r="0" t="0"/>
          <a:stretch/>
        </p:blipFill>
        <p:spPr>
          <a:xfrm>
            <a:off x="2967671" y="1308550"/>
            <a:ext cx="6003609" cy="55494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CI will automatic trigger on develop after merge</a:t>
            </a:r>
            <a:endParaRPr/>
          </a:p>
        </p:txBody>
      </p:sp>
      <p:pic>
        <p:nvPicPr>
          <p:cNvPr id="1058" name="Google Shape;1058;p123"/>
          <p:cNvPicPr preferRelativeResize="0"/>
          <p:nvPr/>
        </p:nvPicPr>
        <p:blipFill rotWithShape="1">
          <a:blip r:embed="rId3">
            <a:alphaModFix/>
          </a:blip>
          <a:srcRect b="0" l="0" r="0" t="0"/>
          <a:stretch/>
        </p:blipFill>
        <p:spPr>
          <a:xfrm>
            <a:off x="406401" y="2556258"/>
            <a:ext cx="11150600" cy="316033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24"/>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4" name="Google Shape;1064;p124"/>
          <p:cNvSpPr/>
          <p:nvPr/>
        </p:nvSpPr>
        <p:spPr>
          <a:xfrm>
            <a:off x="6650285" y="0"/>
            <a:ext cx="5541715" cy="6857999"/>
          </a:xfrm>
          <a:prstGeom prst="rect">
            <a:avLst/>
          </a:prstGeom>
          <a:solidFill>
            <a:srgbClr val="FFFFFF"/>
          </a:solidFill>
          <a:ln>
            <a:noFill/>
          </a:ln>
        </p:spPr>
        <p:txBody>
          <a:bodyPr anchorCtr="0" anchor="t" bIns="146300" lIns="182875" spcFirstLastPara="1" rIns="182875" wrap="square" tIns="14630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rgbClr val="FFFFFF"/>
              </a:solidFill>
              <a:latin typeface="Quattrocento Sans"/>
              <a:ea typeface="Quattrocento Sans"/>
              <a:cs typeface="Quattrocento Sans"/>
              <a:sym typeface="Quattrocento Sans"/>
            </a:endParaRPr>
          </a:p>
        </p:txBody>
      </p:sp>
      <p:sp>
        <p:nvSpPr>
          <p:cNvPr id="1065" name="Google Shape;1065;p124"/>
          <p:cNvSpPr txBox="1"/>
          <p:nvPr/>
        </p:nvSpPr>
        <p:spPr>
          <a:xfrm>
            <a:off x="274637" y="2125677"/>
            <a:ext cx="3458377" cy="2428357"/>
          </a:xfrm>
          <a:prstGeom prst="rect">
            <a:avLst/>
          </a:prstGeom>
          <a:noFill/>
          <a:ln>
            <a:noFill/>
          </a:ln>
        </p:spPr>
        <p:txBody>
          <a:bodyPr anchorCtr="0" anchor="t" bIns="91425" lIns="146300" spcFirstLastPara="1" rIns="146300" wrap="square" tIns="91425">
            <a:spAutoFit/>
          </a:bodyPr>
          <a:lstStyle/>
          <a:p>
            <a:pPr indent="0" lvl="0" marL="0" marR="0" rtl="0" algn="l">
              <a:lnSpc>
                <a:spcPct val="90000"/>
              </a:lnSpc>
              <a:spcBef>
                <a:spcPts val="0"/>
              </a:spcBef>
              <a:spcAft>
                <a:spcPts val="0"/>
              </a:spcAft>
              <a:buClr>
                <a:srgbClr val="000000"/>
              </a:buClr>
              <a:buSzPts val="5400"/>
              <a:buFont typeface="Arial"/>
              <a:buNone/>
            </a:pPr>
            <a:r>
              <a:rPr b="0" i="0" lang="en-US" sz="5400" u="none" cap="none" strike="noStrike">
                <a:solidFill>
                  <a:srgbClr val="FFFFFF"/>
                </a:solidFill>
                <a:latin typeface="Quattrocento Sans"/>
                <a:ea typeface="Quattrocento Sans"/>
                <a:cs typeface="Quattrocento Sans"/>
                <a:sym typeface="Quattrocento Sans"/>
              </a:rPr>
              <a:t>Creation of Release Pipeline</a:t>
            </a:r>
            <a:endParaRPr b="0" i="0" sz="5400" u="none" cap="none" strike="noStrike">
              <a:solidFill>
                <a:srgbClr val="FFFFFF"/>
              </a:solidFill>
              <a:latin typeface="Quattrocento Sans"/>
              <a:ea typeface="Quattrocento Sans"/>
              <a:cs typeface="Quattrocento Sans"/>
              <a:sym typeface="Quattrocento Sans"/>
            </a:endParaRPr>
          </a:p>
        </p:txBody>
      </p:sp>
      <p:pic>
        <p:nvPicPr>
          <p:cNvPr id="1066" name="Google Shape;1066;p124"/>
          <p:cNvPicPr preferRelativeResize="0"/>
          <p:nvPr/>
        </p:nvPicPr>
        <p:blipFill rotWithShape="1">
          <a:blip r:embed="rId3">
            <a:alphaModFix/>
          </a:blip>
          <a:srcRect b="21406" l="2210" r="4124" t="12679"/>
          <a:stretch/>
        </p:blipFill>
        <p:spPr>
          <a:xfrm>
            <a:off x="6957221" y="2694570"/>
            <a:ext cx="5158818" cy="1997777"/>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25"/>
          <p:cNvSpPr txBox="1"/>
          <p:nvPr>
            <p:ph type="title"/>
          </p:nvPr>
        </p:nvSpPr>
        <p:spPr>
          <a:xfrm>
            <a:off x="838200" y="365125"/>
            <a:ext cx="1050036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Automatically deployed to DEV environment</a:t>
            </a:r>
            <a:endParaRPr/>
          </a:p>
        </p:txBody>
      </p:sp>
      <p:grpSp>
        <p:nvGrpSpPr>
          <p:cNvPr id="1072" name="Google Shape;1072;p125"/>
          <p:cNvGrpSpPr/>
          <p:nvPr/>
        </p:nvGrpSpPr>
        <p:grpSpPr>
          <a:xfrm>
            <a:off x="2923726" y="2799386"/>
            <a:ext cx="5981327" cy="1259226"/>
            <a:chOff x="5266" y="1548296"/>
            <a:chExt cx="5981327" cy="1259226"/>
          </a:xfrm>
        </p:grpSpPr>
        <p:sp>
          <p:nvSpPr>
            <p:cNvPr id="1073" name="Google Shape;1073;p125"/>
            <p:cNvSpPr/>
            <p:nvPr/>
          </p:nvSpPr>
          <p:spPr>
            <a:xfrm>
              <a:off x="5266" y="1548296"/>
              <a:ext cx="3148067" cy="1259226"/>
            </a:xfrm>
            <a:prstGeom prst="chevron">
              <a:avLst>
                <a:gd fmla="val 50000" name="adj"/>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25"/>
            <p:cNvSpPr txBox="1"/>
            <p:nvPr/>
          </p:nvSpPr>
          <p:spPr>
            <a:xfrm>
              <a:off x="634879" y="1548296"/>
              <a:ext cx="1888841" cy="1259226"/>
            </a:xfrm>
            <a:prstGeom prst="rect">
              <a:avLst/>
            </a:prstGeom>
            <a:noFill/>
            <a:ln>
              <a:noFill/>
            </a:ln>
          </p:spPr>
          <p:txBody>
            <a:bodyPr anchorCtr="0" anchor="ctr" bIns="44000" lIns="132000" spcFirstLastPara="1" rIns="44000" wrap="square" tIns="44000">
              <a:noAutofit/>
            </a:bodyPr>
            <a:lstStyle/>
            <a:p>
              <a:pPr indent="0" lvl="0" marL="0" marR="0" rtl="0" algn="ctr">
                <a:lnSpc>
                  <a:spcPct val="90000"/>
                </a:lnSpc>
                <a:spcBef>
                  <a:spcPts val="0"/>
                </a:spcBef>
                <a:spcAft>
                  <a:spcPts val="0"/>
                </a:spcAft>
                <a:buClr>
                  <a:srgbClr val="000000"/>
                </a:buClr>
                <a:buSzPts val="3300"/>
                <a:buFont typeface="Arial"/>
                <a:buNone/>
              </a:pPr>
              <a:r>
                <a:rPr b="1" i="0" lang="en-US" sz="3300" u="none" cap="none" strike="noStrike">
                  <a:solidFill>
                    <a:schemeClr val="lt1"/>
                  </a:solidFill>
                  <a:latin typeface="Arial"/>
                  <a:ea typeface="Arial"/>
                  <a:cs typeface="Arial"/>
                  <a:sym typeface="Arial"/>
                </a:rPr>
                <a:t>Artifacts</a:t>
              </a:r>
              <a:endParaRPr b="1" i="0" sz="3300" u="none" cap="none" strike="noStrike">
                <a:solidFill>
                  <a:schemeClr val="lt1"/>
                </a:solidFill>
                <a:latin typeface="Arial"/>
                <a:ea typeface="Arial"/>
                <a:cs typeface="Arial"/>
                <a:sym typeface="Arial"/>
              </a:endParaRPr>
            </a:p>
          </p:txBody>
        </p:sp>
        <p:sp>
          <p:nvSpPr>
            <p:cNvPr id="1075" name="Google Shape;1075;p125"/>
            <p:cNvSpPr/>
            <p:nvPr/>
          </p:nvSpPr>
          <p:spPr>
            <a:xfrm>
              <a:off x="2838526" y="1548296"/>
              <a:ext cx="3148067" cy="1259226"/>
            </a:xfrm>
            <a:prstGeom prst="chevron">
              <a:avLst>
                <a:gd fmla="val 50000" name="adj"/>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25"/>
            <p:cNvSpPr txBox="1"/>
            <p:nvPr/>
          </p:nvSpPr>
          <p:spPr>
            <a:xfrm>
              <a:off x="3468139" y="1548296"/>
              <a:ext cx="1888841" cy="1259226"/>
            </a:xfrm>
            <a:prstGeom prst="rect">
              <a:avLst/>
            </a:prstGeom>
            <a:noFill/>
            <a:ln>
              <a:noFill/>
            </a:ln>
          </p:spPr>
          <p:txBody>
            <a:bodyPr anchorCtr="0" anchor="ctr" bIns="44000" lIns="132000" spcFirstLastPara="1" rIns="44000" wrap="square" tIns="44000">
              <a:noAutofit/>
            </a:bodyPr>
            <a:lstStyle/>
            <a:p>
              <a:pPr indent="0" lvl="0" marL="0" marR="0" rtl="0" algn="ctr">
                <a:lnSpc>
                  <a:spcPct val="90000"/>
                </a:lnSpc>
                <a:spcBef>
                  <a:spcPts val="0"/>
                </a:spcBef>
                <a:spcAft>
                  <a:spcPts val="0"/>
                </a:spcAft>
                <a:buClr>
                  <a:srgbClr val="000000"/>
                </a:buClr>
                <a:buSzPts val="3300"/>
                <a:buFont typeface="Arial"/>
                <a:buNone/>
              </a:pPr>
              <a:r>
                <a:rPr b="1" i="0" lang="en-US" sz="3300" u="none" cap="none" strike="noStrike">
                  <a:solidFill>
                    <a:schemeClr val="lt1"/>
                  </a:solidFill>
                  <a:latin typeface="Arial"/>
                  <a:ea typeface="Arial"/>
                  <a:cs typeface="Arial"/>
                  <a:sym typeface="Arial"/>
                </a:rPr>
                <a:t>Deploy</a:t>
              </a:r>
              <a:r>
                <a:rPr b="0" i="0" lang="en-US" sz="3300" u="none" cap="none" strike="noStrike">
                  <a:solidFill>
                    <a:schemeClr val="lt1"/>
                  </a:solidFill>
                  <a:latin typeface="Arial"/>
                  <a:ea typeface="Arial"/>
                  <a:cs typeface="Arial"/>
                  <a:sym typeface="Arial"/>
                </a:rPr>
                <a:t> </a:t>
              </a:r>
              <a:r>
                <a:rPr b="1" i="0" lang="en-US" sz="3300" u="none" cap="none" strike="noStrike">
                  <a:solidFill>
                    <a:schemeClr val="lt1"/>
                  </a:solidFill>
                  <a:latin typeface="Arial"/>
                  <a:ea typeface="Arial"/>
                  <a:cs typeface="Arial"/>
                  <a:sym typeface="Arial"/>
                </a:rPr>
                <a:t>DEV </a:t>
              </a:r>
              <a:endParaRPr/>
            </a:p>
          </p:txBody>
        </p:sp>
      </p:grpSp>
      <p:sp>
        <p:nvSpPr>
          <p:cNvPr id="1077" name="Google Shape;1077;p125"/>
          <p:cNvSpPr txBox="1"/>
          <p:nvPr>
            <p:ph idx="1" type="body"/>
          </p:nvPr>
        </p:nvSpPr>
        <p:spPr>
          <a:xfrm>
            <a:off x="838200" y="5313680"/>
            <a:ext cx="10515600" cy="1168083"/>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solidFill>
                  <a:srgbClr val="3F3F3F"/>
                </a:solidFill>
              </a:rPr>
              <a:t>Releases should be automatic to the development environment on a successful update to the "develop" branch</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the Base Pipeline</a:t>
            </a:r>
            <a:endParaRPr/>
          </a:p>
        </p:txBody>
      </p:sp>
      <p:pic>
        <p:nvPicPr>
          <p:cNvPr id="1083" name="Google Shape;1083;p126"/>
          <p:cNvPicPr preferRelativeResize="0"/>
          <p:nvPr/>
        </p:nvPicPr>
        <p:blipFill rotWithShape="1">
          <a:blip r:embed="rId3">
            <a:alphaModFix/>
          </a:blip>
          <a:srcRect b="0" l="0" r="0" t="0"/>
          <a:stretch/>
        </p:blipFill>
        <p:spPr>
          <a:xfrm>
            <a:off x="1470428" y="1487224"/>
            <a:ext cx="9251144" cy="486937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1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the Base Pipeline</a:t>
            </a:r>
            <a:endParaRPr/>
          </a:p>
        </p:txBody>
      </p:sp>
      <p:pic>
        <p:nvPicPr>
          <p:cNvPr id="1089" name="Google Shape;1089;p127"/>
          <p:cNvPicPr preferRelativeResize="0"/>
          <p:nvPr/>
        </p:nvPicPr>
        <p:blipFill rotWithShape="1">
          <a:blip r:embed="rId3">
            <a:alphaModFix/>
          </a:blip>
          <a:srcRect b="0" l="0" r="0" t="0"/>
          <a:stretch/>
        </p:blipFill>
        <p:spPr>
          <a:xfrm>
            <a:off x="2060860" y="1674496"/>
            <a:ext cx="8070279" cy="4625741"/>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&amp; Configure Stages for Deployment</a:t>
            </a:r>
            <a:endParaRPr/>
          </a:p>
        </p:txBody>
      </p:sp>
      <p:pic>
        <p:nvPicPr>
          <p:cNvPr id="1095" name="Google Shape;1095;p128"/>
          <p:cNvPicPr preferRelativeResize="0"/>
          <p:nvPr/>
        </p:nvPicPr>
        <p:blipFill rotWithShape="1">
          <a:blip r:embed="rId3">
            <a:alphaModFix/>
          </a:blip>
          <a:srcRect b="0" l="0" r="0" t="0"/>
          <a:stretch/>
        </p:blipFill>
        <p:spPr>
          <a:xfrm>
            <a:off x="1899523" y="1572010"/>
            <a:ext cx="8488813" cy="4890934"/>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1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An Artifact</a:t>
            </a:r>
            <a:endParaRPr/>
          </a:p>
        </p:txBody>
      </p:sp>
      <p:pic>
        <p:nvPicPr>
          <p:cNvPr id="1101" name="Google Shape;1101;p129"/>
          <p:cNvPicPr preferRelativeResize="0"/>
          <p:nvPr/>
        </p:nvPicPr>
        <p:blipFill rotWithShape="1">
          <a:blip r:embed="rId3">
            <a:alphaModFix/>
          </a:blip>
          <a:srcRect b="0" l="0" r="0" t="0"/>
          <a:stretch/>
        </p:blipFill>
        <p:spPr>
          <a:xfrm>
            <a:off x="1475959" y="1609863"/>
            <a:ext cx="9380537" cy="481012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An Artifact</a:t>
            </a:r>
            <a:endParaRPr/>
          </a:p>
        </p:txBody>
      </p:sp>
      <p:pic>
        <p:nvPicPr>
          <p:cNvPr descr="C:\Users\User\AppData\Local\Temp\SNAGHTML83a74de.PNG" id="1107" name="Google Shape;1107;p130"/>
          <p:cNvPicPr preferRelativeResize="0"/>
          <p:nvPr/>
        </p:nvPicPr>
        <p:blipFill rotWithShape="1">
          <a:blip r:embed="rId3">
            <a:alphaModFix/>
          </a:blip>
          <a:srcRect b="0" l="0" r="0" t="0"/>
          <a:stretch/>
        </p:blipFill>
        <p:spPr>
          <a:xfrm>
            <a:off x="3493579" y="1495794"/>
            <a:ext cx="4594820" cy="5211286"/>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cURL Upload Files</a:t>
            </a:r>
            <a:endParaRPr/>
          </a:p>
        </p:txBody>
      </p:sp>
      <p:pic>
        <p:nvPicPr>
          <p:cNvPr id="1113" name="Google Shape;1113;p131"/>
          <p:cNvPicPr preferRelativeResize="0"/>
          <p:nvPr/>
        </p:nvPicPr>
        <p:blipFill rotWithShape="1">
          <a:blip r:embed="rId3">
            <a:alphaModFix/>
          </a:blip>
          <a:srcRect b="0" l="0" r="0" t="0"/>
          <a:stretch/>
        </p:blipFill>
        <p:spPr>
          <a:xfrm>
            <a:off x="295598" y="2096869"/>
            <a:ext cx="2749442" cy="1752477"/>
          </a:xfrm>
          <a:prstGeom prst="rect">
            <a:avLst/>
          </a:prstGeom>
          <a:noFill/>
          <a:ln>
            <a:noFill/>
          </a:ln>
        </p:spPr>
      </p:pic>
      <p:pic>
        <p:nvPicPr>
          <p:cNvPr id="1114" name="Google Shape;1114;p131"/>
          <p:cNvPicPr preferRelativeResize="0"/>
          <p:nvPr/>
        </p:nvPicPr>
        <p:blipFill rotWithShape="1">
          <a:blip r:embed="rId4">
            <a:alphaModFix/>
          </a:blip>
          <a:srcRect b="0" l="0" r="0" t="0"/>
          <a:stretch/>
        </p:blipFill>
        <p:spPr>
          <a:xfrm>
            <a:off x="3533313" y="2008092"/>
            <a:ext cx="8236936" cy="3280345"/>
          </a:xfrm>
          <a:prstGeom prst="rect">
            <a:avLst/>
          </a:prstGeom>
          <a:noFill/>
          <a:ln>
            <a:noFill/>
          </a:ln>
        </p:spPr>
      </p:pic>
      <p:sp>
        <p:nvSpPr>
          <p:cNvPr id="1115" name="Google Shape;1115;p131"/>
          <p:cNvSpPr/>
          <p:nvPr/>
        </p:nvSpPr>
        <p:spPr>
          <a:xfrm>
            <a:off x="2263805" y="3906174"/>
            <a:ext cx="781235" cy="390618"/>
          </a:xfrm>
          <a:prstGeom prst="rightArrow">
            <a:avLst>
              <a:gd fmla="val 50000" name="adj1"/>
              <a:gd fmla="val 50000" name="adj2"/>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cURL Upload Files</a:t>
            </a:r>
            <a:endParaRPr/>
          </a:p>
        </p:txBody>
      </p:sp>
      <p:pic>
        <p:nvPicPr>
          <p:cNvPr descr="C:\Users\User\AppData\Local\Temp\SNAGHTMLf4a862.PNG" id="1121" name="Google Shape;1121;p132"/>
          <p:cNvPicPr preferRelativeResize="0"/>
          <p:nvPr/>
        </p:nvPicPr>
        <p:blipFill rotWithShape="1">
          <a:blip r:embed="rId3">
            <a:alphaModFix/>
          </a:blip>
          <a:srcRect b="0" l="0" r="0" t="0"/>
          <a:stretch/>
        </p:blipFill>
        <p:spPr>
          <a:xfrm>
            <a:off x="2836632" y="1504844"/>
            <a:ext cx="6641003" cy="5002488"/>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Configure Variables</a:t>
            </a:r>
            <a:endParaRPr/>
          </a:p>
        </p:txBody>
      </p:sp>
      <p:sp>
        <p:nvSpPr>
          <p:cNvPr id="1127" name="Google Shape;1127;p133"/>
          <p:cNvSpPr txBox="1"/>
          <p:nvPr>
            <p:ph idx="1" type="body"/>
          </p:nvPr>
        </p:nvSpPr>
        <p:spPr>
          <a:xfrm>
            <a:off x="838200" y="4837474"/>
            <a:ext cx="10515600" cy="1740879"/>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Deploy username: mti123456</a:t>
            </a:r>
            <a:endParaRPr/>
          </a:p>
          <a:p>
            <a:pPr indent="-342900" lvl="0" marL="457200" rtl="0" algn="l">
              <a:lnSpc>
                <a:spcPct val="90000"/>
              </a:lnSpc>
              <a:spcBef>
                <a:spcPts val="1000"/>
              </a:spcBef>
              <a:spcAft>
                <a:spcPts val="0"/>
              </a:spcAft>
              <a:buClr>
                <a:schemeClr val="dk1"/>
              </a:buClr>
              <a:buSzPts val="1800"/>
              <a:buChar char="•"/>
            </a:pPr>
            <a:r>
              <a:rPr lang="en-US"/>
              <a:t>Deploy password: mti123456</a:t>
            </a:r>
            <a:endParaRPr/>
          </a:p>
          <a:p>
            <a:pPr indent="-342900" lvl="0" marL="457200" rtl="0" algn="l">
              <a:lnSpc>
                <a:spcPct val="90000"/>
              </a:lnSpc>
              <a:spcBef>
                <a:spcPts val="1000"/>
              </a:spcBef>
              <a:spcAft>
                <a:spcPts val="0"/>
              </a:spcAft>
              <a:buClr>
                <a:schemeClr val="dk1"/>
              </a:buClr>
              <a:buSzPts val="1800"/>
              <a:buChar char="•"/>
            </a:pPr>
            <a:r>
              <a:rPr lang="en-US"/>
              <a:t>Deploy URL: https://</a:t>
            </a:r>
            <a:r>
              <a:rPr lang="en-US">
                <a:solidFill>
                  <a:srgbClr val="FF0000"/>
                </a:solidFill>
              </a:rPr>
              <a:t>trainee1</a:t>
            </a:r>
            <a:r>
              <a:rPr lang="en-US"/>
              <a:t>.scm.azurewebsites.net/ZipDeploy </a:t>
            </a:r>
            <a:endParaRPr/>
          </a:p>
        </p:txBody>
      </p:sp>
      <p:pic>
        <p:nvPicPr>
          <p:cNvPr id="1128" name="Google Shape;1128;p133"/>
          <p:cNvPicPr preferRelativeResize="0"/>
          <p:nvPr/>
        </p:nvPicPr>
        <p:blipFill rotWithShape="1">
          <a:blip r:embed="rId3">
            <a:alphaModFix/>
          </a:blip>
          <a:srcRect b="0" l="0" r="0" t="0"/>
          <a:stretch/>
        </p:blipFill>
        <p:spPr>
          <a:xfrm>
            <a:off x="114299" y="1485899"/>
            <a:ext cx="11874503" cy="3190875"/>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Continuous Deployment Trigger</a:t>
            </a:r>
            <a:endParaRPr/>
          </a:p>
        </p:txBody>
      </p:sp>
      <p:pic>
        <p:nvPicPr>
          <p:cNvPr id="1134" name="Google Shape;1134;p134"/>
          <p:cNvPicPr preferRelativeResize="0"/>
          <p:nvPr/>
        </p:nvPicPr>
        <p:blipFill rotWithShape="1">
          <a:blip r:embed="rId3">
            <a:alphaModFix/>
          </a:blip>
          <a:srcRect b="0" l="0" r="0" t="0"/>
          <a:stretch/>
        </p:blipFill>
        <p:spPr>
          <a:xfrm>
            <a:off x="2005014" y="1336298"/>
            <a:ext cx="8501062" cy="526929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Save the pipeline</a:t>
            </a:r>
            <a:endParaRPr/>
          </a:p>
        </p:txBody>
      </p:sp>
      <p:pic>
        <p:nvPicPr>
          <p:cNvPr descr="C:\Users\User\AppData\Local\Temp\SNAGHTML9bc002.PNG" id="1140" name="Google Shape;1140;p135"/>
          <p:cNvPicPr preferRelativeResize="0"/>
          <p:nvPr/>
        </p:nvPicPr>
        <p:blipFill rotWithShape="1">
          <a:blip r:embed="rId3">
            <a:alphaModFix/>
          </a:blip>
          <a:srcRect b="0" l="0" r="0" t="0"/>
          <a:stretch/>
        </p:blipFill>
        <p:spPr>
          <a:xfrm>
            <a:off x="563949" y="1351640"/>
            <a:ext cx="8372475" cy="923925"/>
          </a:xfrm>
          <a:prstGeom prst="rect">
            <a:avLst/>
          </a:prstGeom>
          <a:noFill/>
          <a:ln>
            <a:noFill/>
          </a:ln>
        </p:spPr>
      </p:pic>
      <p:pic>
        <p:nvPicPr>
          <p:cNvPr id="1141" name="Google Shape;1141;p135"/>
          <p:cNvPicPr preferRelativeResize="0"/>
          <p:nvPr/>
        </p:nvPicPr>
        <p:blipFill rotWithShape="1">
          <a:blip r:embed="rId4">
            <a:alphaModFix/>
          </a:blip>
          <a:srcRect b="0" l="0" r="0" t="0"/>
          <a:stretch/>
        </p:blipFill>
        <p:spPr>
          <a:xfrm>
            <a:off x="3271638" y="2858147"/>
            <a:ext cx="4714875" cy="295275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Execute manual</a:t>
            </a:r>
            <a:endParaRPr/>
          </a:p>
        </p:txBody>
      </p:sp>
      <p:pic>
        <p:nvPicPr>
          <p:cNvPr descr="C:\Users\User\AppData\Local\Temp\SNAGHTML9e3a39.PNG" id="1147" name="Google Shape;1147;p136"/>
          <p:cNvPicPr preferRelativeResize="0"/>
          <p:nvPr/>
        </p:nvPicPr>
        <p:blipFill rotWithShape="1">
          <a:blip r:embed="rId3">
            <a:alphaModFix/>
          </a:blip>
          <a:srcRect b="0" l="0" r="0" t="0"/>
          <a:stretch/>
        </p:blipFill>
        <p:spPr>
          <a:xfrm>
            <a:off x="617215" y="1649566"/>
            <a:ext cx="6431656" cy="861049"/>
          </a:xfrm>
          <a:prstGeom prst="rect">
            <a:avLst/>
          </a:prstGeom>
          <a:noFill/>
          <a:ln>
            <a:noFill/>
          </a:ln>
        </p:spPr>
      </p:pic>
      <p:pic>
        <p:nvPicPr>
          <p:cNvPr descr="C:\Users\User\AppData\Local\Temp\SNAGHTML9f9303.PNG" id="1148" name="Google Shape;1148;p136"/>
          <p:cNvPicPr preferRelativeResize="0"/>
          <p:nvPr/>
        </p:nvPicPr>
        <p:blipFill rotWithShape="1">
          <a:blip r:embed="rId4">
            <a:alphaModFix/>
          </a:blip>
          <a:srcRect b="0" l="0" r="0" t="0"/>
          <a:stretch/>
        </p:blipFill>
        <p:spPr>
          <a:xfrm>
            <a:off x="7550676" y="1540998"/>
            <a:ext cx="4354280" cy="5081243"/>
          </a:xfrm>
          <a:prstGeom prst="rect">
            <a:avLst/>
          </a:prstGeom>
          <a:noFill/>
          <a:ln>
            <a:noFill/>
          </a:ln>
        </p:spPr>
      </p:pic>
      <p:sp>
        <p:nvSpPr>
          <p:cNvPr id="1149" name="Google Shape;1149;p136"/>
          <p:cNvSpPr/>
          <p:nvPr/>
        </p:nvSpPr>
        <p:spPr>
          <a:xfrm>
            <a:off x="6653814" y="2319745"/>
            <a:ext cx="790114" cy="381740"/>
          </a:xfrm>
          <a:prstGeom prst="rightArrow">
            <a:avLst>
              <a:gd fmla="val 50000" name="adj1"/>
              <a:gd fmla="val 50000" name="adj2"/>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150" name="Google Shape;1150;p136"/>
          <p:cNvPicPr preferRelativeResize="0"/>
          <p:nvPr/>
        </p:nvPicPr>
        <p:blipFill rotWithShape="1">
          <a:blip r:embed="rId5">
            <a:alphaModFix/>
          </a:blip>
          <a:srcRect b="0" l="0" r="0" t="0"/>
          <a:stretch/>
        </p:blipFill>
        <p:spPr>
          <a:xfrm>
            <a:off x="466294" y="4542177"/>
            <a:ext cx="5895975" cy="1857375"/>
          </a:xfrm>
          <a:prstGeom prst="rect">
            <a:avLst/>
          </a:prstGeom>
          <a:noFill/>
          <a:ln>
            <a:noFill/>
          </a:ln>
        </p:spPr>
      </p:pic>
      <p:sp>
        <p:nvSpPr>
          <p:cNvPr id="1151" name="Google Shape;1151;p136"/>
          <p:cNvSpPr/>
          <p:nvPr/>
        </p:nvSpPr>
        <p:spPr>
          <a:xfrm flipH="1">
            <a:off x="6653813" y="5712781"/>
            <a:ext cx="674703" cy="381740"/>
          </a:xfrm>
          <a:prstGeom prst="rightArrow">
            <a:avLst>
              <a:gd fmla="val 50000" name="adj1"/>
              <a:gd fmla="val 50000" name="adj2"/>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Execute the pipeline and check the result</a:t>
            </a:r>
            <a:endParaRPr/>
          </a:p>
        </p:txBody>
      </p:sp>
      <p:pic>
        <p:nvPicPr>
          <p:cNvPr id="1157" name="Google Shape;1157;p137"/>
          <p:cNvPicPr preferRelativeResize="0"/>
          <p:nvPr/>
        </p:nvPicPr>
        <p:blipFill rotWithShape="1">
          <a:blip r:embed="rId3">
            <a:alphaModFix/>
          </a:blip>
          <a:srcRect b="0" l="0" r="0" t="0"/>
          <a:stretch/>
        </p:blipFill>
        <p:spPr>
          <a:xfrm>
            <a:off x="2879927" y="1539621"/>
            <a:ext cx="6326218" cy="4258469"/>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Development Environment</a:t>
            </a:r>
            <a:endParaRPr/>
          </a:p>
        </p:txBody>
      </p:sp>
      <p:sp>
        <p:nvSpPr>
          <p:cNvPr id="1164" name="Google Shape;1164;p138"/>
          <p:cNvSpPr txBox="1"/>
          <p:nvPr>
            <p:ph idx="1" type="body"/>
          </p:nvPr>
        </p:nvSpPr>
        <p:spPr>
          <a:xfrm>
            <a:off x="784934" y="1579370"/>
            <a:ext cx="10515600" cy="146567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Access: https://</a:t>
            </a:r>
            <a:r>
              <a:rPr lang="en-US">
                <a:solidFill>
                  <a:srgbClr val="FF0000"/>
                </a:solidFill>
              </a:rPr>
              <a:t>trainee1</a:t>
            </a:r>
            <a:r>
              <a:rPr lang="en-US"/>
              <a:t>.azurewebsites.net/swagger</a:t>
            </a:r>
            <a:endParaRPr/>
          </a:p>
          <a:p>
            <a:pPr indent="-228600" lvl="0" marL="457200" rtl="0" algn="l">
              <a:lnSpc>
                <a:spcPct val="90000"/>
              </a:lnSpc>
              <a:spcBef>
                <a:spcPts val="1000"/>
              </a:spcBef>
              <a:spcAft>
                <a:spcPts val="0"/>
              </a:spcAft>
              <a:buClr>
                <a:schemeClr val="dk1"/>
              </a:buClr>
              <a:buSzPts val="1800"/>
              <a:buNone/>
            </a:pPr>
            <a:r>
              <a:t/>
            </a:r>
            <a:endParaRPr/>
          </a:p>
        </p:txBody>
      </p:sp>
      <p:pic>
        <p:nvPicPr>
          <p:cNvPr id="1165" name="Google Shape;1165;p138"/>
          <p:cNvPicPr preferRelativeResize="0"/>
          <p:nvPr/>
        </p:nvPicPr>
        <p:blipFill rotWithShape="1">
          <a:blip r:embed="rId3">
            <a:alphaModFix/>
          </a:blip>
          <a:srcRect b="0" l="0" r="0" t="0"/>
          <a:stretch/>
        </p:blipFill>
        <p:spPr>
          <a:xfrm>
            <a:off x="1322774" y="2136624"/>
            <a:ext cx="8345010" cy="4571688"/>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39"/>
          <p:cNvSpPr txBox="1"/>
          <p:nvPr>
            <p:ph type="title"/>
          </p:nvPr>
        </p:nvSpPr>
        <p:spPr>
          <a:xfrm>
            <a:off x="838200" y="365125"/>
            <a:ext cx="1050036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Configuration of Pre-Deployment Conditions To RC, STG environment</a:t>
            </a:r>
            <a:endParaRPr/>
          </a:p>
        </p:txBody>
      </p:sp>
      <p:grpSp>
        <p:nvGrpSpPr>
          <p:cNvPr id="1171" name="Google Shape;1171;p139"/>
          <p:cNvGrpSpPr/>
          <p:nvPr/>
        </p:nvGrpSpPr>
        <p:grpSpPr>
          <a:xfrm>
            <a:off x="1120099" y="3396491"/>
            <a:ext cx="10231201" cy="889669"/>
            <a:chOff x="2499" y="1852171"/>
            <a:chExt cx="10231201" cy="889669"/>
          </a:xfrm>
        </p:grpSpPr>
        <p:sp>
          <p:nvSpPr>
            <p:cNvPr id="1172" name="Google Shape;1172;p139"/>
            <p:cNvSpPr/>
            <p:nvPr/>
          </p:nvSpPr>
          <p:spPr>
            <a:xfrm>
              <a:off x="2499" y="1852171"/>
              <a:ext cx="2224174" cy="889669"/>
            </a:xfrm>
            <a:prstGeom prst="chevron">
              <a:avLst>
                <a:gd fmla="val 50000" name="adj"/>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39"/>
            <p:cNvSpPr txBox="1"/>
            <p:nvPr/>
          </p:nvSpPr>
          <p:spPr>
            <a:xfrm>
              <a:off x="447334" y="1852171"/>
              <a:ext cx="1334505" cy="889669"/>
            </a:xfrm>
            <a:prstGeom prst="rect">
              <a:avLst/>
            </a:prstGeom>
            <a:noFill/>
            <a:ln>
              <a:noFill/>
            </a:ln>
          </p:spPr>
          <p:txBody>
            <a:bodyPr anchorCtr="0" anchor="ctr" bIns="30650" lIns="92000" spcFirstLastPara="1" rIns="30650" wrap="square" tIns="30650">
              <a:noAutofit/>
            </a:bodyPr>
            <a:lstStyle/>
            <a:p>
              <a:pPr indent="0" lvl="0" marL="0" marR="0" rtl="0" algn="ctr">
                <a:lnSpc>
                  <a:spcPct val="90000"/>
                </a:lnSpc>
                <a:spcBef>
                  <a:spcPts val="0"/>
                </a:spcBef>
                <a:spcAft>
                  <a:spcPts val="0"/>
                </a:spcAft>
                <a:buClr>
                  <a:srgbClr val="000000"/>
                </a:buClr>
                <a:buSzPts val="2300"/>
                <a:buFont typeface="Arial"/>
                <a:buNone/>
              </a:pPr>
              <a:r>
                <a:rPr b="1" i="0" lang="en-US" sz="2300" u="none" cap="none" strike="noStrike">
                  <a:solidFill>
                    <a:schemeClr val="lt1"/>
                  </a:solidFill>
                  <a:latin typeface="Arial"/>
                  <a:ea typeface="Arial"/>
                  <a:cs typeface="Arial"/>
                  <a:sym typeface="Arial"/>
                </a:rPr>
                <a:t>Artifacts</a:t>
              </a:r>
              <a:endParaRPr b="1" i="0" sz="2300" u="none" cap="none" strike="noStrike">
                <a:solidFill>
                  <a:schemeClr val="lt1"/>
                </a:solidFill>
                <a:latin typeface="Arial"/>
                <a:ea typeface="Arial"/>
                <a:cs typeface="Arial"/>
                <a:sym typeface="Arial"/>
              </a:endParaRPr>
            </a:p>
          </p:txBody>
        </p:sp>
        <p:sp>
          <p:nvSpPr>
            <p:cNvPr id="1174" name="Google Shape;1174;p139"/>
            <p:cNvSpPr/>
            <p:nvPr/>
          </p:nvSpPr>
          <p:spPr>
            <a:xfrm>
              <a:off x="2004255" y="1852171"/>
              <a:ext cx="2224174" cy="889669"/>
            </a:xfrm>
            <a:prstGeom prst="chevron">
              <a:avLst>
                <a:gd fmla="val 50000" name="adj"/>
              </a:avLst>
            </a:prstGeom>
            <a:solidFill>
              <a:srgbClr val="52CBC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39"/>
            <p:cNvSpPr txBox="1"/>
            <p:nvPr/>
          </p:nvSpPr>
          <p:spPr>
            <a:xfrm>
              <a:off x="2449090" y="1852171"/>
              <a:ext cx="1334505" cy="889669"/>
            </a:xfrm>
            <a:prstGeom prst="rect">
              <a:avLst/>
            </a:prstGeom>
            <a:noFill/>
            <a:ln>
              <a:noFill/>
            </a:ln>
          </p:spPr>
          <p:txBody>
            <a:bodyPr anchorCtr="0" anchor="ctr" bIns="30650" lIns="92000" spcFirstLastPara="1" rIns="30650" wrap="square" tIns="30650">
              <a:noAutofit/>
            </a:bodyPr>
            <a:lstStyle/>
            <a:p>
              <a:pPr indent="0" lvl="0" marL="0" marR="0" rtl="0" algn="ctr">
                <a:lnSpc>
                  <a:spcPct val="90000"/>
                </a:lnSpc>
                <a:spcBef>
                  <a:spcPts val="0"/>
                </a:spcBef>
                <a:spcAft>
                  <a:spcPts val="0"/>
                </a:spcAft>
                <a:buClr>
                  <a:srgbClr val="000000"/>
                </a:buClr>
                <a:buSzPts val="2300"/>
                <a:buFont typeface="Arial"/>
                <a:buNone/>
              </a:pPr>
              <a:r>
                <a:rPr b="1" i="0" lang="en-US" sz="2300" u="none" cap="none" strike="noStrike">
                  <a:solidFill>
                    <a:schemeClr val="lt1"/>
                  </a:solidFill>
                  <a:latin typeface="Arial"/>
                  <a:ea typeface="Arial"/>
                  <a:cs typeface="Arial"/>
                  <a:sym typeface="Arial"/>
                </a:rPr>
                <a:t>Deploy</a:t>
              </a:r>
              <a:r>
                <a:rPr b="0" i="0" lang="en-US" sz="2300" u="none" cap="none" strike="noStrike">
                  <a:solidFill>
                    <a:schemeClr val="lt1"/>
                  </a:solidFill>
                  <a:latin typeface="Arial"/>
                  <a:ea typeface="Arial"/>
                  <a:cs typeface="Arial"/>
                  <a:sym typeface="Arial"/>
                </a:rPr>
                <a:t> </a:t>
              </a:r>
              <a:r>
                <a:rPr b="1" i="0" lang="en-US" sz="2300" u="none" cap="none" strike="noStrike">
                  <a:solidFill>
                    <a:schemeClr val="lt1"/>
                  </a:solidFill>
                  <a:latin typeface="Arial"/>
                  <a:ea typeface="Arial"/>
                  <a:cs typeface="Arial"/>
                  <a:sym typeface="Arial"/>
                </a:rPr>
                <a:t>DEV</a:t>
              </a:r>
              <a:r>
                <a:rPr b="0" i="0" lang="en-US" sz="2300" u="none" cap="none" strike="noStrike">
                  <a:solidFill>
                    <a:schemeClr val="lt1"/>
                  </a:solidFill>
                  <a:latin typeface="Calibri"/>
                  <a:ea typeface="Calibri"/>
                  <a:cs typeface="Calibri"/>
                  <a:sym typeface="Calibri"/>
                </a:rPr>
                <a:t> </a:t>
              </a:r>
              <a:endParaRPr b="0" i="0" sz="2300" u="none" cap="none" strike="noStrike">
                <a:solidFill>
                  <a:schemeClr val="lt1"/>
                </a:solidFill>
                <a:latin typeface="Arial"/>
                <a:ea typeface="Arial"/>
                <a:cs typeface="Arial"/>
                <a:sym typeface="Arial"/>
              </a:endParaRPr>
            </a:p>
          </p:txBody>
        </p:sp>
        <p:sp>
          <p:nvSpPr>
            <p:cNvPr id="1176" name="Google Shape;1176;p139"/>
            <p:cNvSpPr/>
            <p:nvPr/>
          </p:nvSpPr>
          <p:spPr>
            <a:xfrm>
              <a:off x="4006012" y="1852171"/>
              <a:ext cx="2224174" cy="889669"/>
            </a:xfrm>
            <a:prstGeom prst="chevron">
              <a:avLst>
                <a:gd fmla="val 50000" name="adj"/>
              </a:avLst>
            </a:prstGeom>
            <a:solidFill>
              <a:srgbClr val="4CC38C"/>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39"/>
            <p:cNvSpPr txBox="1"/>
            <p:nvPr/>
          </p:nvSpPr>
          <p:spPr>
            <a:xfrm>
              <a:off x="4450847" y="1852171"/>
              <a:ext cx="1334505" cy="889669"/>
            </a:xfrm>
            <a:prstGeom prst="rect">
              <a:avLst/>
            </a:prstGeom>
            <a:noFill/>
            <a:ln>
              <a:noFill/>
            </a:ln>
          </p:spPr>
          <p:txBody>
            <a:bodyPr anchorCtr="0" anchor="ctr" bIns="30650" lIns="92000" spcFirstLastPara="1" rIns="30650" wrap="square" tIns="30650">
              <a:noAutofit/>
            </a:bodyPr>
            <a:lstStyle/>
            <a:p>
              <a:pPr indent="0" lvl="0" marL="0" marR="0" rtl="0" algn="ctr">
                <a:lnSpc>
                  <a:spcPct val="90000"/>
                </a:lnSpc>
                <a:spcBef>
                  <a:spcPts val="0"/>
                </a:spcBef>
                <a:spcAft>
                  <a:spcPts val="0"/>
                </a:spcAft>
                <a:buClr>
                  <a:srgbClr val="000000"/>
                </a:buClr>
                <a:buSzPts val="2300"/>
                <a:buFont typeface="Arial"/>
                <a:buNone/>
              </a:pPr>
              <a:r>
                <a:rPr b="1" i="0" lang="en-US" sz="2300" u="none" cap="none" strike="noStrike">
                  <a:solidFill>
                    <a:schemeClr val="lt1"/>
                  </a:solidFill>
                  <a:latin typeface="Arial"/>
                  <a:ea typeface="Arial"/>
                  <a:cs typeface="Arial"/>
                  <a:sym typeface="Arial"/>
                </a:rPr>
                <a:t>Deploy</a:t>
              </a:r>
              <a:r>
                <a:rPr b="0" i="0" lang="en-US" sz="2300" u="none" cap="none" strike="noStrike">
                  <a:solidFill>
                    <a:schemeClr val="lt1"/>
                  </a:solidFill>
                  <a:latin typeface="Arial"/>
                  <a:ea typeface="Arial"/>
                  <a:cs typeface="Arial"/>
                  <a:sym typeface="Arial"/>
                </a:rPr>
                <a:t> </a:t>
              </a:r>
              <a:r>
                <a:rPr b="1" i="0" lang="en-US" sz="2300" u="none" cap="none" strike="noStrike">
                  <a:solidFill>
                    <a:schemeClr val="lt1"/>
                  </a:solidFill>
                  <a:latin typeface="Arial"/>
                  <a:ea typeface="Arial"/>
                  <a:cs typeface="Arial"/>
                  <a:sym typeface="Arial"/>
                </a:rPr>
                <a:t>RC</a:t>
              </a:r>
              <a:endParaRPr/>
            </a:p>
          </p:txBody>
        </p:sp>
        <p:sp>
          <p:nvSpPr>
            <p:cNvPr id="1178" name="Google Shape;1178;p139"/>
            <p:cNvSpPr/>
            <p:nvPr/>
          </p:nvSpPr>
          <p:spPr>
            <a:xfrm>
              <a:off x="6007769" y="1852171"/>
              <a:ext cx="2224174" cy="889669"/>
            </a:xfrm>
            <a:prstGeom prst="chevron">
              <a:avLst>
                <a:gd fmla="val 50000" name="adj"/>
              </a:avLst>
            </a:prstGeom>
            <a:solidFill>
              <a:srgbClr val="46BA4E"/>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39"/>
            <p:cNvSpPr txBox="1"/>
            <p:nvPr/>
          </p:nvSpPr>
          <p:spPr>
            <a:xfrm>
              <a:off x="6452604" y="1852171"/>
              <a:ext cx="1334505" cy="889669"/>
            </a:xfrm>
            <a:prstGeom prst="rect">
              <a:avLst/>
            </a:prstGeom>
            <a:noFill/>
            <a:ln>
              <a:noFill/>
            </a:ln>
          </p:spPr>
          <p:txBody>
            <a:bodyPr anchorCtr="0" anchor="ctr" bIns="30650" lIns="92000" spcFirstLastPara="1" rIns="30650" wrap="square" tIns="30650">
              <a:noAutofit/>
            </a:bodyPr>
            <a:lstStyle/>
            <a:p>
              <a:pPr indent="0" lvl="0" marL="0" marR="0" rtl="0" algn="ctr">
                <a:lnSpc>
                  <a:spcPct val="90000"/>
                </a:lnSpc>
                <a:spcBef>
                  <a:spcPts val="0"/>
                </a:spcBef>
                <a:spcAft>
                  <a:spcPts val="0"/>
                </a:spcAft>
                <a:buClr>
                  <a:srgbClr val="000000"/>
                </a:buClr>
                <a:buSzPts val="2300"/>
                <a:buFont typeface="Arial"/>
                <a:buNone/>
              </a:pPr>
              <a:r>
                <a:rPr b="1" i="0" lang="en-US" sz="2300" u="none" cap="none" strike="noStrike">
                  <a:solidFill>
                    <a:schemeClr val="lt1"/>
                  </a:solidFill>
                  <a:latin typeface="Arial"/>
                  <a:ea typeface="Arial"/>
                  <a:cs typeface="Arial"/>
                  <a:sym typeface="Arial"/>
                </a:rPr>
                <a:t>Deploy</a:t>
              </a:r>
              <a:r>
                <a:rPr b="0" i="0" lang="en-US" sz="2300" u="none" cap="none" strike="noStrike">
                  <a:solidFill>
                    <a:schemeClr val="lt1"/>
                  </a:solidFill>
                  <a:latin typeface="Arial"/>
                  <a:ea typeface="Arial"/>
                  <a:cs typeface="Arial"/>
                  <a:sym typeface="Arial"/>
                </a:rPr>
                <a:t> </a:t>
              </a:r>
              <a:r>
                <a:rPr b="1" i="0" lang="en-US" sz="2300" u="none" cap="none" strike="noStrike">
                  <a:solidFill>
                    <a:schemeClr val="lt1"/>
                  </a:solidFill>
                  <a:latin typeface="Arial"/>
                  <a:ea typeface="Arial"/>
                  <a:cs typeface="Arial"/>
                  <a:sym typeface="Arial"/>
                </a:rPr>
                <a:t>STG</a:t>
              </a:r>
              <a:endParaRPr/>
            </a:p>
          </p:txBody>
        </p:sp>
        <p:sp>
          <p:nvSpPr>
            <p:cNvPr id="1180" name="Google Shape;1180;p139"/>
            <p:cNvSpPr/>
            <p:nvPr/>
          </p:nvSpPr>
          <p:spPr>
            <a:xfrm>
              <a:off x="8009526" y="1852171"/>
              <a:ext cx="2224174" cy="889669"/>
            </a:xfrm>
            <a:prstGeom prst="chevron">
              <a:avLst>
                <a:gd fmla="val 50000" name="adj"/>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39"/>
            <p:cNvSpPr txBox="1"/>
            <p:nvPr/>
          </p:nvSpPr>
          <p:spPr>
            <a:xfrm>
              <a:off x="8454361" y="1852171"/>
              <a:ext cx="1334505" cy="889669"/>
            </a:xfrm>
            <a:prstGeom prst="rect">
              <a:avLst/>
            </a:prstGeom>
            <a:noFill/>
            <a:ln>
              <a:noFill/>
            </a:ln>
          </p:spPr>
          <p:txBody>
            <a:bodyPr anchorCtr="0" anchor="ctr" bIns="30650" lIns="92000" spcFirstLastPara="1" rIns="30650" wrap="square" tIns="30650">
              <a:noAutofit/>
            </a:bodyPr>
            <a:lstStyle/>
            <a:p>
              <a:pPr indent="0" lvl="0" marL="0" marR="0" rtl="0" algn="ctr">
                <a:lnSpc>
                  <a:spcPct val="90000"/>
                </a:lnSpc>
                <a:spcBef>
                  <a:spcPts val="0"/>
                </a:spcBef>
                <a:spcAft>
                  <a:spcPts val="0"/>
                </a:spcAft>
                <a:buClr>
                  <a:srgbClr val="000000"/>
                </a:buClr>
                <a:buSzPts val="2300"/>
                <a:buFont typeface="Arial"/>
                <a:buNone/>
              </a:pPr>
              <a:r>
                <a:rPr b="1" i="0" lang="en-US" sz="2300" u="none" cap="none" strike="noStrike">
                  <a:solidFill>
                    <a:schemeClr val="lt1"/>
                  </a:solidFill>
                  <a:latin typeface="Arial"/>
                  <a:ea typeface="Arial"/>
                  <a:cs typeface="Arial"/>
                  <a:sym typeface="Arial"/>
                </a:rPr>
                <a:t>Deploy</a:t>
              </a:r>
              <a:r>
                <a:rPr b="0" i="0" lang="en-US" sz="2300" u="none" cap="none" strike="noStrike">
                  <a:solidFill>
                    <a:schemeClr val="lt1"/>
                  </a:solidFill>
                  <a:latin typeface="Arial"/>
                  <a:ea typeface="Arial"/>
                  <a:cs typeface="Arial"/>
                  <a:sym typeface="Arial"/>
                </a:rPr>
                <a:t> </a:t>
              </a:r>
              <a:r>
                <a:rPr b="1" i="0" lang="en-US" sz="2300" u="none" cap="none" strike="noStrike">
                  <a:solidFill>
                    <a:schemeClr val="lt1"/>
                  </a:solidFill>
                  <a:latin typeface="Arial"/>
                  <a:ea typeface="Arial"/>
                  <a:cs typeface="Arial"/>
                  <a:sym typeface="Arial"/>
                </a:rPr>
                <a:t>PROD</a:t>
              </a:r>
              <a:endParaRPr/>
            </a:p>
          </p:txBody>
        </p:sp>
      </p:grpSp>
      <p:sp>
        <p:nvSpPr>
          <p:cNvPr id="1182" name="Google Shape;1182;p139"/>
          <p:cNvSpPr txBox="1"/>
          <p:nvPr>
            <p:ph idx="1" type="body"/>
          </p:nvPr>
        </p:nvSpPr>
        <p:spPr>
          <a:xfrm>
            <a:off x="802690" y="4887552"/>
            <a:ext cx="10515600" cy="1406716"/>
          </a:xfrm>
          <a:prstGeom prst="rect">
            <a:avLst/>
          </a:prstGeom>
          <a:noFill/>
          <a:ln>
            <a:noFill/>
          </a:ln>
        </p:spPr>
        <p:txBody>
          <a:bodyPr anchorCtr="0" anchor="t" bIns="45700" lIns="91425" spcFirstLastPara="1" rIns="91425" wrap="square" tIns="45700">
            <a:normAutofit/>
          </a:bodyPr>
          <a:lstStyle/>
          <a:p>
            <a:pPr indent="-342900" lvl="0" marL="457200" rtl="0" algn="l">
              <a:lnSpc>
                <a:spcPct val="70000"/>
              </a:lnSpc>
              <a:spcBef>
                <a:spcPts val="1000"/>
              </a:spcBef>
              <a:spcAft>
                <a:spcPts val="0"/>
              </a:spcAft>
              <a:buClr>
                <a:schemeClr val="dk1"/>
              </a:buClr>
              <a:buSzPts val="1800"/>
              <a:buChar char="•"/>
            </a:pPr>
            <a:r>
              <a:rPr lang="en-US" sz="1750">
                <a:solidFill>
                  <a:srgbClr val="3F3F3F"/>
                </a:solidFill>
              </a:rPr>
              <a:t>Releases should be trigger to the RC, staging environment on a successful update to the “release” branch</a:t>
            </a:r>
            <a:endParaRPr/>
          </a:p>
          <a:p>
            <a:pPr indent="-342900" lvl="0" marL="457200" rtl="0" algn="l">
              <a:lnSpc>
                <a:spcPct val="70000"/>
              </a:lnSpc>
              <a:spcBef>
                <a:spcPts val="1000"/>
              </a:spcBef>
              <a:spcAft>
                <a:spcPts val="0"/>
              </a:spcAft>
              <a:buClr>
                <a:schemeClr val="dk1"/>
              </a:buClr>
              <a:buSzPts val="1800"/>
              <a:buChar char="•"/>
            </a:pPr>
            <a:r>
              <a:rPr lang="en-US" sz="1750">
                <a:solidFill>
                  <a:srgbClr val="3F3F3F"/>
                </a:solidFill>
              </a:rPr>
              <a:t>Configuration Pre-deployment approvals: Select the users who can approve or reject deployments to this stage</a:t>
            </a:r>
            <a:br>
              <a:rPr lang="en-US" sz="1750">
                <a:solidFill>
                  <a:srgbClr val="3F3F3F"/>
                </a:solidFill>
              </a:rPr>
            </a:br>
            <a:endParaRPr sz="1750">
              <a:solidFill>
                <a:srgbClr val="3F3F3F"/>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Clone Stage </a:t>
            </a:r>
            <a:endParaRPr/>
          </a:p>
        </p:txBody>
      </p:sp>
      <p:pic>
        <p:nvPicPr>
          <p:cNvPr id="1188" name="Google Shape;1188;p140"/>
          <p:cNvPicPr preferRelativeResize="0"/>
          <p:nvPr/>
        </p:nvPicPr>
        <p:blipFill rotWithShape="1">
          <a:blip r:embed="rId3">
            <a:alphaModFix/>
          </a:blip>
          <a:srcRect b="0" l="0" r="0" t="0"/>
          <a:stretch/>
        </p:blipFill>
        <p:spPr>
          <a:xfrm>
            <a:off x="996843" y="1631919"/>
            <a:ext cx="4410075" cy="4552950"/>
          </a:xfrm>
          <a:prstGeom prst="rect">
            <a:avLst/>
          </a:prstGeom>
          <a:noFill/>
          <a:ln>
            <a:noFill/>
          </a:ln>
        </p:spPr>
      </p:pic>
      <p:pic>
        <p:nvPicPr>
          <p:cNvPr id="1189" name="Google Shape;1189;p140"/>
          <p:cNvPicPr preferRelativeResize="0"/>
          <p:nvPr/>
        </p:nvPicPr>
        <p:blipFill rotWithShape="1">
          <a:blip r:embed="rId4">
            <a:alphaModFix/>
          </a:blip>
          <a:srcRect b="0" l="0" r="0" t="0"/>
          <a:stretch/>
        </p:blipFill>
        <p:spPr>
          <a:xfrm>
            <a:off x="5885248" y="1970843"/>
            <a:ext cx="5074037" cy="4320419"/>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Configuration of Pre-Deployment Conditions</a:t>
            </a:r>
            <a:endParaRPr/>
          </a:p>
        </p:txBody>
      </p:sp>
      <p:pic>
        <p:nvPicPr>
          <p:cNvPr descr="C:\Users\User\AppData\Local\Temp\SNAGHTML10a3980.PNG" id="1195" name="Google Shape;1195;p141"/>
          <p:cNvPicPr preferRelativeResize="0"/>
          <p:nvPr/>
        </p:nvPicPr>
        <p:blipFill rotWithShape="1">
          <a:blip r:embed="rId3">
            <a:alphaModFix/>
          </a:blip>
          <a:srcRect b="0" l="0" r="0" t="0"/>
          <a:stretch/>
        </p:blipFill>
        <p:spPr>
          <a:xfrm>
            <a:off x="260350" y="1417637"/>
            <a:ext cx="2524125" cy="1971676"/>
          </a:xfrm>
          <a:prstGeom prst="rect">
            <a:avLst/>
          </a:prstGeom>
          <a:noFill/>
          <a:ln>
            <a:noFill/>
          </a:ln>
        </p:spPr>
      </p:pic>
      <p:pic>
        <p:nvPicPr>
          <p:cNvPr id="1196" name="Google Shape;1196;p141"/>
          <p:cNvPicPr preferRelativeResize="0"/>
          <p:nvPr/>
        </p:nvPicPr>
        <p:blipFill rotWithShape="1">
          <a:blip r:embed="rId4">
            <a:alphaModFix/>
          </a:blip>
          <a:srcRect b="0" l="0" r="0" t="0"/>
          <a:stretch/>
        </p:blipFill>
        <p:spPr>
          <a:xfrm>
            <a:off x="7362825" y="1771650"/>
            <a:ext cx="3857681" cy="3748088"/>
          </a:xfrm>
          <a:prstGeom prst="rect">
            <a:avLst/>
          </a:prstGeom>
          <a:noFill/>
          <a:ln>
            <a:noFill/>
          </a:ln>
        </p:spPr>
      </p:pic>
      <p:pic>
        <p:nvPicPr>
          <p:cNvPr descr="C:\Users\User\AppData\Local\Temp\SNAGHTML151c106.PNG" id="1197" name="Google Shape;1197;p141"/>
          <p:cNvPicPr preferRelativeResize="0"/>
          <p:nvPr/>
        </p:nvPicPr>
        <p:blipFill rotWithShape="1">
          <a:blip r:embed="rId5">
            <a:alphaModFix/>
          </a:blip>
          <a:srcRect b="0" l="0" r="0" t="0"/>
          <a:stretch/>
        </p:blipFill>
        <p:spPr>
          <a:xfrm>
            <a:off x="2857499" y="1417637"/>
            <a:ext cx="3819525" cy="5153794"/>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1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Stage For Pre-Confirmation Environment </a:t>
            </a:r>
            <a:endParaRPr/>
          </a:p>
        </p:txBody>
      </p:sp>
      <p:sp>
        <p:nvSpPr>
          <p:cNvPr id="1203" name="Google Shape;1203;p142"/>
          <p:cNvSpPr txBox="1"/>
          <p:nvPr>
            <p:ph idx="1" type="body"/>
          </p:nvPr>
        </p:nvSpPr>
        <p:spPr>
          <a:xfrm>
            <a:off x="581025" y="5076824"/>
            <a:ext cx="10737265" cy="1217443"/>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solidFill>
                  <a:srgbClr val="3F3F3F"/>
                </a:solidFill>
              </a:rPr>
              <a:t>Clone Deploy RC stage and rename it to </a:t>
            </a:r>
            <a:r>
              <a:rPr lang="en-US">
                <a:solidFill>
                  <a:srgbClr val="FF0000"/>
                </a:solidFill>
              </a:rPr>
              <a:t>Deploy STG</a:t>
            </a:r>
            <a:r>
              <a:rPr lang="en-US">
                <a:solidFill>
                  <a:srgbClr val="3F3F3F"/>
                </a:solidFill>
              </a:rPr>
              <a:t>, </a:t>
            </a:r>
            <a:r>
              <a:rPr lang="en-US">
                <a:solidFill>
                  <a:srgbClr val="FF0000"/>
                </a:solidFill>
              </a:rPr>
              <a:t>Deploy PROD</a:t>
            </a:r>
            <a:endParaRPr>
              <a:solidFill>
                <a:srgbClr val="FF0000"/>
              </a:solidFill>
            </a:endParaRPr>
          </a:p>
        </p:txBody>
      </p:sp>
      <p:pic>
        <p:nvPicPr>
          <p:cNvPr id="1204" name="Google Shape;1204;p142"/>
          <p:cNvPicPr preferRelativeResize="0"/>
          <p:nvPr/>
        </p:nvPicPr>
        <p:blipFill rotWithShape="1">
          <a:blip r:embed="rId3">
            <a:alphaModFix/>
          </a:blip>
          <a:srcRect b="0" l="0" r="0" t="0"/>
          <a:stretch/>
        </p:blipFill>
        <p:spPr>
          <a:xfrm>
            <a:off x="571500" y="1733549"/>
            <a:ext cx="11344321" cy="324802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143"/>
          <p:cNvSpPr txBox="1"/>
          <p:nvPr>
            <p:ph type="title"/>
          </p:nvPr>
        </p:nvSpPr>
        <p:spPr>
          <a:xfrm>
            <a:off x="838200" y="69851"/>
            <a:ext cx="10515600" cy="8826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Configuration Variables</a:t>
            </a:r>
            <a:endParaRPr/>
          </a:p>
        </p:txBody>
      </p:sp>
      <p:sp>
        <p:nvSpPr>
          <p:cNvPr id="1210" name="Google Shape;1210;p143"/>
          <p:cNvSpPr txBox="1"/>
          <p:nvPr>
            <p:ph idx="1" type="body"/>
          </p:nvPr>
        </p:nvSpPr>
        <p:spPr>
          <a:xfrm>
            <a:off x="354574" y="5610225"/>
            <a:ext cx="11380226" cy="109537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solidFill>
                  <a:srgbClr val="3F3F3F"/>
                </a:solidFill>
              </a:rPr>
              <a:t>Because of the limitation of App Service so in this work shop we will use the same deploy URL for all environment </a:t>
            </a:r>
            <a:endParaRPr>
              <a:solidFill>
                <a:srgbClr val="3F3F3F"/>
              </a:solidFill>
            </a:endParaRPr>
          </a:p>
        </p:txBody>
      </p:sp>
      <p:pic>
        <p:nvPicPr>
          <p:cNvPr id="1211" name="Google Shape;1211;p143"/>
          <p:cNvPicPr preferRelativeResize="0"/>
          <p:nvPr/>
        </p:nvPicPr>
        <p:blipFill rotWithShape="1">
          <a:blip r:embed="rId3">
            <a:alphaModFix/>
          </a:blip>
          <a:srcRect b="0" l="0" r="0" t="0"/>
          <a:stretch/>
        </p:blipFill>
        <p:spPr>
          <a:xfrm>
            <a:off x="928688" y="823914"/>
            <a:ext cx="10626375" cy="4691061"/>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44"/>
          <p:cNvSpPr txBox="1"/>
          <p:nvPr>
            <p:ph type="title"/>
          </p:nvPr>
        </p:nvSpPr>
        <p:spPr>
          <a:xfrm>
            <a:off x="838200" y="365125"/>
            <a:ext cx="1050036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Configuration For Testing Stage</a:t>
            </a:r>
            <a:endParaRPr/>
          </a:p>
        </p:txBody>
      </p:sp>
      <p:grpSp>
        <p:nvGrpSpPr>
          <p:cNvPr id="1217" name="Google Shape;1217;p144"/>
          <p:cNvGrpSpPr/>
          <p:nvPr/>
        </p:nvGrpSpPr>
        <p:grpSpPr>
          <a:xfrm>
            <a:off x="72148" y="2885844"/>
            <a:ext cx="12037542" cy="659591"/>
            <a:chOff x="1028" y="1686964"/>
            <a:chExt cx="12037542" cy="659591"/>
          </a:xfrm>
        </p:grpSpPr>
        <p:sp>
          <p:nvSpPr>
            <p:cNvPr id="1218" name="Google Shape;1218;p144"/>
            <p:cNvSpPr/>
            <p:nvPr/>
          </p:nvSpPr>
          <p:spPr>
            <a:xfrm>
              <a:off x="1028" y="1686964"/>
              <a:ext cx="1648978" cy="659591"/>
            </a:xfrm>
            <a:prstGeom prst="chevron">
              <a:avLst>
                <a:gd fmla="val 50000" name="adj"/>
              </a:avLst>
            </a:prstGeom>
            <a:solidFill>
              <a:srgbClr val="599BD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44"/>
            <p:cNvSpPr txBox="1"/>
            <p:nvPr/>
          </p:nvSpPr>
          <p:spPr>
            <a:xfrm>
              <a:off x="330824" y="1686964"/>
              <a:ext cx="989387" cy="659591"/>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Artifacts</a:t>
              </a:r>
              <a:endParaRPr b="1" i="0" sz="1100" u="none" cap="none" strike="noStrike">
                <a:solidFill>
                  <a:schemeClr val="lt1"/>
                </a:solidFill>
                <a:latin typeface="Arial"/>
                <a:ea typeface="Arial"/>
                <a:cs typeface="Arial"/>
                <a:sym typeface="Arial"/>
              </a:endParaRPr>
            </a:p>
          </p:txBody>
        </p:sp>
        <p:sp>
          <p:nvSpPr>
            <p:cNvPr id="1220" name="Google Shape;1220;p144"/>
            <p:cNvSpPr/>
            <p:nvPr/>
          </p:nvSpPr>
          <p:spPr>
            <a:xfrm>
              <a:off x="1485109" y="1686964"/>
              <a:ext cx="1648978" cy="659591"/>
            </a:xfrm>
            <a:prstGeom prst="chevron">
              <a:avLst>
                <a:gd fmla="val 50000" name="adj"/>
              </a:avLst>
            </a:prstGeom>
            <a:solidFill>
              <a:srgbClr val="55B6D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44"/>
            <p:cNvSpPr txBox="1"/>
            <p:nvPr/>
          </p:nvSpPr>
          <p:spPr>
            <a:xfrm>
              <a:off x="1814905" y="1686964"/>
              <a:ext cx="989387" cy="659591"/>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Deploy DEV </a:t>
              </a:r>
              <a:endParaRPr/>
            </a:p>
          </p:txBody>
        </p:sp>
        <p:sp>
          <p:nvSpPr>
            <p:cNvPr id="1222" name="Google Shape;1222;p144"/>
            <p:cNvSpPr/>
            <p:nvPr/>
          </p:nvSpPr>
          <p:spPr>
            <a:xfrm>
              <a:off x="2969189" y="1686964"/>
              <a:ext cx="1648978" cy="659591"/>
            </a:xfrm>
            <a:prstGeom prst="chevron">
              <a:avLst>
                <a:gd fmla="val 50000" name="adj"/>
              </a:avLst>
            </a:prstGeom>
            <a:solidFill>
              <a:srgbClr val="51CBC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44"/>
            <p:cNvSpPr txBox="1"/>
            <p:nvPr/>
          </p:nvSpPr>
          <p:spPr>
            <a:xfrm>
              <a:off x="3298985" y="1686964"/>
              <a:ext cx="989387" cy="659591"/>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IT</a:t>
              </a:r>
              <a:endParaRPr/>
            </a:p>
          </p:txBody>
        </p:sp>
        <p:sp>
          <p:nvSpPr>
            <p:cNvPr id="1224" name="Google Shape;1224;p144"/>
            <p:cNvSpPr/>
            <p:nvPr/>
          </p:nvSpPr>
          <p:spPr>
            <a:xfrm>
              <a:off x="4453270" y="1686964"/>
              <a:ext cx="1648978" cy="659591"/>
            </a:xfrm>
            <a:prstGeom prst="chevron">
              <a:avLst>
                <a:gd fmla="val 50000" name="adj"/>
              </a:avLst>
            </a:prstGeom>
            <a:solidFill>
              <a:srgbClr val="4DC69E"/>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44"/>
            <p:cNvSpPr txBox="1"/>
            <p:nvPr/>
          </p:nvSpPr>
          <p:spPr>
            <a:xfrm>
              <a:off x="4783066" y="1686964"/>
              <a:ext cx="989387" cy="659591"/>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Deploy</a:t>
              </a:r>
              <a:r>
                <a:rPr b="0" i="0" lang="en-US" sz="1100" u="none" cap="none" strike="noStrike">
                  <a:solidFill>
                    <a:schemeClr val="lt1"/>
                  </a:solidFill>
                  <a:latin typeface="Arial"/>
                  <a:ea typeface="Arial"/>
                  <a:cs typeface="Arial"/>
                  <a:sym typeface="Arial"/>
                </a:rPr>
                <a:t> </a:t>
              </a:r>
              <a:r>
                <a:rPr b="1" i="0" lang="en-US" sz="1100" u="none" cap="none" strike="noStrike">
                  <a:solidFill>
                    <a:schemeClr val="lt1"/>
                  </a:solidFill>
                  <a:latin typeface="Arial"/>
                  <a:ea typeface="Arial"/>
                  <a:cs typeface="Arial"/>
                  <a:sym typeface="Arial"/>
                </a:rPr>
                <a:t>RC</a:t>
              </a:r>
              <a:endParaRPr/>
            </a:p>
          </p:txBody>
        </p:sp>
        <p:sp>
          <p:nvSpPr>
            <p:cNvPr id="1226" name="Google Shape;1226;p144"/>
            <p:cNvSpPr/>
            <p:nvPr/>
          </p:nvSpPr>
          <p:spPr>
            <a:xfrm>
              <a:off x="5937351" y="1686964"/>
              <a:ext cx="1648978" cy="659591"/>
            </a:xfrm>
            <a:prstGeom prst="chevron">
              <a:avLst>
                <a:gd fmla="val 50000" name="adj"/>
              </a:avLst>
            </a:prstGeom>
            <a:solidFill>
              <a:srgbClr val="4AC17A"/>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44"/>
            <p:cNvSpPr txBox="1"/>
            <p:nvPr/>
          </p:nvSpPr>
          <p:spPr>
            <a:xfrm>
              <a:off x="6267147" y="1686964"/>
              <a:ext cx="989387" cy="659591"/>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UAT</a:t>
              </a:r>
              <a:endParaRPr/>
            </a:p>
          </p:txBody>
        </p:sp>
        <p:sp>
          <p:nvSpPr>
            <p:cNvPr id="1228" name="Google Shape;1228;p144"/>
            <p:cNvSpPr/>
            <p:nvPr/>
          </p:nvSpPr>
          <p:spPr>
            <a:xfrm>
              <a:off x="7421431" y="1686964"/>
              <a:ext cx="1648978" cy="659591"/>
            </a:xfrm>
            <a:prstGeom prst="chevron">
              <a:avLst>
                <a:gd fmla="val 50000" name="adj"/>
              </a:avLst>
            </a:prstGeom>
            <a:solidFill>
              <a:srgbClr val="46BC57"/>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44"/>
            <p:cNvSpPr txBox="1"/>
            <p:nvPr/>
          </p:nvSpPr>
          <p:spPr>
            <a:xfrm>
              <a:off x="7751227" y="1686964"/>
              <a:ext cx="989387" cy="659591"/>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Deploy</a:t>
              </a:r>
              <a:r>
                <a:rPr b="0" i="0" lang="en-US" sz="1100" u="none" cap="none" strike="noStrike">
                  <a:solidFill>
                    <a:schemeClr val="lt1"/>
                  </a:solidFill>
                  <a:latin typeface="Arial"/>
                  <a:ea typeface="Arial"/>
                  <a:cs typeface="Arial"/>
                  <a:sym typeface="Arial"/>
                </a:rPr>
                <a:t> </a:t>
              </a:r>
              <a:r>
                <a:rPr b="1" i="0" lang="en-US" sz="1100" u="none" cap="none" strike="noStrike">
                  <a:solidFill>
                    <a:schemeClr val="lt1"/>
                  </a:solidFill>
                  <a:latin typeface="Arial"/>
                  <a:ea typeface="Arial"/>
                  <a:cs typeface="Arial"/>
                  <a:sym typeface="Arial"/>
                </a:rPr>
                <a:t>STG</a:t>
              </a:r>
              <a:endParaRPr/>
            </a:p>
          </p:txBody>
        </p:sp>
        <p:sp>
          <p:nvSpPr>
            <p:cNvPr id="1230" name="Google Shape;1230;p144"/>
            <p:cNvSpPr/>
            <p:nvPr/>
          </p:nvSpPr>
          <p:spPr>
            <a:xfrm>
              <a:off x="8905512" y="1686964"/>
              <a:ext cx="1648978" cy="659591"/>
            </a:xfrm>
            <a:prstGeom prst="chevron">
              <a:avLst>
                <a:gd fmla="val 50000" name="adj"/>
              </a:avLst>
            </a:prstGeom>
            <a:solidFill>
              <a:srgbClr val="55B445"/>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44"/>
            <p:cNvSpPr txBox="1"/>
            <p:nvPr/>
          </p:nvSpPr>
          <p:spPr>
            <a:xfrm>
              <a:off x="9235308" y="1686964"/>
              <a:ext cx="989387" cy="659591"/>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Performance</a:t>
              </a:r>
              <a:r>
                <a:rPr b="0" i="0" lang="en-US" sz="1100" u="none" cap="none" strike="noStrike">
                  <a:solidFill>
                    <a:schemeClr val="lt1"/>
                  </a:solidFill>
                  <a:latin typeface="Arial"/>
                  <a:ea typeface="Arial"/>
                  <a:cs typeface="Arial"/>
                  <a:sym typeface="Arial"/>
                </a:rPr>
                <a:t> </a:t>
              </a:r>
              <a:r>
                <a:rPr b="1" i="0" lang="en-US" sz="1100" u="none" cap="none" strike="noStrike">
                  <a:solidFill>
                    <a:schemeClr val="lt1"/>
                  </a:solidFill>
                  <a:latin typeface="Arial"/>
                  <a:ea typeface="Arial"/>
                  <a:cs typeface="Arial"/>
                  <a:sym typeface="Arial"/>
                </a:rPr>
                <a:t>Test</a:t>
              </a:r>
              <a:endParaRPr/>
            </a:p>
          </p:txBody>
        </p:sp>
        <p:sp>
          <p:nvSpPr>
            <p:cNvPr id="1232" name="Google Shape;1232;p144"/>
            <p:cNvSpPr/>
            <p:nvPr/>
          </p:nvSpPr>
          <p:spPr>
            <a:xfrm>
              <a:off x="10389592" y="1686964"/>
              <a:ext cx="1648978" cy="659591"/>
            </a:xfrm>
            <a:prstGeom prst="chevron">
              <a:avLst>
                <a:gd fmla="val 50000" name="adj"/>
              </a:avLst>
            </a:prstGeom>
            <a:solidFill>
              <a:srgbClr val="6FAB46"/>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44"/>
            <p:cNvSpPr txBox="1"/>
            <p:nvPr/>
          </p:nvSpPr>
          <p:spPr>
            <a:xfrm>
              <a:off x="10719388" y="1686964"/>
              <a:ext cx="989387" cy="659591"/>
            </a:xfrm>
            <a:prstGeom prst="rect">
              <a:avLst/>
            </a:prstGeom>
            <a:noFill/>
            <a:ln>
              <a:noFill/>
            </a:ln>
          </p:spPr>
          <p:txBody>
            <a:bodyPr anchorCtr="0" anchor="ctr" bIns="14650" lIns="44000" spcFirstLastPara="1" rIns="14650" wrap="square" tIns="14650">
              <a:noAutofit/>
            </a:bodyPr>
            <a:lstStyle/>
            <a:p>
              <a:pPr indent="0" lvl="0" marL="0" marR="0" rtl="0" algn="ctr">
                <a:lnSpc>
                  <a:spcPct val="9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Deploy</a:t>
              </a:r>
              <a:r>
                <a:rPr b="0" i="0" lang="en-US" sz="1100" u="none" cap="none" strike="noStrike">
                  <a:solidFill>
                    <a:schemeClr val="lt1"/>
                  </a:solidFill>
                  <a:latin typeface="Arial"/>
                  <a:ea typeface="Arial"/>
                  <a:cs typeface="Arial"/>
                  <a:sym typeface="Arial"/>
                </a:rPr>
                <a:t> </a:t>
              </a:r>
              <a:r>
                <a:rPr b="1" i="0" lang="en-US" sz="1100" u="none" cap="none" strike="noStrike">
                  <a:solidFill>
                    <a:schemeClr val="lt1"/>
                  </a:solidFill>
                  <a:latin typeface="Arial"/>
                  <a:ea typeface="Arial"/>
                  <a:cs typeface="Arial"/>
                  <a:sym typeface="Arial"/>
                </a:rPr>
                <a:t>PROD</a:t>
              </a:r>
              <a:endParaRPr/>
            </a:p>
          </p:txBody>
        </p:sp>
      </p:grpSp>
      <p:sp>
        <p:nvSpPr>
          <p:cNvPr id="1234" name="Google Shape;1234;p144"/>
          <p:cNvSpPr txBox="1"/>
          <p:nvPr>
            <p:ph idx="1" type="body"/>
          </p:nvPr>
        </p:nvSpPr>
        <p:spPr>
          <a:xfrm>
            <a:off x="838200" y="4210050"/>
            <a:ext cx="10515600" cy="2271713"/>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solidFill>
                  <a:srgbClr val="3F3F3F"/>
                </a:solidFill>
              </a:rPr>
              <a:t>In this workshop testing stage will configure as a Manual Intervention</a:t>
            </a:r>
            <a:endParaRPr/>
          </a:p>
          <a:p>
            <a:pPr indent="-228600" lvl="0" marL="457200" rtl="0" algn="l">
              <a:lnSpc>
                <a:spcPct val="90000"/>
              </a:lnSpc>
              <a:spcBef>
                <a:spcPts val="1000"/>
              </a:spcBef>
              <a:spcAft>
                <a:spcPts val="0"/>
              </a:spcAft>
              <a:buClr>
                <a:schemeClr val="dk1"/>
              </a:buClr>
              <a:buSzPts val="1800"/>
              <a:buNone/>
            </a:pPr>
            <a:r>
              <a:t/>
            </a:r>
            <a:endParaRPr>
              <a:solidFill>
                <a:srgbClr val="3F3F3F"/>
              </a:solidFill>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Integration Test Stage</a:t>
            </a:r>
            <a:endParaRPr/>
          </a:p>
        </p:txBody>
      </p:sp>
      <p:pic>
        <p:nvPicPr>
          <p:cNvPr id="1240" name="Google Shape;1240;p145"/>
          <p:cNvPicPr preferRelativeResize="0"/>
          <p:nvPr/>
        </p:nvPicPr>
        <p:blipFill rotWithShape="1">
          <a:blip r:embed="rId3">
            <a:alphaModFix/>
          </a:blip>
          <a:srcRect b="0" l="0" r="0" t="0"/>
          <a:stretch/>
        </p:blipFill>
        <p:spPr>
          <a:xfrm>
            <a:off x="285750" y="1819275"/>
            <a:ext cx="2038350" cy="1536602"/>
          </a:xfrm>
          <a:prstGeom prst="rect">
            <a:avLst/>
          </a:prstGeom>
          <a:noFill/>
          <a:ln>
            <a:noFill/>
          </a:ln>
        </p:spPr>
      </p:pic>
      <p:pic>
        <p:nvPicPr>
          <p:cNvPr id="1241" name="Google Shape;1241;p145"/>
          <p:cNvPicPr preferRelativeResize="0"/>
          <p:nvPr/>
        </p:nvPicPr>
        <p:blipFill rotWithShape="1">
          <a:blip r:embed="rId4">
            <a:alphaModFix/>
          </a:blip>
          <a:srcRect b="0" l="0" r="0" t="0"/>
          <a:stretch/>
        </p:blipFill>
        <p:spPr>
          <a:xfrm>
            <a:off x="2533650" y="1738313"/>
            <a:ext cx="4145351" cy="2890837"/>
          </a:xfrm>
          <a:prstGeom prst="rect">
            <a:avLst/>
          </a:prstGeom>
          <a:noFill/>
          <a:ln>
            <a:noFill/>
          </a:ln>
        </p:spPr>
      </p:pic>
      <p:pic>
        <p:nvPicPr>
          <p:cNvPr id="1242" name="Google Shape;1242;p145"/>
          <p:cNvPicPr preferRelativeResize="0"/>
          <p:nvPr/>
        </p:nvPicPr>
        <p:blipFill rotWithShape="1">
          <a:blip r:embed="rId5">
            <a:alphaModFix/>
          </a:blip>
          <a:srcRect b="0" l="0" r="0" t="0"/>
          <a:stretch/>
        </p:blipFill>
        <p:spPr>
          <a:xfrm>
            <a:off x="7448550" y="1943100"/>
            <a:ext cx="4304655" cy="3367088"/>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Agentless Job</a:t>
            </a:r>
            <a:endParaRPr/>
          </a:p>
        </p:txBody>
      </p:sp>
      <p:pic>
        <p:nvPicPr>
          <p:cNvPr id="1248" name="Google Shape;1248;p146"/>
          <p:cNvPicPr preferRelativeResize="0"/>
          <p:nvPr/>
        </p:nvPicPr>
        <p:blipFill rotWithShape="1">
          <a:blip r:embed="rId3">
            <a:alphaModFix/>
          </a:blip>
          <a:srcRect b="0" l="0" r="0" t="0"/>
          <a:stretch/>
        </p:blipFill>
        <p:spPr>
          <a:xfrm>
            <a:off x="361950" y="2574613"/>
            <a:ext cx="5153025" cy="3532622"/>
          </a:xfrm>
          <a:prstGeom prst="rect">
            <a:avLst/>
          </a:prstGeom>
          <a:noFill/>
          <a:ln>
            <a:noFill/>
          </a:ln>
        </p:spPr>
      </p:pic>
      <p:pic>
        <p:nvPicPr>
          <p:cNvPr descr="C:\Users\User\AppData\Local\Temp\SNAGHTML180ee4c.PNG" id="1249" name="Google Shape;1249;p146"/>
          <p:cNvPicPr preferRelativeResize="0"/>
          <p:nvPr/>
        </p:nvPicPr>
        <p:blipFill rotWithShape="1">
          <a:blip r:embed="rId4">
            <a:alphaModFix/>
          </a:blip>
          <a:srcRect b="0" l="0" r="0" t="0"/>
          <a:stretch/>
        </p:blipFill>
        <p:spPr>
          <a:xfrm>
            <a:off x="6223000" y="2508237"/>
            <a:ext cx="2692400" cy="1195023"/>
          </a:xfrm>
          <a:prstGeom prst="rect">
            <a:avLst/>
          </a:prstGeom>
          <a:noFill/>
          <a:ln>
            <a:noFill/>
          </a:ln>
        </p:spPr>
      </p:pic>
      <p:pic>
        <p:nvPicPr>
          <p:cNvPr id="1250" name="Google Shape;1250;p146"/>
          <p:cNvPicPr preferRelativeResize="0"/>
          <p:nvPr/>
        </p:nvPicPr>
        <p:blipFill rotWithShape="1">
          <a:blip r:embed="rId5">
            <a:alphaModFix/>
          </a:blip>
          <a:srcRect b="0" l="0" r="0" t="0"/>
          <a:stretch/>
        </p:blipFill>
        <p:spPr>
          <a:xfrm>
            <a:off x="6143625" y="3888725"/>
            <a:ext cx="5410200" cy="27051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Manual Intervention Task</a:t>
            </a:r>
            <a:endParaRPr/>
          </a:p>
        </p:txBody>
      </p:sp>
      <p:pic>
        <p:nvPicPr>
          <p:cNvPr id="1256" name="Google Shape;1256;p147"/>
          <p:cNvPicPr preferRelativeResize="0"/>
          <p:nvPr/>
        </p:nvPicPr>
        <p:blipFill rotWithShape="1">
          <a:blip r:embed="rId3">
            <a:alphaModFix/>
          </a:blip>
          <a:srcRect b="0" l="0" r="0" t="0"/>
          <a:stretch/>
        </p:blipFill>
        <p:spPr>
          <a:xfrm>
            <a:off x="1504950" y="1681163"/>
            <a:ext cx="8113713" cy="305752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Add Manual Intervention Task</a:t>
            </a:r>
            <a:endParaRPr/>
          </a:p>
        </p:txBody>
      </p:sp>
      <p:pic>
        <p:nvPicPr>
          <p:cNvPr id="1262" name="Google Shape;1262;p148"/>
          <p:cNvPicPr preferRelativeResize="0"/>
          <p:nvPr/>
        </p:nvPicPr>
        <p:blipFill rotWithShape="1">
          <a:blip r:embed="rId3">
            <a:alphaModFix/>
          </a:blip>
          <a:srcRect b="0" l="0" r="0" t="0"/>
          <a:stretch/>
        </p:blipFill>
        <p:spPr>
          <a:xfrm>
            <a:off x="2643189" y="1504949"/>
            <a:ext cx="6756688" cy="4919663"/>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149"/>
          <p:cNvSpPr txBox="1"/>
          <p:nvPr>
            <p:ph type="title"/>
          </p:nvPr>
        </p:nvSpPr>
        <p:spPr>
          <a:xfrm>
            <a:off x="590551" y="365125"/>
            <a:ext cx="11515724"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Change Pre-deployment conditions of Deploy RC</a:t>
            </a:r>
            <a:endParaRPr/>
          </a:p>
        </p:txBody>
      </p:sp>
      <p:pic>
        <p:nvPicPr>
          <p:cNvPr id="1268" name="Google Shape;1268;p149"/>
          <p:cNvPicPr preferRelativeResize="0"/>
          <p:nvPr/>
        </p:nvPicPr>
        <p:blipFill rotWithShape="1">
          <a:blip r:embed="rId3">
            <a:alphaModFix/>
          </a:blip>
          <a:srcRect b="0" l="0" r="0" t="0"/>
          <a:stretch/>
        </p:blipFill>
        <p:spPr>
          <a:xfrm>
            <a:off x="285750" y="1709738"/>
            <a:ext cx="3171825" cy="3228975"/>
          </a:xfrm>
          <a:prstGeom prst="rect">
            <a:avLst/>
          </a:prstGeom>
          <a:noFill/>
          <a:ln>
            <a:noFill/>
          </a:ln>
        </p:spPr>
      </p:pic>
      <p:pic>
        <p:nvPicPr>
          <p:cNvPr id="1269" name="Google Shape;1269;p149"/>
          <p:cNvPicPr preferRelativeResize="0"/>
          <p:nvPr/>
        </p:nvPicPr>
        <p:blipFill rotWithShape="1">
          <a:blip r:embed="rId4">
            <a:alphaModFix/>
          </a:blip>
          <a:srcRect b="0" l="0" r="0" t="0"/>
          <a:stretch/>
        </p:blipFill>
        <p:spPr>
          <a:xfrm>
            <a:off x="5343525" y="1608352"/>
            <a:ext cx="4619625" cy="4930561"/>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1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UAT Stage</a:t>
            </a:r>
            <a:endParaRPr/>
          </a:p>
        </p:txBody>
      </p:sp>
      <p:pic>
        <p:nvPicPr>
          <p:cNvPr descr="C:\Users\User\AppData\Local\Temp\SNAGHTML18d285d.PNG" id="1275" name="Google Shape;1275;p150"/>
          <p:cNvPicPr preferRelativeResize="0"/>
          <p:nvPr/>
        </p:nvPicPr>
        <p:blipFill rotWithShape="1">
          <a:blip r:embed="rId3">
            <a:alphaModFix/>
          </a:blip>
          <a:srcRect b="0" l="0" r="0" t="0"/>
          <a:stretch/>
        </p:blipFill>
        <p:spPr>
          <a:xfrm>
            <a:off x="317500" y="1408112"/>
            <a:ext cx="2362200" cy="1819276"/>
          </a:xfrm>
          <a:prstGeom prst="rect">
            <a:avLst/>
          </a:prstGeom>
          <a:noFill/>
          <a:ln>
            <a:noFill/>
          </a:ln>
        </p:spPr>
      </p:pic>
      <p:pic>
        <p:nvPicPr>
          <p:cNvPr id="1276" name="Google Shape;1276;p150"/>
          <p:cNvPicPr preferRelativeResize="0"/>
          <p:nvPr/>
        </p:nvPicPr>
        <p:blipFill rotWithShape="1">
          <a:blip r:embed="rId4">
            <a:alphaModFix/>
          </a:blip>
          <a:srcRect b="0" l="0" r="0" t="0"/>
          <a:stretch/>
        </p:blipFill>
        <p:spPr>
          <a:xfrm>
            <a:off x="222250" y="3760787"/>
            <a:ext cx="2552700" cy="1524000"/>
          </a:xfrm>
          <a:prstGeom prst="rect">
            <a:avLst/>
          </a:prstGeom>
          <a:noFill/>
          <a:ln>
            <a:noFill/>
          </a:ln>
        </p:spPr>
      </p:pic>
      <p:pic>
        <p:nvPicPr>
          <p:cNvPr id="1277" name="Google Shape;1277;p150"/>
          <p:cNvPicPr preferRelativeResize="0"/>
          <p:nvPr/>
        </p:nvPicPr>
        <p:blipFill rotWithShape="1">
          <a:blip r:embed="rId5">
            <a:alphaModFix/>
          </a:blip>
          <a:srcRect b="0" l="0" r="0" t="0"/>
          <a:stretch/>
        </p:blipFill>
        <p:spPr>
          <a:xfrm>
            <a:off x="2847976" y="1712912"/>
            <a:ext cx="3881490" cy="2201863"/>
          </a:xfrm>
          <a:prstGeom prst="rect">
            <a:avLst/>
          </a:prstGeom>
          <a:noFill/>
          <a:ln>
            <a:noFill/>
          </a:ln>
        </p:spPr>
      </p:pic>
      <p:pic>
        <p:nvPicPr>
          <p:cNvPr id="1278" name="Google Shape;1278;p150"/>
          <p:cNvPicPr preferRelativeResize="0"/>
          <p:nvPr/>
        </p:nvPicPr>
        <p:blipFill rotWithShape="1">
          <a:blip r:embed="rId6">
            <a:alphaModFix/>
          </a:blip>
          <a:srcRect b="0" l="0" r="0" t="0"/>
          <a:stretch/>
        </p:blipFill>
        <p:spPr>
          <a:xfrm>
            <a:off x="6924675" y="1712911"/>
            <a:ext cx="5187363" cy="4049714"/>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151"/>
          <p:cNvSpPr txBox="1"/>
          <p:nvPr>
            <p:ph type="title"/>
          </p:nvPr>
        </p:nvSpPr>
        <p:spPr>
          <a:xfrm>
            <a:off x="590551" y="365125"/>
            <a:ext cx="11515724"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Change Pre-deployment conditions of UAT</a:t>
            </a:r>
            <a:endParaRPr/>
          </a:p>
        </p:txBody>
      </p:sp>
      <p:pic>
        <p:nvPicPr>
          <p:cNvPr descr="C:\Users\User\AppData\Local\Temp\SNAGHTML20af273.PNG" id="1284" name="Google Shape;1284;p151"/>
          <p:cNvPicPr preferRelativeResize="0"/>
          <p:nvPr/>
        </p:nvPicPr>
        <p:blipFill rotWithShape="1">
          <a:blip r:embed="rId3">
            <a:alphaModFix/>
          </a:blip>
          <a:srcRect b="0" l="0" r="0" t="0"/>
          <a:stretch/>
        </p:blipFill>
        <p:spPr>
          <a:xfrm>
            <a:off x="927100" y="1919288"/>
            <a:ext cx="2562225" cy="1704976"/>
          </a:xfrm>
          <a:prstGeom prst="rect">
            <a:avLst/>
          </a:prstGeom>
          <a:noFill/>
          <a:ln>
            <a:noFill/>
          </a:ln>
        </p:spPr>
      </p:pic>
      <p:pic>
        <p:nvPicPr>
          <p:cNvPr id="1285" name="Google Shape;1285;p151"/>
          <p:cNvPicPr preferRelativeResize="0"/>
          <p:nvPr/>
        </p:nvPicPr>
        <p:blipFill rotWithShape="1">
          <a:blip r:embed="rId4">
            <a:alphaModFix/>
          </a:blip>
          <a:srcRect b="0" l="0" r="0" t="0"/>
          <a:stretch/>
        </p:blipFill>
        <p:spPr>
          <a:xfrm>
            <a:off x="5019674" y="1619250"/>
            <a:ext cx="4908783" cy="4943474"/>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152"/>
          <p:cNvSpPr txBox="1"/>
          <p:nvPr>
            <p:ph type="title"/>
          </p:nvPr>
        </p:nvSpPr>
        <p:spPr>
          <a:xfrm>
            <a:off x="590551" y="365125"/>
            <a:ext cx="11515724"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Change Pre-deployment conditions of Deploy STG</a:t>
            </a:r>
            <a:endParaRPr/>
          </a:p>
        </p:txBody>
      </p:sp>
      <p:pic>
        <p:nvPicPr>
          <p:cNvPr descr="C:\Users\User\AppData\Local\Temp\SNAGHTML3c9aa.PNG" id="1291" name="Google Shape;1291;p152"/>
          <p:cNvPicPr preferRelativeResize="0"/>
          <p:nvPr/>
        </p:nvPicPr>
        <p:blipFill rotWithShape="1">
          <a:blip r:embed="rId3">
            <a:alphaModFix/>
          </a:blip>
          <a:srcRect b="0" l="0" r="0" t="0"/>
          <a:stretch/>
        </p:blipFill>
        <p:spPr>
          <a:xfrm>
            <a:off x="679450" y="1814512"/>
            <a:ext cx="2514600" cy="1552576"/>
          </a:xfrm>
          <a:prstGeom prst="rect">
            <a:avLst/>
          </a:prstGeom>
          <a:noFill/>
          <a:ln>
            <a:noFill/>
          </a:ln>
        </p:spPr>
      </p:pic>
      <p:pic>
        <p:nvPicPr>
          <p:cNvPr id="1292" name="Google Shape;1292;p152"/>
          <p:cNvPicPr preferRelativeResize="0"/>
          <p:nvPr/>
        </p:nvPicPr>
        <p:blipFill rotWithShape="1">
          <a:blip r:embed="rId4">
            <a:alphaModFix/>
          </a:blip>
          <a:srcRect b="0" l="0" r="0" t="0"/>
          <a:stretch/>
        </p:blipFill>
        <p:spPr>
          <a:xfrm>
            <a:off x="4953000" y="1562098"/>
            <a:ext cx="4855552" cy="4924425"/>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Performance Test Stage</a:t>
            </a:r>
            <a:endParaRPr/>
          </a:p>
        </p:txBody>
      </p:sp>
      <p:pic>
        <p:nvPicPr>
          <p:cNvPr descr="C:\Users\User\AppData\Local\Temp\SNAGHTML68167.PNG" id="1298" name="Google Shape;1298;p153"/>
          <p:cNvPicPr preferRelativeResize="0"/>
          <p:nvPr/>
        </p:nvPicPr>
        <p:blipFill rotWithShape="1">
          <a:blip r:embed="rId3">
            <a:alphaModFix/>
          </a:blip>
          <a:srcRect b="0" l="0" r="0" t="0"/>
          <a:stretch/>
        </p:blipFill>
        <p:spPr>
          <a:xfrm>
            <a:off x="222251" y="1638300"/>
            <a:ext cx="2266380" cy="1847850"/>
          </a:xfrm>
          <a:prstGeom prst="rect">
            <a:avLst/>
          </a:prstGeom>
          <a:noFill/>
          <a:ln>
            <a:noFill/>
          </a:ln>
        </p:spPr>
      </p:pic>
      <p:pic>
        <p:nvPicPr>
          <p:cNvPr id="1299" name="Google Shape;1299;p153"/>
          <p:cNvPicPr preferRelativeResize="0"/>
          <p:nvPr/>
        </p:nvPicPr>
        <p:blipFill rotWithShape="1">
          <a:blip r:embed="rId4">
            <a:alphaModFix/>
          </a:blip>
          <a:srcRect b="0" l="0" r="0" t="0"/>
          <a:stretch/>
        </p:blipFill>
        <p:spPr>
          <a:xfrm>
            <a:off x="98426" y="4014989"/>
            <a:ext cx="2390205" cy="1389654"/>
          </a:xfrm>
          <a:prstGeom prst="rect">
            <a:avLst/>
          </a:prstGeom>
          <a:noFill/>
          <a:ln>
            <a:noFill/>
          </a:ln>
        </p:spPr>
      </p:pic>
      <p:pic>
        <p:nvPicPr>
          <p:cNvPr id="1300" name="Google Shape;1300;p153"/>
          <p:cNvPicPr preferRelativeResize="0"/>
          <p:nvPr/>
        </p:nvPicPr>
        <p:blipFill rotWithShape="1">
          <a:blip r:embed="rId5">
            <a:alphaModFix/>
          </a:blip>
          <a:srcRect b="0" l="0" r="0" t="0"/>
          <a:stretch/>
        </p:blipFill>
        <p:spPr>
          <a:xfrm>
            <a:off x="2624138" y="1769268"/>
            <a:ext cx="4126715" cy="2100263"/>
          </a:xfrm>
          <a:prstGeom prst="rect">
            <a:avLst/>
          </a:prstGeom>
          <a:noFill/>
          <a:ln>
            <a:noFill/>
          </a:ln>
        </p:spPr>
      </p:pic>
      <p:pic>
        <p:nvPicPr>
          <p:cNvPr id="1301" name="Google Shape;1301;p153"/>
          <p:cNvPicPr preferRelativeResize="0"/>
          <p:nvPr/>
        </p:nvPicPr>
        <p:blipFill rotWithShape="1">
          <a:blip r:embed="rId6">
            <a:alphaModFix/>
          </a:blip>
          <a:srcRect b="0" l="0" r="0" t="0"/>
          <a:stretch/>
        </p:blipFill>
        <p:spPr>
          <a:xfrm>
            <a:off x="6931831" y="1885512"/>
            <a:ext cx="4850593" cy="3988143"/>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54"/>
          <p:cNvSpPr txBox="1"/>
          <p:nvPr>
            <p:ph type="title"/>
          </p:nvPr>
        </p:nvSpPr>
        <p:spPr>
          <a:xfrm>
            <a:off x="590551" y="365125"/>
            <a:ext cx="11515724"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Change Pre-deployment conditions of Performance Test</a:t>
            </a:r>
            <a:endParaRPr/>
          </a:p>
        </p:txBody>
      </p:sp>
      <p:pic>
        <p:nvPicPr>
          <p:cNvPr descr="C:\Users\User\AppData\Local\Temp\SNAGHTMLb502d.PNG" id="1307" name="Google Shape;1307;p154"/>
          <p:cNvPicPr preferRelativeResize="0"/>
          <p:nvPr/>
        </p:nvPicPr>
        <p:blipFill rotWithShape="1">
          <a:blip r:embed="rId3">
            <a:alphaModFix/>
          </a:blip>
          <a:srcRect b="0" l="0" r="0" t="0"/>
          <a:stretch/>
        </p:blipFill>
        <p:spPr>
          <a:xfrm>
            <a:off x="908050" y="2076450"/>
            <a:ext cx="3057525" cy="1838325"/>
          </a:xfrm>
          <a:prstGeom prst="rect">
            <a:avLst/>
          </a:prstGeom>
          <a:noFill/>
          <a:ln>
            <a:noFill/>
          </a:ln>
        </p:spPr>
      </p:pic>
      <p:pic>
        <p:nvPicPr>
          <p:cNvPr descr="C:\Users\User\AppData\Local\Temp\SNAGHTMLc06fa.PNG" id="1308" name="Google Shape;1308;p154"/>
          <p:cNvPicPr preferRelativeResize="0"/>
          <p:nvPr/>
        </p:nvPicPr>
        <p:blipFill rotWithShape="1">
          <a:blip r:embed="rId4">
            <a:alphaModFix/>
          </a:blip>
          <a:srcRect b="0" l="0" r="0" t="0"/>
          <a:stretch/>
        </p:blipFill>
        <p:spPr>
          <a:xfrm>
            <a:off x="5270500" y="1618439"/>
            <a:ext cx="4378325" cy="4745849"/>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55"/>
          <p:cNvSpPr txBox="1"/>
          <p:nvPr>
            <p:ph type="title"/>
          </p:nvPr>
        </p:nvSpPr>
        <p:spPr>
          <a:xfrm>
            <a:off x="590551" y="365125"/>
            <a:ext cx="11515724"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Change Pre-deployment conditions of Deploy PROD</a:t>
            </a:r>
            <a:endParaRPr/>
          </a:p>
        </p:txBody>
      </p:sp>
      <p:pic>
        <p:nvPicPr>
          <p:cNvPr id="1314" name="Google Shape;1314;p155"/>
          <p:cNvPicPr preferRelativeResize="0"/>
          <p:nvPr/>
        </p:nvPicPr>
        <p:blipFill rotWithShape="1">
          <a:blip r:embed="rId3">
            <a:alphaModFix/>
          </a:blip>
          <a:srcRect b="0" l="0" r="0" t="0"/>
          <a:stretch/>
        </p:blipFill>
        <p:spPr>
          <a:xfrm>
            <a:off x="1038225" y="1885950"/>
            <a:ext cx="3219450" cy="3314700"/>
          </a:xfrm>
          <a:prstGeom prst="rect">
            <a:avLst/>
          </a:prstGeom>
          <a:noFill/>
          <a:ln>
            <a:noFill/>
          </a:ln>
        </p:spPr>
      </p:pic>
      <p:pic>
        <p:nvPicPr>
          <p:cNvPr id="1315" name="Google Shape;1315;p155"/>
          <p:cNvPicPr preferRelativeResize="0"/>
          <p:nvPr/>
        </p:nvPicPr>
        <p:blipFill rotWithShape="1">
          <a:blip r:embed="rId4">
            <a:alphaModFix/>
          </a:blip>
          <a:srcRect b="0" l="0" r="0" t="0"/>
          <a:stretch/>
        </p:blipFill>
        <p:spPr>
          <a:xfrm>
            <a:off x="5572126" y="1768834"/>
            <a:ext cx="4419600" cy="4798654"/>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1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Finish Release Pipeline</a:t>
            </a:r>
            <a:endParaRPr/>
          </a:p>
        </p:txBody>
      </p:sp>
      <p:pic>
        <p:nvPicPr>
          <p:cNvPr id="1321" name="Google Shape;1321;p156"/>
          <p:cNvPicPr preferRelativeResize="0"/>
          <p:nvPr/>
        </p:nvPicPr>
        <p:blipFill rotWithShape="1">
          <a:blip r:embed="rId3">
            <a:alphaModFix/>
          </a:blip>
          <a:srcRect b="0" l="0" r="0" t="0"/>
          <a:stretch/>
        </p:blipFill>
        <p:spPr>
          <a:xfrm>
            <a:off x="300037" y="2661362"/>
            <a:ext cx="11777663" cy="2082085"/>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A Release</a:t>
            </a:r>
            <a:endParaRPr/>
          </a:p>
        </p:txBody>
      </p:sp>
      <p:pic>
        <p:nvPicPr>
          <p:cNvPr id="1327" name="Google Shape;1327;p157"/>
          <p:cNvPicPr preferRelativeResize="0"/>
          <p:nvPr/>
        </p:nvPicPr>
        <p:blipFill rotWithShape="1">
          <a:blip r:embed="rId3">
            <a:alphaModFix/>
          </a:blip>
          <a:srcRect b="0" l="0" r="0" t="0"/>
          <a:stretch/>
        </p:blipFill>
        <p:spPr>
          <a:xfrm>
            <a:off x="1344612" y="1727200"/>
            <a:ext cx="9704387" cy="464820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A Release</a:t>
            </a:r>
            <a:endParaRPr/>
          </a:p>
        </p:txBody>
      </p:sp>
      <p:pic>
        <p:nvPicPr>
          <p:cNvPr id="1333" name="Google Shape;1333;p158"/>
          <p:cNvPicPr preferRelativeResize="0"/>
          <p:nvPr/>
        </p:nvPicPr>
        <p:blipFill rotWithShape="1">
          <a:blip r:embed="rId3">
            <a:alphaModFix/>
          </a:blip>
          <a:srcRect b="0" l="0" r="0" t="0"/>
          <a:stretch/>
        </p:blipFill>
        <p:spPr>
          <a:xfrm>
            <a:off x="1243012" y="1612900"/>
            <a:ext cx="9704387" cy="46482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A Release</a:t>
            </a:r>
            <a:endParaRPr/>
          </a:p>
        </p:txBody>
      </p:sp>
      <p:pic>
        <p:nvPicPr>
          <p:cNvPr descr="C:\Users\User\AppData\Local\Temp\SNAGHTML119e31.PNG" id="1339" name="Google Shape;1339;p159"/>
          <p:cNvPicPr preferRelativeResize="0"/>
          <p:nvPr/>
        </p:nvPicPr>
        <p:blipFill rotWithShape="1">
          <a:blip r:embed="rId3">
            <a:alphaModFix/>
          </a:blip>
          <a:srcRect b="0" l="0" r="0" t="0"/>
          <a:stretch/>
        </p:blipFill>
        <p:spPr>
          <a:xfrm>
            <a:off x="3521075" y="1998662"/>
            <a:ext cx="5305425" cy="3667126"/>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1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CI Is Automatic Trigged</a:t>
            </a:r>
            <a:endParaRPr/>
          </a:p>
        </p:txBody>
      </p:sp>
      <p:pic>
        <p:nvPicPr>
          <p:cNvPr id="1345" name="Google Shape;1345;p160"/>
          <p:cNvPicPr preferRelativeResize="0"/>
          <p:nvPr/>
        </p:nvPicPr>
        <p:blipFill rotWithShape="1">
          <a:blip r:embed="rId3">
            <a:alphaModFix/>
          </a:blip>
          <a:srcRect b="0" l="0" r="0" t="0"/>
          <a:stretch/>
        </p:blipFill>
        <p:spPr>
          <a:xfrm>
            <a:off x="927100" y="2300843"/>
            <a:ext cx="10287000" cy="3817382"/>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1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CD Is Automatic Trigged After CI Is Finished</a:t>
            </a:r>
            <a:endParaRPr/>
          </a:p>
        </p:txBody>
      </p:sp>
      <p:pic>
        <p:nvPicPr>
          <p:cNvPr id="1351" name="Google Shape;1351;p161"/>
          <p:cNvPicPr preferRelativeResize="0"/>
          <p:nvPr/>
        </p:nvPicPr>
        <p:blipFill rotWithShape="1">
          <a:blip r:embed="rId3">
            <a:alphaModFix/>
          </a:blip>
          <a:srcRect b="0" l="0" r="0" t="0"/>
          <a:stretch/>
        </p:blipFill>
        <p:spPr>
          <a:xfrm>
            <a:off x="304801" y="2142853"/>
            <a:ext cx="11544300" cy="3480072"/>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1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Approve Manual Intervention</a:t>
            </a:r>
            <a:endParaRPr/>
          </a:p>
        </p:txBody>
      </p:sp>
      <p:pic>
        <p:nvPicPr>
          <p:cNvPr id="1357" name="Google Shape;1357;p162"/>
          <p:cNvPicPr preferRelativeResize="0"/>
          <p:nvPr/>
        </p:nvPicPr>
        <p:blipFill rotWithShape="1">
          <a:blip r:embed="rId3">
            <a:alphaModFix/>
          </a:blip>
          <a:srcRect b="0" l="0" r="0" t="0"/>
          <a:stretch/>
        </p:blipFill>
        <p:spPr>
          <a:xfrm>
            <a:off x="485775" y="1416421"/>
            <a:ext cx="7312025" cy="4104904"/>
          </a:xfrm>
          <a:prstGeom prst="rect">
            <a:avLst/>
          </a:prstGeom>
          <a:noFill/>
          <a:ln>
            <a:noFill/>
          </a:ln>
        </p:spPr>
      </p:pic>
      <p:pic>
        <p:nvPicPr>
          <p:cNvPr id="1358" name="Google Shape;1358;p162"/>
          <p:cNvPicPr preferRelativeResize="0"/>
          <p:nvPr/>
        </p:nvPicPr>
        <p:blipFill rotWithShape="1">
          <a:blip r:embed="rId4">
            <a:alphaModFix/>
          </a:blip>
          <a:srcRect b="0" l="0" r="0" t="0"/>
          <a:stretch/>
        </p:blipFill>
        <p:spPr>
          <a:xfrm>
            <a:off x="7797800" y="1556121"/>
            <a:ext cx="4113212" cy="4549049"/>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Approve Deploy</a:t>
            </a:r>
            <a:endParaRPr/>
          </a:p>
        </p:txBody>
      </p:sp>
      <p:pic>
        <p:nvPicPr>
          <p:cNvPr descr="C:\Users\User\AppData\Local\Temp\SNAGHTML1c0297.PNG" id="1364" name="Google Shape;1364;p163"/>
          <p:cNvPicPr preferRelativeResize="0"/>
          <p:nvPr/>
        </p:nvPicPr>
        <p:blipFill rotWithShape="1">
          <a:blip r:embed="rId3">
            <a:alphaModFix/>
          </a:blip>
          <a:srcRect b="0" l="0" r="0" t="0"/>
          <a:stretch/>
        </p:blipFill>
        <p:spPr>
          <a:xfrm>
            <a:off x="409575" y="1655763"/>
            <a:ext cx="5476875" cy="3171826"/>
          </a:xfrm>
          <a:prstGeom prst="rect">
            <a:avLst/>
          </a:prstGeom>
          <a:noFill/>
          <a:ln>
            <a:noFill/>
          </a:ln>
        </p:spPr>
      </p:pic>
      <p:pic>
        <p:nvPicPr>
          <p:cNvPr id="1365" name="Google Shape;1365;p163"/>
          <p:cNvPicPr preferRelativeResize="0"/>
          <p:nvPr/>
        </p:nvPicPr>
        <p:blipFill rotWithShape="1">
          <a:blip r:embed="rId4">
            <a:alphaModFix/>
          </a:blip>
          <a:srcRect b="0" l="0" r="0" t="0"/>
          <a:stretch/>
        </p:blipFill>
        <p:spPr>
          <a:xfrm>
            <a:off x="5886450" y="1493838"/>
            <a:ext cx="5648325" cy="5038725"/>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1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Approve All Stages</a:t>
            </a:r>
            <a:endParaRPr/>
          </a:p>
        </p:txBody>
      </p:sp>
      <p:pic>
        <p:nvPicPr>
          <p:cNvPr id="1371" name="Google Shape;1371;p164"/>
          <p:cNvPicPr preferRelativeResize="0"/>
          <p:nvPr/>
        </p:nvPicPr>
        <p:blipFill rotWithShape="1">
          <a:blip r:embed="rId3">
            <a:alphaModFix/>
          </a:blip>
          <a:srcRect b="0" l="0" r="0" t="0"/>
          <a:stretch/>
        </p:blipFill>
        <p:spPr>
          <a:xfrm>
            <a:off x="231775" y="3011045"/>
            <a:ext cx="11757025" cy="2613468"/>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1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 The result</a:t>
            </a:r>
            <a:endParaRPr/>
          </a:p>
        </p:txBody>
      </p:sp>
      <p:sp>
        <p:nvSpPr>
          <p:cNvPr id="1378" name="Google Shape;1378;p165"/>
          <p:cNvSpPr txBox="1"/>
          <p:nvPr>
            <p:ph idx="1" type="body"/>
          </p:nvPr>
        </p:nvSpPr>
        <p:spPr>
          <a:xfrm>
            <a:off x="784934" y="1579370"/>
            <a:ext cx="10515600" cy="146567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Access: https://</a:t>
            </a:r>
            <a:r>
              <a:rPr lang="en-US">
                <a:solidFill>
                  <a:srgbClr val="FF0000"/>
                </a:solidFill>
              </a:rPr>
              <a:t>trainee1</a:t>
            </a:r>
            <a:r>
              <a:rPr lang="en-US"/>
              <a:t>.azurewebsites.net/swagger</a:t>
            </a:r>
            <a:endParaRPr/>
          </a:p>
          <a:p>
            <a:pPr indent="-228600" lvl="0" marL="457200" rtl="0" algn="l">
              <a:lnSpc>
                <a:spcPct val="90000"/>
              </a:lnSpc>
              <a:spcBef>
                <a:spcPts val="1000"/>
              </a:spcBef>
              <a:spcAft>
                <a:spcPts val="0"/>
              </a:spcAft>
              <a:buClr>
                <a:schemeClr val="dk1"/>
              </a:buClr>
              <a:buSzPts val="1800"/>
              <a:buNone/>
            </a:pPr>
            <a:r>
              <a:t/>
            </a:r>
            <a:endParaRPr/>
          </a:p>
        </p:txBody>
      </p:sp>
      <p:pic>
        <p:nvPicPr>
          <p:cNvPr id="1379" name="Google Shape;1379;p165"/>
          <p:cNvPicPr preferRelativeResize="0"/>
          <p:nvPr/>
        </p:nvPicPr>
        <p:blipFill rotWithShape="1">
          <a:blip r:embed="rId3">
            <a:alphaModFix/>
          </a:blip>
          <a:srcRect b="0" l="0" r="0" t="0"/>
          <a:stretch/>
        </p:blipFill>
        <p:spPr>
          <a:xfrm>
            <a:off x="1856174" y="2136624"/>
            <a:ext cx="8345010" cy="4571688"/>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66"/>
          <p:cNvSpPr/>
          <p:nvPr/>
        </p:nvSpPr>
        <p:spPr>
          <a:xfrm>
            <a:off x="6650285" y="0"/>
            <a:ext cx="5541715" cy="6857999"/>
          </a:xfrm>
          <a:prstGeom prst="rect">
            <a:avLst/>
          </a:prstGeom>
          <a:solidFill>
            <a:srgbClr val="FFFFFF"/>
          </a:solidFill>
          <a:ln>
            <a:noFill/>
          </a:ln>
        </p:spPr>
        <p:txBody>
          <a:bodyPr anchorCtr="0" anchor="t" bIns="146300" lIns="182875" spcFirstLastPara="1" rIns="182875" wrap="square" tIns="146300">
            <a:noAutofit/>
          </a:bodyPr>
          <a:lstStyle/>
          <a:p>
            <a:pPr indent="0" lvl="0" marL="0" marR="0" rtl="0" algn="ctr">
              <a:lnSpc>
                <a:spcPct val="90000"/>
              </a:lnSpc>
              <a:spcBef>
                <a:spcPts val="0"/>
              </a:spcBef>
              <a:spcAft>
                <a:spcPts val="0"/>
              </a:spcAft>
              <a:buClr>
                <a:srgbClr val="000000"/>
              </a:buClr>
              <a:buSzPts val="2400"/>
              <a:buFont typeface="Arial"/>
              <a:buNone/>
            </a:pPr>
            <a:r>
              <a:t/>
            </a:r>
            <a:endParaRPr b="0" i="0" sz="2400" u="none" cap="none" strike="noStrike">
              <a:solidFill>
                <a:srgbClr val="FFFFFF"/>
              </a:solidFill>
              <a:latin typeface="Quattrocento Sans"/>
              <a:ea typeface="Quattrocento Sans"/>
              <a:cs typeface="Quattrocento Sans"/>
              <a:sym typeface="Quattrocento Sans"/>
            </a:endParaRPr>
          </a:p>
        </p:txBody>
      </p:sp>
      <p:sp>
        <p:nvSpPr>
          <p:cNvPr id="1385" name="Google Shape;1385;p166"/>
          <p:cNvSpPr txBox="1"/>
          <p:nvPr/>
        </p:nvSpPr>
        <p:spPr>
          <a:xfrm>
            <a:off x="274638" y="2125677"/>
            <a:ext cx="6375648" cy="3176254"/>
          </a:xfrm>
          <a:prstGeom prst="rect">
            <a:avLst/>
          </a:prstGeom>
          <a:noFill/>
          <a:ln>
            <a:noFill/>
          </a:ln>
        </p:spPr>
        <p:txBody>
          <a:bodyPr anchorCtr="0" anchor="t" bIns="91425" lIns="146300" spcFirstLastPara="1" rIns="146300" wrap="square" tIns="91425">
            <a:spAutoFit/>
          </a:bodyPr>
          <a:lstStyle/>
          <a:p>
            <a:pPr indent="0" lvl="0" marL="0" marR="0" rtl="0" algn="l">
              <a:lnSpc>
                <a:spcPct val="90000"/>
              </a:lnSpc>
              <a:spcBef>
                <a:spcPts val="0"/>
              </a:spcBef>
              <a:spcAft>
                <a:spcPts val="0"/>
              </a:spcAft>
              <a:buClr>
                <a:srgbClr val="000000"/>
              </a:buClr>
              <a:buSzPts val="7200"/>
              <a:buFont typeface="Arial"/>
              <a:buNone/>
            </a:pPr>
            <a:r>
              <a:rPr b="0" i="0" lang="en-US" sz="7200" u="none" cap="none" strike="noStrike">
                <a:solidFill>
                  <a:srgbClr val="FFFFFF"/>
                </a:solidFill>
                <a:latin typeface="Quattrocento Sans"/>
                <a:ea typeface="Quattrocento Sans"/>
                <a:cs typeface="Quattrocento Sans"/>
                <a:sym typeface="Quattrocento Sans"/>
              </a:rPr>
              <a:t>Tips/Advance Configuration for CI/CD</a:t>
            </a:r>
            <a:endParaRPr b="0" i="0" sz="7200" u="none" cap="none" strike="noStrike">
              <a:solidFill>
                <a:srgbClr val="FFFFFF"/>
              </a:solidFill>
              <a:latin typeface="Quattrocento Sans"/>
              <a:ea typeface="Quattrocento Sans"/>
              <a:cs typeface="Quattrocento Sans"/>
              <a:sym typeface="Quattrocento Sans"/>
            </a:endParaRPr>
          </a:p>
        </p:txBody>
      </p:sp>
      <p:pic>
        <p:nvPicPr>
          <p:cNvPr id="1386" name="Google Shape;1386;p166"/>
          <p:cNvPicPr preferRelativeResize="0"/>
          <p:nvPr/>
        </p:nvPicPr>
        <p:blipFill rotWithShape="1">
          <a:blip r:embed="rId3">
            <a:alphaModFix/>
          </a:blip>
          <a:srcRect b="21406" l="2210" r="4124" t="12679"/>
          <a:stretch/>
        </p:blipFill>
        <p:spPr>
          <a:xfrm>
            <a:off x="6957221" y="2694570"/>
            <a:ext cx="5158818" cy="1997777"/>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16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solidFill>
                  <a:srgbClr val="2C65E1"/>
                </a:solidFill>
              </a:rPr>
              <a:t>Pipelines as Code with YAML</a:t>
            </a:r>
            <a:endParaRPr/>
          </a:p>
        </p:txBody>
      </p:sp>
      <p:sp>
        <p:nvSpPr>
          <p:cNvPr id="1392" name="Google Shape;1392;p167"/>
          <p:cNvSpPr txBox="1"/>
          <p:nvPr/>
        </p:nvSpPr>
        <p:spPr>
          <a:xfrm>
            <a:off x="963449" y="5971109"/>
            <a:ext cx="11066626"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2000" u="sng" cap="none" strike="noStrike">
                <a:solidFill>
                  <a:schemeClr val="dk1"/>
                </a:solidFill>
                <a:latin typeface="Quattrocento Sans"/>
                <a:ea typeface="Quattrocento Sans"/>
                <a:cs typeface="Quattrocento Sans"/>
                <a:sym typeface="Quattrocento Sans"/>
                <a:hlinkClick r:id="rId3">
                  <a:extLst>
                    <a:ext uri="{A12FA001-AC4F-418D-AE19-62706E023703}">
                      <ahyp:hlinkClr val="tx"/>
                    </a:ext>
                  </a:extLst>
                </a:hlinkClick>
              </a:rPr>
              <a:t>https://docs.microsoft.com/en-us/azure/devops/pipelines/yaml-schema?view=azure-devops&amp;tabs=schema</a:t>
            </a:r>
            <a:endParaRPr b="0" i="0" sz="2000" u="none" cap="none" strike="noStrike">
              <a:solidFill>
                <a:schemeClr val="dk1"/>
              </a:solidFill>
              <a:latin typeface="Quattrocento Sans"/>
              <a:ea typeface="Quattrocento Sans"/>
              <a:cs typeface="Quattrocento Sans"/>
              <a:sym typeface="Quattrocento Sans"/>
            </a:endParaRPr>
          </a:p>
        </p:txBody>
      </p:sp>
      <p:sp>
        <p:nvSpPr>
          <p:cNvPr id="1393" name="Google Shape;1393;p167"/>
          <p:cNvSpPr/>
          <p:nvPr/>
        </p:nvSpPr>
        <p:spPr>
          <a:xfrm>
            <a:off x="304800" y="6068865"/>
            <a:ext cx="439908" cy="420039"/>
          </a:xfrm>
          <a:prstGeom prst="ellipse">
            <a:avLst/>
          </a:prstGeom>
          <a:no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961" u="none" cap="none" strike="noStrike">
                <a:solidFill>
                  <a:schemeClr val="lt2"/>
                </a:solidFill>
                <a:latin typeface="Quattrocento Sans"/>
                <a:ea typeface="Quattrocento Sans"/>
                <a:cs typeface="Quattrocento Sans"/>
                <a:sym typeface="Quattrocento Sans"/>
              </a:rPr>
              <a:t>🡺</a:t>
            </a:r>
            <a:endParaRPr b="0" i="0" sz="1961" u="none" cap="none" strike="noStrike">
              <a:solidFill>
                <a:schemeClr val="lt2"/>
              </a:solidFill>
              <a:latin typeface="Quattrocento Sans"/>
              <a:ea typeface="Quattrocento Sans"/>
              <a:cs typeface="Quattrocento Sans"/>
              <a:sym typeface="Quattrocento San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168"/>
          <p:cNvSpPr txBox="1"/>
          <p:nvPr>
            <p:ph type="title"/>
          </p:nvPr>
        </p:nvSpPr>
        <p:spPr>
          <a:xfrm>
            <a:off x="274638" y="222249"/>
            <a:ext cx="5834061" cy="118745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600">
                <a:solidFill>
                  <a:srgbClr val="2C65E1"/>
                </a:solidFill>
              </a:rPr>
              <a:t>Pipelines as Code with YAML</a:t>
            </a:r>
            <a:endParaRPr sz="3600"/>
          </a:p>
        </p:txBody>
      </p:sp>
      <p:sp>
        <p:nvSpPr>
          <p:cNvPr id="1399" name="Google Shape;1399;p168"/>
          <p:cNvSpPr txBox="1"/>
          <p:nvPr/>
        </p:nvSpPr>
        <p:spPr>
          <a:xfrm>
            <a:off x="274639" y="295274"/>
            <a:ext cx="11889564" cy="91757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400"/>
              <a:buFont typeface="Arial"/>
              <a:buNone/>
            </a:pPr>
            <a:r>
              <a:t/>
            </a:r>
            <a:endParaRPr b="0" i="0" sz="4400" u="none" cap="none" strike="noStrike">
              <a:solidFill>
                <a:schemeClr val="dk1"/>
              </a:solidFill>
              <a:latin typeface="Arial"/>
              <a:ea typeface="Arial"/>
              <a:cs typeface="Arial"/>
              <a:sym typeface="Arial"/>
            </a:endParaRPr>
          </a:p>
        </p:txBody>
      </p:sp>
      <p:sp>
        <p:nvSpPr>
          <p:cNvPr id="1400" name="Google Shape;1400;p168"/>
          <p:cNvSpPr txBox="1"/>
          <p:nvPr/>
        </p:nvSpPr>
        <p:spPr>
          <a:xfrm>
            <a:off x="274702" y="1942206"/>
            <a:ext cx="5943535" cy="49475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800" u="none" cap="none" strike="noStrike">
                <a:solidFill>
                  <a:srgbClr val="888888"/>
                </a:solidFill>
                <a:latin typeface="Arial"/>
                <a:ea typeface="Arial"/>
                <a:cs typeface="Arial"/>
                <a:sym typeface="Arial"/>
              </a:rPr>
              <a:t>YAML Based</a:t>
            </a:r>
            <a:endParaRPr/>
          </a:p>
          <a:p>
            <a:pPr indent="0" lvl="0" marL="0" marR="0" rtl="0" algn="l">
              <a:lnSpc>
                <a:spcPct val="100000"/>
              </a:lnSpc>
              <a:spcBef>
                <a:spcPts val="1200"/>
              </a:spcBef>
              <a:spcAft>
                <a:spcPts val="0"/>
              </a:spcAft>
              <a:buNone/>
            </a:pPr>
            <a:r>
              <a:rPr b="0" i="0" lang="en-US" sz="2800" u="none" cap="none" strike="noStrike">
                <a:solidFill>
                  <a:srgbClr val="888888"/>
                </a:solidFill>
                <a:latin typeface="Arial"/>
                <a:ea typeface="Arial"/>
                <a:cs typeface="Arial"/>
                <a:sym typeface="Arial"/>
              </a:rPr>
              <a:t>Build on existing VSTS Build &amp; Release model, including extensions</a:t>
            </a:r>
            <a:endParaRPr/>
          </a:p>
          <a:p>
            <a:pPr indent="0" lvl="0" marL="0" marR="0" rtl="0" algn="l">
              <a:lnSpc>
                <a:spcPct val="100000"/>
              </a:lnSpc>
              <a:spcBef>
                <a:spcPts val="1200"/>
              </a:spcBef>
              <a:spcAft>
                <a:spcPts val="0"/>
              </a:spcAft>
              <a:buNone/>
            </a:pPr>
            <a:r>
              <a:rPr b="0" i="0" lang="en-US" sz="2800" u="none" cap="none" strike="noStrike">
                <a:solidFill>
                  <a:srgbClr val="888888"/>
                </a:solidFill>
                <a:latin typeface="Arial"/>
                <a:ea typeface="Arial"/>
                <a:cs typeface="Arial"/>
                <a:sym typeface="Arial"/>
              </a:rPr>
              <a:t>Support templating via Mustache</a:t>
            </a:r>
            <a:endParaRPr b="0" i="0" sz="2800" u="none" cap="none" strike="noStrike">
              <a:solidFill>
                <a:srgbClr val="888888"/>
              </a:solidFill>
              <a:latin typeface="Arial"/>
              <a:ea typeface="Arial"/>
              <a:cs typeface="Arial"/>
              <a:sym typeface="Arial"/>
            </a:endParaRPr>
          </a:p>
          <a:p>
            <a:pPr indent="0" lvl="0" marL="0" marR="0" rtl="0" algn="l">
              <a:lnSpc>
                <a:spcPct val="100000"/>
              </a:lnSpc>
              <a:spcBef>
                <a:spcPts val="1200"/>
              </a:spcBef>
              <a:spcAft>
                <a:spcPts val="0"/>
              </a:spcAft>
              <a:buNone/>
            </a:pPr>
            <a:r>
              <a:rPr b="0" i="0" lang="en-US" sz="2800" u="none" cap="none" strike="noStrike">
                <a:solidFill>
                  <a:srgbClr val="888888"/>
                </a:solidFill>
                <a:latin typeface="Arial"/>
                <a:ea typeface="Arial"/>
                <a:cs typeface="Arial"/>
                <a:sym typeface="Arial"/>
              </a:rPr>
              <a:t>Makes it easy to share examples, samples etc</a:t>
            </a:r>
            <a:endParaRPr b="0" i="0" sz="2800" u="none" cap="none" strike="noStrike">
              <a:solidFill>
                <a:srgbClr val="888888"/>
              </a:solidFill>
              <a:latin typeface="Arial"/>
              <a:ea typeface="Arial"/>
              <a:cs typeface="Arial"/>
              <a:sym typeface="Arial"/>
            </a:endParaRPr>
          </a:p>
          <a:p>
            <a:pPr indent="0" lvl="0" marL="0" marR="0" rtl="0" algn="l">
              <a:lnSpc>
                <a:spcPct val="100000"/>
              </a:lnSpc>
              <a:spcBef>
                <a:spcPts val="1200"/>
              </a:spcBef>
              <a:spcAft>
                <a:spcPts val="0"/>
              </a:spcAft>
              <a:buNone/>
            </a:pPr>
            <a:r>
              <a:rPr b="0" i="0" lang="en-US" sz="2800" u="none" cap="none" strike="noStrike">
                <a:solidFill>
                  <a:srgbClr val="888888"/>
                </a:solidFill>
                <a:latin typeface="Arial"/>
                <a:ea typeface="Arial"/>
                <a:cs typeface="Arial"/>
                <a:sym typeface="Arial"/>
              </a:rPr>
              <a:t>Scales from very simple to very complex</a:t>
            </a:r>
            <a:endParaRPr/>
          </a:p>
          <a:p>
            <a:pPr indent="0" lvl="0" marL="0" marR="0" rtl="0" algn="l">
              <a:lnSpc>
                <a:spcPct val="100000"/>
              </a:lnSpc>
              <a:spcBef>
                <a:spcPts val="1200"/>
              </a:spcBef>
              <a:spcAft>
                <a:spcPts val="0"/>
              </a:spcAft>
              <a:buNone/>
            </a:pPr>
            <a:r>
              <a:rPr b="0" i="0" lang="en-US" sz="2800" u="none" cap="none" strike="noStrike">
                <a:solidFill>
                  <a:srgbClr val="888888"/>
                </a:solidFill>
                <a:latin typeface="Arial"/>
                <a:ea typeface="Arial"/>
                <a:cs typeface="Arial"/>
                <a:sym typeface="Arial"/>
              </a:rPr>
              <a:t>Version control better</a:t>
            </a:r>
            <a:br>
              <a:rPr b="0" i="0" lang="en-US" sz="2800" u="none" cap="none" strike="noStrike">
                <a:solidFill>
                  <a:srgbClr val="888888"/>
                </a:solidFill>
                <a:latin typeface="Arial"/>
                <a:ea typeface="Arial"/>
                <a:cs typeface="Arial"/>
                <a:sym typeface="Arial"/>
              </a:rPr>
            </a:br>
            <a:endParaRPr b="0" i="0" sz="2800" u="none" cap="none" strike="noStrike">
              <a:solidFill>
                <a:srgbClr val="888888"/>
              </a:solidFill>
              <a:latin typeface="Arial"/>
              <a:ea typeface="Arial"/>
              <a:cs typeface="Arial"/>
              <a:sym typeface="Arial"/>
            </a:endParaRPr>
          </a:p>
          <a:p>
            <a:pPr indent="0" lvl="0" marL="0" marR="0" rtl="0" algn="l">
              <a:lnSpc>
                <a:spcPct val="100000"/>
              </a:lnSpc>
              <a:spcBef>
                <a:spcPts val="1200"/>
              </a:spcBef>
              <a:spcAft>
                <a:spcPts val="0"/>
              </a:spcAft>
              <a:buNone/>
            </a:pPr>
            <a:r>
              <a:t/>
            </a:r>
            <a:endParaRPr b="0" i="0" sz="2800" u="none" cap="none" strike="noStrike">
              <a:solidFill>
                <a:srgbClr val="888888"/>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rgbClr val="888888"/>
              </a:solidFill>
              <a:latin typeface="Arial"/>
              <a:ea typeface="Arial"/>
              <a:cs typeface="Arial"/>
              <a:sym typeface="Arial"/>
            </a:endParaRPr>
          </a:p>
        </p:txBody>
      </p:sp>
      <p:pic>
        <p:nvPicPr>
          <p:cNvPr id="1401" name="Google Shape;1401;p168"/>
          <p:cNvPicPr preferRelativeResize="0"/>
          <p:nvPr/>
        </p:nvPicPr>
        <p:blipFill rotWithShape="1">
          <a:blip r:embed="rId3">
            <a:alphaModFix/>
          </a:blip>
          <a:srcRect b="0" l="0" r="7538" t="0"/>
          <a:stretch/>
        </p:blipFill>
        <p:spPr>
          <a:xfrm>
            <a:off x="6290246" y="0"/>
            <a:ext cx="6146230" cy="6994525"/>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1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New Pipeline From YAML File</a:t>
            </a:r>
            <a:endParaRPr/>
          </a:p>
        </p:txBody>
      </p:sp>
      <p:pic>
        <p:nvPicPr>
          <p:cNvPr id="1407" name="Google Shape;1407;p169"/>
          <p:cNvPicPr preferRelativeResize="0"/>
          <p:nvPr/>
        </p:nvPicPr>
        <p:blipFill rotWithShape="1">
          <a:blip r:embed="rId3">
            <a:alphaModFix/>
          </a:blip>
          <a:srcRect b="0" l="0" r="0" t="0"/>
          <a:stretch/>
        </p:blipFill>
        <p:spPr>
          <a:xfrm>
            <a:off x="1471614" y="1437384"/>
            <a:ext cx="9539286" cy="5139629"/>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1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New Pipeline From YAML File</a:t>
            </a:r>
            <a:endParaRPr/>
          </a:p>
        </p:txBody>
      </p:sp>
      <p:pic>
        <p:nvPicPr>
          <p:cNvPr id="1413" name="Google Shape;1413;p170"/>
          <p:cNvPicPr preferRelativeResize="0"/>
          <p:nvPr/>
        </p:nvPicPr>
        <p:blipFill rotWithShape="1">
          <a:blip r:embed="rId3">
            <a:alphaModFix/>
          </a:blip>
          <a:srcRect b="0" l="0" r="0" t="0"/>
          <a:stretch/>
        </p:blipFill>
        <p:spPr>
          <a:xfrm>
            <a:off x="314325" y="1430015"/>
            <a:ext cx="5991225" cy="4327848"/>
          </a:xfrm>
          <a:prstGeom prst="rect">
            <a:avLst/>
          </a:prstGeom>
          <a:noFill/>
          <a:ln>
            <a:noFill/>
          </a:ln>
        </p:spPr>
      </p:pic>
      <p:pic>
        <p:nvPicPr>
          <p:cNvPr id="1414" name="Google Shape;1414;p170"/>
          <p:cNvPicPr preferRelativeResize="0"/>
          <p:nvPr/>
        </p:nvPicPr>
        <p:blipFill rotWithShape="1">
          <a:blip r:embed="rId4">
            <a:alphaModFix/>
          </a:blip>
          <a:srcRect b="0" l="0" r="0" t="0"/>
          <a:stretch/>
        </p:blipFill>
        <p:spPr>
          <a:xfrm>
            <a:off x="5748339" y="1695457"/>
            <a:ext cx="6005512" cy="4133842"/>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71"/>
          <p:cNvSpPr txBox="1"/>
          <p:nvPr>
            <p:ph type="title"/>
          </p:nvPr>
        </p:nvSpPr>
        <p:spPr>
          <a:xfrm>
            <a:off x="847725" y="1746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Checking New Pipeline </a:t>
            </a:r>
            <a:endParaRPr/>
          </a:p>
        </p:txBody>
      </p:sp>
      <p:pic>
        <p:nvPicPr>
          <p:cNvPr id="1420" name="Google Shape;1420;p171"/>
          <p:cNvPicPr preferRelativeResize="0"/>
          <p:nvPr/>
        </p:nvPicPr>
        <p:blipFill rotWithShape="1">
          <a:blip r:embed="rId3">
            <a:alphaModFix/>
          </a:blip>
          <a:srcRect b="0" l="0" r="0" t="0"/>
          <a:stretch/>
        </p:blipFill>
        <p:spPr>
          <a:xfrm>
            <a:off x="771523" y="1387641"/>
            <a:ext cx="10734539" cy="5412206"/>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7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solidFill>
                  <a:srgbClr val="2C65E1"/>
                </a:solidFill>
              </a:rPr>
              <a:t>Azure Pipeline For Front-end</a:t>
            </a:r>
            <a:endParaRPr/>
          </a:p>
        </p:txBody>
      </p:sp>
      <p:sp>
        <p:nvSpPr>
          <p:cNvPr id="1426" name="Google Shape;1426;p17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173"/>
          <p:cNvSpPr txBox="1"/>
          <p:nvPr>
            <p:ph type="title"/>
          </p:nvPr>
        </p:nvSpPr>
        <p:spPr>
          <a:xfrm>
            <a:off x="402167" y="200025"/>
            <a:ext cx="11328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Sample ReactJS repository</a:t>
            </a:r>
            <a:endParaRPr/>
          </a:p>
        </p:txBody>
      </p:sp>
      <p:sp>
        <p:nvSpPr>
          <p:cNvPr id="1432" name="Google Shape;1432;p173"/>
          <p:cNvSpPr txBox="1"/>
          <p:nvPr>
            <p:ph idx="1" type="body"/>
          </p:nvPr>
        </p:nvSpPr>
        <p:spPr>
          <a:xfrm>
            <a:off x="425451" y="1343025"/>
            <a:ext cx="11645900" cy="736977"/>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590"/>
              <a:t>https://dinhnc0201@dev.azure.com/dinhnc0201/MyToDo/_git/MyToDoApp</a:t>
            </a:r>
            <a:endParaRPr/>
          </a:p>
        </p:txBody>
      </p:sp>
      <p:pic>
        <p:nvPicPr>
          <p:cNvPr id="1433" name="Google Shape;1433;p173"/>
          <p:cNvPicPr preferRelativeResize="0"/>
          <p:nvPr/>
        </p:nvPicPr>
        <p:blipFill rotWithShape="1">
          <a:blip r:embed="rId3">
            <a:alphaModFix/>
          </a:blip>
          <a:srcRect b="0" l="0" r="0" t="0"/>
          <a:stretch/>
        </p:blipFill>
        <p:spPr>
          <a:xfrm>
            <a:off x="2501901" y="1902203"/>
            <a:ext cx="7645400" cy="4777997"/>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174"/>
          <p:cNvSpPr txBox="1"/>
          <p:nvPr>
            <p:ph type="title"/>
          </p:nvPr>
        </p:nvSpPr>
        <p:spPr>
          <a:xfrm>
            <a:off x="402167" y="200025"/>
            <a:ext cx="11328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Checking The Pipeline using YAML</a:t>
            </a:r>
            <a:endParaRPr/>
          </a:p>
        </p:txBody>
      </p:sp>
      <p:pic>
        <p:nvPicPr>
          <p:cNvPr id="1439" name="Google Shape;1439;p174"/>
          <p:cNvPicPr preferRelativeResize="0"/>
          <p:nvPr/>
        </p:nvPicPr>
        <p:blipFill rotWithShape="1">
          <a:blip r:embed="rId3">
            <a:alphaModFix/>
          </a:blip>
          <a:srcRect b="0" l="0" r="0" t="0"/>
          <a:stretch/>
        </p:blipFill>
        <p:spPr>
          <a:xfrm>
            <a:off x="836613" y="1649459"/>
            <a:ext cx="10720387" cy="487040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75"/>
          <p:cNvSpPr txBox="1"/>
          <p:nvPr>
            <p:ph type="title"/>
          </p:nvPr>
        </p:nvSpPr>
        <p:spPr>
          <a:xfrm>
            <a:off x="402167" y="200025"/>
            <a:ext cx="11328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Checking The Pipeline using YAML</a:t>
            </a:r>
            <a:endParaRPr/>
          </a:p>
        </p:txBody>
      </p:sp>
      <p:pic>
        <p:nvPicPr>
          <p:cNvPr id="1445" name="Google Shape;1445;p175"/>
          <p:cNvPicPr preferRelativeResize="0"/>
          <p:nvPr/>
        </p:nvPicPr>
        <p:blipFill rotWithShape="1">
          <a:blip r:embed="rId3">
            <a:alphaModFix/>
          </a:blip>
          <a:srcRect b="0" l="0" r="0" t="0"/>
          <a:stretch/>
        </p:blipFill>
        <p:spPr>
          <a:xfrm>
            <a:off x="2019301" y="1198530"/>
            <a:ext cx="7975600" cy="565947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sp>
        <p:nvSpPr>
          <p:cNvPr id="1450" name="Google Shape;1450;p176"/>
          <p:cNvSpPr txBox="1"/>
          <p:nvPr>
            <p:ph type="title"/>
          </p:nvPr>
        </p:nvSpPr>
        <p:spPr>
          <a:xfrm>
            <a:off x="402167" y="200025"/>
            <a:ext cx="11328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Create New Pipeline From YAML And Execute The Pipeline</a:t>
            </a:r>
            <a:endParaRPr/>
          </a:p>
        </p:txBody>
      </p:sp>
      <p:pic>
        <p:nvPicPr>
          <p:cNvPr id="1451" name="Google Shape;1451;p176"/>
          <p:cNvPicPr preferRelativeResize="0"/>
          <p:nvPr/>
        </p:nvPicPr>
        <p:blipFill rotWithShape="1">
          <a:blip r:embed="rId3">
            <a:alphaModFix/>
          </a:blip>
          <a:srcRect b="0" l="0" r="0" t="0"/>
          <a:stretch/>
        </p:blipFill>
        <p:spPr>
          <a:xfrm>
            <a:off x="150814" y="1930399"/>
            <a:ext cx="5703886" cy="4520171"/>
          </a:xfrm>
          <a:prstGeom prst="rect">
            <a:avLst/>
          </a:prstGeom>
          <a:noFill/>
          <a:ln>
            <a:noFill/>
          </a:ln>
        </p:spPr>
      </p:pic>
      <p:pic>
        <p:nvPicPr>
          <p:cNvPr id="1452" name="Google Shape;1452;p176"/>
          <p:cNvPicPr preferRelativeResize="0"/>
          <p:nvPr/>
        </p:nvPicPr>
        <p:blipFill rotWithShape="1">
          <a:blip r:embed="rId4">
            <a:alphaModFix/>
          </a:blip>
          <a:srcRect b="0" l="0" r="0" t="0"/>
          <a:stretch/>
        </p:blipFill>
        <p:spPr>
          <a:xfrm>
            <a:off x="5956300" y="1999733"/>
            <a:ext cx="5997133" cy="4381501"/>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17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solidFill>
                  <a:srgbClr val="2C65E1"/>
                </a:solidFill>
              </a:rPr>
              <a:t>SonarQube build breaker and quality protection</a:t>
            </a:r>
            <a:endParaRPr/>
          </a:p>
        </p:txBody>
      </p:sp>
      <p:sp>
        <p:nvSpPr>
          <p:cNvPr id="1458" name="Google Shape;1458;p17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rPr lang="en-US"/>
              <a:t>An extension that breaks your build whenever the quality gate in SonarQube failed</a:t>
            </a:r>
            <a:endParaRPr/>
          </a:p>
        </p:txBody>
      </p:sp>
      <p:sp>
        <p:nvSpPr>
          <p:cNvPr id="1459" name="Google Shape;1459;p177"/>
          <p:cNvSpPr txBox="1"/>
          <p:nvPr/>
        </p:nvSpPr>
        <p:spPr>
          <a:xfrm>
            <a:off x="868199" y="6133876"/>
            <a:ext cx="11066626"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2000" u="sng" cap="none" strike="noStrike">
                <a:solidFill>
                  <a:schemeClr val="dk1"/>
                </a:solidFill>
                <a:latin typeface="Quattrocento Sans"/>
                <a:ea typeface="Quattrocento Sans"/>
                <a:cs typeface="Quattrocento Sans"/>
                <a:sym typeface="Quattrocento Sans"/>
                <a:hlinkClick r:id="rId3">
                  <a:extLst>
                    <a:ext uri="{A12FA001-AC4F-418D-AE19-62706E023703}">
                      <ahyp:hlinkClr val="tx"/>
                    </a:ext>
                  </a:extLst>
                </a:hlinkClick>
              </a:rPr>
              <a:t>https://marketplace.visualstudio.com/items?itemName=SimondeLang.sonar-buildbreaker</a:t>
            </a:r>
            <a:endParaRPr b="0" i="0" sz="2000" u="none" cap="none" strike="noStrike">
              <a:solidFill>
                <a:schemeClr val="dk1"/>
              </a:solidFill>
              <a:latin typeface="Quattrocento Sans"/>
              <a:ea typeface="Quattrocento Sans"/>
              <a:cs typeface="Quattrocento Sans"/>
              <a:sym typeface="Quattrocento Sans"/>
            </a:endParaRPr>
          </a:p>
        </p:txBody>
      </p:sp>
      <p:sp>
        <p:nvSpPr>
          <p:cNvPr id="1460" name="Google Shape;1460;p177"/>
          <p:cNvSpPr/>
          <p:nvPr/>
        </p:nvSpPr>
        <p:spPr>
          <a:xfrm>
            <a:off x="304800" y="6068865"/>
            <a:ext cx="439908" cy="420039"/>
          </a:xfrm>
          <a:prstGeom prst="ellipse">
            <a:avLst/>
          </a:prstGeom>
          <a:no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961" u="none" cap="none" strike="noStrike">
                <a:solidFill>
                  <a:schemeClr val="lt2"/>
                </a:solidFill>
                <a:latin typeface="Quattrocento Sans"/>
                <a:ea typeface="Quattrocento Sans"/>
                <a:cs typeface="Quattrocento Sans"/>
                <a:sym typeface="Quattrocento Sans"/>
              </a:rPr>
              <a:t>🡺</a:t>
            </a:r>
            <a:endParaRPr b="0" i="0" sz="1961" u="none" cap="none" strike="noStrike">
              <a:solidFill>
                <a:schemeClr val="lt2"/>
              </a:solidFill>
              <a:latin typeface="Quattrocento Sans"/>
              <a:ea typeface="Quattrocento Sans"/>
              <a:cs typeface="Quattrocento Sans"/>
              <a:sym typeface="Quattrocento San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178"/>
          <p:cNvSpPr txBox="1"/>
          <p:nvPr>
            <p:ph type="title"/>
          </p:nvPr>
        </p:nvSpPr>
        <p:spPr>
          <a:xfrm>
            <a:off x="389467" y="365125"/>
            <a:ext cx="11328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Usage</a:t>
            </a:r>
            <a:endParaRPr/>
          </a:p>
        </p:txBody>
      </p:sp>
      <p:pic>
        <p:nvPicPr>
          <p:cNvPr descr="https://simondelang.gallerycdn.vsassets.io/extensions/simondelang/sonar-buildbreaker/8.0.0/1566117077671/extensions/sonarqube/images/usage.png" id="1466" name="Google Shape;1466;p178"/>
          <p:cNvPicPr preferRelativeResize="0"/>
          <p:nvPr/>
        </p:nvPicPr>
        <p:blipFill rotWithShape="1">
          <a:blip r:embed="rId3">
            <a:alphaModFix/>
          </a:blip>
          <a:srcRect b="0" l="0" r="0" t="0"/>
          <a:stretch/>
        </p:blipFill>
        <p:spPr>
          <a:xfrm>
            <a:off x="2822575" y="3122612"/>
            <a:ext cx="5715000" cy="3324226"/>
          </a:xfrm>
          <a:prstGeom prst="rect">
            <a:avLst/>
          </a:prstGeom>
          <a:noFill/>
          <a:ln>
            <a:noFill/>
          </a:ln>
        </p:spPr>
      </p:pic>
      <p:sp>
        <p:nvSpPr>
          <p:cNvPr id="1467" name="Google Shape;1467;p178"/>
          <p:cNvSpPr txBox="1"/>
          <p:nvPr>
            <p:ph idx="1" type="body"/>
          </p:nvPr>
        </p:nvSpPr>
        <p:spPr>
          <a:xfrm>
            <a:off x="514349" y="1663700"/>
            <a:ext cx="11115675" cy="1296987"/>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590"/>
              <a:t>It is recommended to place the task after the 'Publish Quality Gate' task from SonarSource, this is because the official task has better error handling and you probably want to browse to SonarQube if this task makes your build fail</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179"/>
          <p:cNvSpPr txBox="1"/>
          <p:nvPr>
            <p:ph type="title"/>
          </p:nvPr>
        </p:nvSpPr>
        <p:spPr>
          <a:xfrm>
            <a:off x="389467" y="365125"/>
            <a:ext cx="11328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Usage</a:t>
            </a:r>
            <a:endParaRPr/>
          </a:p>
        </p:txBody>
      </p:sp>
      <p:sp>
        <p:nvSpPr>
          <p:cNvPr id="1473" name="Google Shape;1473;p179"/>
          <p:cNvSpPr txBox="1"/>
          <p:nvPr>
            <p:ph idx="1" type="body"/>
          </p:nvPr>
        </p:nvSpPr>
        <p:spPr>
          <a:xfrm>
            <a:off x="514349" y="1663700"/>
            <a:ext cx="11115675" cy="1296987"/>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The task requires one input, your SonarQube endpoint. This is required in order to authenticate to the SonarQube instance</a:t>
            </a:r>
            <a:endParaRPr/>
          </a:p>
        </p:txBody>
      </p:sp>
      <p:pic>
        <p:nvPicPr>
          <p:cNvPr descr="https://simondelang.gallerycdn.vsassets.io/extensions/simondelang/sonar-buildbreaker/8.0.0/1566117077671/extensions/sonarqube/images/input.png" id="1474" name="Google Shape;1474;p179"/>
          <p:cNvPicPr preferRelativeResize="0"/>
          <p:nvPr/>
        </p:nvPicPr>
        <p:blipFill rotWithShape="1">
          <a:blip r:embed="rId3">
            <a:alphaModFix/>
          </a:blip>
          <a:srcRect b="0" l="0" r="0" t="0"/>
          <a:stretch/>
        </p:blipFill>
        <p:spPr>
          <a:xfrm>
            <a:off x="2203450" y="3657600"/>
            <a:ext cx="7225472" cy="2035176"/>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180"/>
          <p:cNvSpPr txBox="1"/>
          <p:nvPr>
            <p:ph type="title"/>
          </p:nvPr>
        </p:nvSpPr>
        <p:spPr>
          <a:xfrm>
            <a:off x="389467" y="365125"/>
            <a:ext cx="11328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Configuration For Quality Gate</a:t>
            </a:r>
            <a:endParaRPr/>
          </a:p>
        </p:txBody>
      </p:sp>
      <p:pic>
        <p:nvPicPr>
          <p:cNvPr id="1480" name="Google Shape;1480;p180"/>
          <p:cNvPicPr preferRelativeResize="0"/>
          <p:nvPr/>
        </p:nvPicPr>
        <p:blipFill rotWithShape="1">
          <a:blip r:embed="rId3">
            <a:alphaModFix/>
          </a:blip>
          <a:srcRect b="0" l="0" r="0" t="0"/>
          <a:stretch/>
        </p:blipFill>
        <p:spPr>
          <a:xfrm>
            <a:off x="1162051" y="1576729"/>
            <a:ext cx="9829800" cy="4981234"/>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181"/>
          <p:cNvSpPr txBox="1"/>
          <p:nvPr>
            <p:ph type="title"/>
          </p:nvPr>
        </p:nvSpPr>
        <p:spPr>
          <a:xfrm>
            <a:off x="427567" y="193675"/>
            <a:ext cx="113284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The pipeline will fail whenever the quality gate in SonarQube failed</a:t>
            </a:r>
            <a:endParaRPr/>
          </a:p>
        </p:txBody>
      </p:sp>
      <p:pic>
        <p:nvPicPr>
          <p:cNvPr id="1486" name="Google Shape;1486;p181"/>
          <p:cNvPicPr preferRelativeResize="0"/>
          <p:nvPr/>
        </p:nvPicPr>
        <p:blipFill rotWithShape="1">
          <a:blip r:embed="rId3">
            <a:alphaModFix/>
          </a:blip>
          <a:srcRect b="0" l="0" r="0" t="0"/>
          <a:stretch/>
        </p:blipFill>
        <p:spPr>
          <a:xfrm>
            <a:off x="2252663" y="1724026"/>
            <a:ext cx="7635137" cy="4471182"/>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18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sz="5400">
                <a:solidFill>
                  <a:srgbClr val="2C65E1"/>
                </a:solidFill>
              </a:rPr>
              <a:t>SonarQube pull request analysis (SonarQube developer edition)</a:t>
            </a:r>
            <a:endParaRPr sz="5400"/>
          </a:p>
        </p:txBody>
      </p:sp>
      <p:sp>
        <p:nvSpPr>
          <p:cNvPr id="1492" name="Google Shape;1492;p18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rPr lang="en-US"/>
              <a:t>An extension that breaks your build whenever the quality gate in SonarQube failed</a:t>
            </a:r>
            <a:endParaRPr/>
          </a:p>
        </p:txBody>
      </p:sp>
      <p:sp>
        <p:nvSpPr>
          <p:cNvPr id="1493" name="Google Shape;1493;p182"/>
          <p:cNvSpPr txBox="1"/>
          <p:nvPr/>
        </p:nvSpPr>
        <p:spPr>
          <a:xfrm>
            <a:off x="868199" y="6133876"/>
            <a:ext cx="11066626"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2000" u="sng" cap="none" strike="noStrike">
                <a:solidFill>
                  <a:schemeClr val="dk1"/>
                </a:solidFill>
                <a:latin typeface="Quattrocento Sans"/>
                <a:ea typeface="Quattrocento Sans"/>
                <a:cs typeface="Quattrocento Sans"/>
                <a:sym typeface="Quattrocento Sans"/>
                <a:hlinkClick r:id="rId3">
                  <a:extLst>
                    <a:ext uri="{A12FA001-AC4F-418D-AE19-62706E023703}">
                      <ahyp:hlinkClr val="tx"/>
                    </a:ext>
                  </a:extLst>
                </a:hlinkClick>
              </a:rPr>
              <a:t>https://docs.sonarqube.org/latest/analysis/scan/sonarscanner-for-azure-devops/</a:t>
            </a:r>
            <a:endParaRPr b="0" i="0" sz="2000" u="none" cap="none" strike="noStrike">
              <a:solidFill>
                <a:schemeClr val="dk1"/>
              </a:solidFill>
              <a:latin typeface="Quattrocento Sans"/>
              <a:ea typeface="Quattrocento Sans"/>
              <a:cs typeface="Quattrocento Sans"/>
              <a:sym typeface="Quattrocento Sans"/>
            </a:endParaRPr>
          </a:p>
        </p:txBody>
      </p:sp>
      <p:sp>
        <p:nvSpPr>
          <p:cNvPr id="1494" name="Google Shape;1494;p182"/>
          <p:cNvSpPr/>
          <p:nvPr/>
        </p:nvSpPr>
        <p:spPr>
          <a:xfrm>
            <a:off x="304800" y="6068865"/>
            <a:ext cx="439908" cy="420039"/>
          </a:xfrm>
          <a:prstGeom prst="ellipse">
            <a:avLst/>
          </a:prstGeom>
          <a:no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961" u="none" cap="none" strike="noStrike">
                <a:solidFill>
                  <a:schemeClr val="lt2"/>
                </a:solidFill>
                <a:latin typeface="Quattrocento Sans"/>
                <a:ea typeface="Quattrocento Sans"/>
                <a:cs typeface="Quattrocento Sans"/>
                <a:sym typeface="Quattrocento Sans"/>
              </a:rPr>
              <a:t>🡺</a:t>
            </a:r>
            <a:endParaRPr b="0" i="0" sz="1961" u="none" cap="none" strike="noStrike">
              <a:solidFill>
                <a:schemeClr val="lt2"/>
              </a:solidFill>
              <a:latin typeface="Quattrocento Sans"/>
              <a:ea typeface="Quattrocento Sans"/>
              <a:cs typeface="Quattrocento Sans"/>
              <a:sym typeface="Quattrocento San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1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SonarQube pull request analysis and line comments (SonarQube developer edition)</a:t>
            </a:r>
            <a:endParaRPr/>
          </a:p>
        </p:txBody>
      </p:sp>
      <p:sp>
        <p:nvSpPr>
          <p:cNvPr id="1500" name="Google Shape;1500;p183"/>
          <p:cNvSpPr/>
          <p:nvPr/>
        </p:nvSpPr>
        <p:spPr>
          <a:xfrm>
            <a:off x="695324" y="2128868"/>
            <a:ext cx="11049001" cy="317009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SonarQube can analyze the code of the new features and annotate your pull requests in TFS with comments to highlight issues that were found.</a:t>
            </a:r>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Pull request analysis is supported for any type of Git repositories. To activate it:</a:t>
            </a:r>
            <a:endParaRPr/>
          </a:p>
          <a:p>
            <a:pPr indent="-342900" lvl="1" marL="8001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In the </a:t>
            </a:r>
            <a:r>
              <a:rPr b="1" i="0" lang="en-US" sz="2000" u="none" cap="none" strike="noStrike">
                <a:solidFill>
                  <a:srgbClr val="000000"/>
                </a:solidFill>
                <a:latin typeface="Arial"/>
                <a:ea typeface="Arial"/>
                <a:cs typeface="Arial"/>
                <a:sym typeface="Arial"/>
              </a:rPr>
              <a:t>Branch policies</a:t>
            </a:r>
            <a:r>
              <a:rPr b="0" i="0" lang="en-US" sz="2000" u="none" cap="none" strike="noStrike">
                <a:solidFill>
                  <a:srgbClr val="000000"/>
                </a:solidFill>
                <a:latin typeface="Arial"/>
                <a:ea typeface="Arial"/>
                <a:cs typeface="Arial"/>
                <a:sym typeface="Arial"/>
              </a:rPr>
              <a:t> page of your main development branches (e.g. "master"), add a build policy that runs your build definition</a:t>
            </a:r>
            <a:endParaRPr/>
          </a:p>
          <a:p>
            <a:pPr indent="-342900" lvl="1" marL="8001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Create an Azure DevOps token with "Code (read and write)" scope</a:t>
            </a:r>
            <a:endParaRPr/>
          </a:p>
          <a:p>
            <a:pPr indent="-342900" lvl="1" marL="8001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Arial"/>
                <a:ea typeface="Arial"/>
                <a:cs typeface="Arial"/>
                <a:sym typeface="Arial"/>
              </a:rPr>
              <a:t>In SonarQube, in the </a:t>
            </a:r>
            <a:r>
              <a:rPr b="1" i="0" lang="en-US" sz="2000" u="none" cap="none" strike="noStrike">
                <a:solidFill>
                  <a:srgbClr val="000000"/>
                </a:solidFill>
                <a:latin typeface="Arial"/>
                <a:ea typeface="Arial"/>
                <a:cs typeface="Arial"/>
                <a:sym typeface="Arial"/>
              </a:rPr>
              <a:t>Administration &gt; General Settings &gt; Pull Requests</a:t>
            </a:r>
            <a:r>
              <a:rPr b="0" i="0" lang="en-US" sz="2000" u="none" cap="none" strike="noStrike">
                <a:solidFill>
                  <a:srgbClr val="000000"/>
                </a:solidFill>
                <a:latin typeface="Arial"/>
                <a:ea typeface="Arial"/>
                <a:cs typeface="Arial"/>
                <a:sym typeface="Arial"/>
              </a:rPr>
              <a:t> page, set this token in the </a:t>
            </a:r>
            <a:r>
              <a:rPr b="1" i="0" lang="en-US" sz="2000" u="none" cap="none" strike="noStrike">
                <a:solidFill>
                  <a:srgbClr val="000000"/>
                </a:solidFill>
                <a:latin typeface="Arial"/>
                <a:ea typeface="Arial"/>
                <a:cs typeface="Arial"/>
                <a:sym typeface="Arial"/>
              </a:rPr>
              <a:t>VSTS/TFS</a:t>
            </a:r>
            <a:r>
              <a:rPr b="0" i="0" lang="en-US" sz="2000" u="none" cap="none" strike="noStrike">
                <a:solidFill>
                  <a:srgbClr val="000000"/>
                </a:solidFill>
                <a:latin typeface="Arial"/>
                <a:ea typeface="Arial"/>
                <a:cs typeface="Arial"/>
                <a:sym typeface="Arial"/>
              </a:rPr>
              <a:t> section</a:t>
            </a:r>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Next time some code is pushed in the branch of a pull request, the build definition will execute a scan on the code and publish the results in SonarQube which will decorate the pull request in TFS.</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1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SonarQube pull request analysis and line comments (SonarQube developer edition)</a:t>
            </a:r>
            <a:endParaRPr/>
          </a:p>
        </p:txBody>
      </p:sp>
      <p:pic>
        <p:nvPicPr>
          <p:cNvPr descr="PR-Decoration" id="1506" name="Google Shape;1506;p184"/>
          <p:cNvPicPr preferRelativeResize="0"/>
          <p:nvPr/>
        </p:nvPicPr>
        <p:blipFill rotWithShape="1">
          <a:blip r:embed="rId3">
            <a:alphaModFix/>
          </a:blip>
          <a:srcRect b="0" l="0" r="0" t="0"/>
          <a:stretch/>
        </p:blipFill>
        <p:spPr>
          <a:xfrm>
            <a:off x="2835275" y="2093406"/>
            <a:ext cx="6905625" cy="4139119"/>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18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solidFill>
                  <a:srgbClr val="2C65E1"/>
                </a:solidFill>
              </a:rPr>
              <a:t>Azure Pipelines with Microsoft Teams</a:t>
            </a:r>
            <a:endParaRPr/>
          </a:p>
        </p:txBody>
      </p:sp>
      <p:sp>
        <p:nvSpPr>
          <p:cNvPr id="1512" name="Google Shape;1512;p18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t/>
            </a:r>
            <a:endParaRPr/>
          </a:p>
        </p:txBody>
      </p:sp>
      <p:sp>
        <p:nvSpPr>
          <p:cNvPr id="1513" name="Google Shape;1513;p185"/>
          <p:cNvSpPr txBox="1"/>
          <p:nvPr/>
        </p:nvSpPr>
        <p:spPr>
          <a:xfrm>
            <a:off x="820574" y="5971107"/>
            <a:ext cx="11066626"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2000" u="sng" cap="none" strike="noStrike">
                <a:solidFill>
                  <a:schemeClr val="dk1"/>
                </a:solidFill>
                <a:latin typeface="Quattrocento Sans"/>
                <a:ea typeface="Quattrocento Sans"/>
                <a:cs typeface="Quattrocento Sans"/>
                <a:sym typeface="Quattrocento Sans"/>
                <a:hlinkClick r:id="rId3">
                  <a:extLst>
                    <a:ext uri="{A12FA001-AC4F-418D-AE19-62706E023703}">
                      <ahyp:hlinkClr val="tx"/>
                    </a:ext>
                  </a:extLst>
                </a:hlinkClick>
              </a:rPr>
              <a:t>https://docs.microsoft.com/en-us/azure/devops/pipelines/integrations/microsoft-teams?view=azure-devops</a:t>
            </a:r>
            <a:endParaRPr b="0" i="0" sz="2000" u="none" cap="none" strike="noStrike">
              <a:solidFill>
                <a:schemeClr val="dk1"/>
              </a:solidFill>
              <a:latin typeface="Quattrocento Sans"/>
              <a:ea typeface="Quattrocento Sans"/>
              <a:cs typeface="Quattrocento Sans"/>
              <a:sym typeface="Quattrocento Sans"/>
            </a:endParaRPr>
          </a:p>
        </p:txBody>
      </p:sp>
      <p:sp>
        <p:nvSpPr>
          <p:cNvPr id="1514" name="Google Shape;1514;p185"/>
          <p:cNvSpPr/>
          <p:nvPr/>
        </p:nvSpPr>
        <p:spPr>
          <a:xfrm>
            <a:off x="304800" y="6068865"/>
            <a:ext cx="439908" cy="420039"/>
          </a:xfrm>
          <a:prstGeom prst="ellipse">
            <a:avLst/>
          </a:prstGeom>
          <a:no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961" u="none" cap="none" strike="noStrike">
                <a:solidFill>
                  <a:schemeClr val="lt2"/>
                </a:solidFill>
                <a:latin typeface="Quattrocento Sans"/>
                <a:ea typeface="Quattrocento Sans"/>
                <a:cs typeface="Quattrocento Sans"/>
                <a:sym typeface="Quattrocento Sans"/>
              </a:rPr>
              <a:t>🡺</a:t>
            </a:r>
            <a:endParaRPr b="0" i="0" sz="1961" u="none" cap="none" strike="noStrike">
              <a:solidFill>
                <a:schemeClr val="lt2"/>
              </a:solidFill>
              <a:latin typeface="Quattrocento Sans"/>
              <a:ea typeface="Quattrocento Sans"/>
              <a:cs typeface="Quattrocento Sans"/>
              <a:sym typeface="Quattrocento San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186"/>
          <p:cNvSpPr txBox="1"/>
          <p:nvPr>
            <p:ph type="title"/>
          </p:nvPr>
        </p:nvSpPr>
        <p:spPr>
          <a:xfrm>
            <a:off x="838199" y="13914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Azure Pipelines with Microsoft Teams</a:t>
            </a:r>
            <a:endParaRPr/>
          </a:p>
        </p:txBody>
      </p:sp>
      <p:pic>
        <p:nvPicPr>
          <p:cNvPr id="1520" name="Google Shape;1520;p186"/>
          <p:cNvPicPr preferRelativeResize="0"/>
          <p:nvPr/>
        </p:nvPicPr>
        <p:blipFill rotWithShape="1">
          <a:blip r:embed="rId3">
            <a:alphaModFix/>
          </a:blip>
          <a:srcRect b="0" l="0" r="0" t="0"/>
          <a:stretch/>
        </p:blipFill>
        <p:spPr>
          <a:xfrm>
            <a:off x="2727656" y="1361661"/>
            <a:ext cx="6515736" cy="5181483"/>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187"/>
          <p:cNvSpPr txBox="1"/>
          <p:nvPr>
            <p:ph type="ctrTitle"/>
          </p:nvPr>
        </p:nvSpPr>
        <p:spPr>
          <a:xfrm>
            <a:off x="744708" y="1122363"/>
            <a:ext cx="10780542" cy="197326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sz="5400">
                <a:solidFill>
                  <a:srgbClr val="2C65E1"/>
                </a:solidFill>
              </a:rPr>
              <a:t>Azure Pipelines automation test with BDD, Azure Test Plan, Test Suite</a:t>
            </a:r>
            <a:endParaRPr sz="5400"/>
          </a:p>
        </p:txBody>
      </p:sp>
      <p:sp>
        <p:nvSpPr>
          <p:cNvPr id="1526" name="Google Shape;1526;p187"/>
          <p:cNvSpPr txBox="1"/>
          <p:nvPr/>
        </p:nvSpPr>
        <p:spPr>
          <a:xfrm>
            <a:off x="868199" y="5940026"/>
            <a:ext cx="11066626"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2000" u="sng" cap="none" strike="noStrike">
                <a:solidFill>
                  <a:schemeClr val="dk1"/>
                </a:solidFill>
                <a:latin typeface="Quattrocento Sans"/>
                <a:ea typeface="Quattrocento Sans"/>
                <a:cs typeface="Quattrocento Sans"/>
                <a:sym typeface="Quattrocento Sans"/>
                <a:hlinkClick r:id="rId3">
                  <a:extLst>
                    <a:ext uri="{A12FA001-AC4F-418D-AE19-62706E023703}">
                      <ahyp:hlinkClr val="tx"/>
                    </a:ext>
                  </a:extLst>
                </a:hlinkClick>
              </a:rPr>
              <a:t>https://docs.microsoft.com/en-us/azure/devops/test/run-automated-tests-from-test-hub?view=azure-devops</a:t>
            </a:r>
            <a:endParaRPr b="0" i="0" sz="2000" u="none" cap="none" strike="noStrike">
              <a:solidFill>
                <a:schemeClr val="dk1"/>
              </a:solidFill>
              <a:latin typeface="Quattrocento Sans"/>
              <a:ea typeface="Quattrocento Sans"/>
              <a:cs typeface="Quattrocento Sans"/>
              <a:sym typeface="Quattrocento Sans"/>
            </a:endParaRPr>
          </a:p>
        </p:txBody>
      </p:sp>
      <p:sp>
        <p:nvSpPr>
          <p:cNvPr id="1527" name="Google Shape;1527;p187"/>
          <p:cNvSpPr/>
          <p:nvPr/>
        </p:nvSpPr>
        <p:spPr>
          <a:xfrm>
            <a:off x="304800" y="6068865"/>
            <a:ext cx="439908" cy="420039"/>
          </a:xfrm>
          <a:prstGeom prst="ellipse">
            <a:avLst/>
          </a:prstGeom>
          <a:no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961" u="none" cap="none" strike="noStrike">
                <a:solidFill>
                  <a:schemeClr val="lt2"/>
                </a:solidFill>
                <a:latin typeface="Quattrocento Sans"/>
                <a:ea typeface="Quattrocento Sans"/>
                <a:cs typeface="Quattrocento Sans"/>
                <a:sym typeface="Quattrocento Sans"/>
              </a:rPr>
              <a:t>🡺</a:t>
            </a:r>
            <a:endParaRPr b="0" i="0" sz="1961" u="none" cap="none" strike="noStrike">
              <a:solidFill>
                <a:schemeClr val="lt2"/>
              </a:solidFill>
              <a:latin typeface="Quattrocento Sans"/>
              <a:ea typeface="Quattrocento Sans"/>
              <a:cs typeface="Quattrocento Sans"/>
              <a:sym typeface="Quattrocento Sans"/>
            </a:endParaRPr>
          </a:p>
        </p:txBody>
      </p:sp>
      <p:sp>
        <p:nvSpPr>
          <p:cNvPr id="1528" name="Google Shape;1528;p18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1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Azure Test Plans</a:t>
            </a:r>
            <a:endParaRPr/>
          </a:p>
        </p:txBody>
      </p:sp>
      <p:pic>
        <p:nvPicPr>
          <p:cNvPr descr="https://azurecomcdn.azureedge.net/cvt-26276bb617ed9c2643b1ca22336a27169bab0da9bf7b0e1ed57350389894d970/images/page/services/devops/test-plans/screenshot.jpg" id="1534" name="Google Shape;1534;p188"/>
          <p:cNvPicPr preferRelativeResize="0"/>
          <p:nvPr/>
        </p:nvPicPr>
        <p:blipFill rotWithShape="1">
          <a:blip r:embed="rId3">
            <a:alphaModFix/>
          </a:blip>
          <a:srcRect b="0" l="0" r="0" t="0"/>
          <a:stretch/>
        </p:blipFill>
        <p:spPr>
          <a:xfrm>
            <a:off x="2225674" y="1710173"/>
            <a:ext cx="7896225" cy="5033843"/>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1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Azure Pipelines automation test with BDD, Azure Test Plan, Test Suite</a:t>
            </a:r>
            <a:endParaRPr/>
          </a:p>
        </p:txBody>
      </p:sp>
      <p:pic>
        <p:nvPicPr>
          <p:cNvPr id="1540" name="Google Shape;1540;p189"/>
          <p:cNvPicPr preferRelativeResize="0"/>
          <p:nvPr/>
        </p:nvPicPr>
        <p:blipFill rotWithShape="1">
          <a:blip r:embed="rId3">
            <a:alphaModFix/>
          </a:blip>
          <a:srcRect b="0" l="0" r="0" t="0"/>
          <a:stretch/>
        </p:blipFill>
        <p:spPr>
          <a:xfrm>
            <a:off x="1866900" y="1856133"/>
            <a:ext cx="8724900" cy="483518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1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SpecFlow Build pipeline</a:t>
            </a:r>
            <a:endParaRPr/>
          </a:p>
        </p:txBody>
      </p:sp>
      <p:pic>
        <p:nvPicPr>
          <p:cNvPr id="1546" name="Google Shape;1546;p190"/>
          <p:cNvPicPr preferRelativeResize="0"/>
          <p:nvPr/>
        </p:nvPicPr>
        <p:blipFill rotWithShape="1">
          <a:blip r:embed="rId3">
            <a:alphaModFix/>
          </a:blip>
          <a:srcRect b="0" l="0" r="0" t="0"/>
          <a:stretch/>
        </p:blipFill>
        <p:spPr>
          <a:xfrm>
            <a:off x="1422400" y="1778000"/>
            <a:ext cx="9918700" cy="4082913"/>
          </a:xfrm>
          <a:prstGeom prst="rect">
            <a:avLst/>
          </a:prstGeom>
          <a:noFill/>
          <a:ln>
            <a:noFill/>
          </a:ln>
        </p:spPr>
      </p:pic>
      <p:sp>
        <p:nvSpPr>
          <p:cNvPr id="1547" name="Google Shape;1547;p190"/>
          <p:cNvSpPr/>
          <p:nvPr/>
        </p:nvSpPr>
        <p:spPr>
          <a:xfrm>
            <a:off x="190500" y="6377970"/>
            <a:ext cx="121285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sng" cap="none" strike="noStrike">
                <a:solidFill>
                  <a:srgbClr val="000000"/>
                </a:solidFill>
                <a:latin typeface="Arial"/>
                <a:ea typeface="Arial"/>
                <a:cs typeface="Arial"/>
                <a:sym typeface="Arial"/>
                <a:hlinkClick r:id="rId4">
                  <a:extLst>
                    <a:ext uri="{A12FA001-AC4F-418D-AE19-62706E023703}">
                      <ahyp:hlinkClr val="tx"/>
                    </a:ext>
                  </a:extLst>
                </a:hlinkClick>
              </a:rPr>
              <a:t>https://www.visualstudiogeeks.com/DevOps/SpecflowPlusSpecRunVstsPipelineForBddStyleAutomatedGherkinFunctionalTests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sp>
        <p:nvSpPr>
          <p:cNvPr id="1552" name="Google Shape;1552;p1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solidFill>
                  <a:srgbClr val="2C65E1"/>
                </a:solidFill>
              </a:rPr>
              <a:t>Azure Pipelines automation test with BDD, Azure Test Plan, Test Suite</a:t>
            </a:r>
            <a:endParaRPr/>
          </a:p>
        </p:txBody>
      </p:sp>
      <p:pic>
        <p:nvPicPr>
          <p:cNvPr id="1553" name="Google Shape;1553;p191"/>
          <p:cNvPicPr preferRelativeResize="0"/>
          <p:nvPr/>
        </p:nvPicPr>
        <p:blipFill rotWithShape="1">
          <a:blip r:embed="rId3">
            <a:alphaModFix/>
          </a:blip>
          <a:srcRect b="0" l="0" r="0" t="0"/>
          <a:stretch/>
        </p:blipFill>
        <p:spPr>
          <a:xfrm>
            <a:off x="2070100" y="1612371"/>
            <a:ext cx="7785100" cy="4316941"/>
          </a:xfrm>
          <a:prstGeom prst="rect">
            <a:avLst/>
          </a:prstGeom>
          <a:noFill/>
          <a:ln>
            <a:noFill/>
          </a:ln>
        </p:spPr>
      </p:pic>
      <p:sp>
        <p:nvSpPr>
          <p:cNvPr id="1554" name="Google Shape;1554;p191"/>
          <p:cNvSpPr txBox="1"/>
          <p:nvPr/>
        </p:nvSpPr>
        <p:spPr>
          <a:xfrm>
            <a:off x="469900" y="6128266"/>
            <a:ext cx="109855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Test evidence (screenshot, videos,…) from automation test can attach to test result</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8" name="Shape 1558"/>
        <p:cNvGrpSpPr/>
        <p:nvPr/>
      </p:nvGrpSpPr>
      <p:grpSpPr>
        <a:xfrm>
          <a:off x="0" y="0"/>
          <a:ext cx="0" cy="0"/>
          <a:chOff x="0" y="0"/>
          <a:chExt cx="0" cy="0"/>
        </a:xfrm>
      </p:grpSpPr>
      <p:sp>
        <p:nvSpPr>
          <p:cNvPr id="1559" name="Google Shape;1559;p19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0" name="Google Shape;1560;p192"/>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1" name="Google Shape;1561;p192"/>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2" name="Google Shape;1562;p192"/>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3" name="Google Shape;1563;p192"/>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4" name="Google Shape;1564;p192"/>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5" name="Google Shape;1565;p192"/>
          <p:cNvSpPr txBox="1"/>
          <p:nvPr>
            <p:ph type="title"/>
          </p:nvPr>
        </p:nvSpPr>
        <p:spPr>
          <a:xfrm>
            <a:off x="643467" y="640080"/>
            <a:ext cx="3096427" cy="56132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C65E1"/>
              </a:buClr>
              <a:buSzPts val="4400"/>
              <a:buNone/>
            </a:pPr>
            <a:r>
              <a:rPr lang="en-US">
                <a:solidFill>
                  <a:srgbClr val="FFFFFF"/>
                </a:solidFill>
              </a:rPr>
              <a:t>Azure DevOps with &amp; GCP products</a:t>
            </a:r>
            <a:endParaRPr/>
          </a:p>
        </p:txBody>
      </p:sp>
      <p:pic>
        <p:nvPicPr>
          <p:cNvPr id="1566" name="Google Shape;1566;p192"/>
          <p:cNvPicPr preferRelativeResize="0"/>
          <p:nvPr/>
        </p:nvPicPr>
        <p:blipFill rotWithShape="1">
          <a:blip r:embed="rId3">
            <a:alphaModFix/>
          </a:blip>
          <a:srcRect b="0" l="0" r="0" t="0"/>
          <a:stretch/>
        </p:blipFill>
        <p:spPr>
          <a:xfrm>
            <a:off x="4938462" y="178300"/>
            <a:ext cx="6337116" cy="6440777"/>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0" name="Shape 1570"/>
        <p:cNvGrpSpPr/>
        <p:nvPr/>
      </p:nvGrpSpPr>
      <p:grpSpPr>
        <a:xfrm>
          <a:off x="0" y="0"/>
          <a:ext cx="0" cy="0"/>
          <a:chOff x="0" y="0"/>
          <a:chExt cx="0" cy="0"/>
        </a:xfrm>
      </p:grpSpPr>
      <p:sp>
        <p:nvSpPr>
          <p:cNvPr id="1571" name="Google Shape;1571;p19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72" name="Google Shape;1572;p193"/>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73" name="Google Shape;1573;p193"/>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74" name="Google Shape;1574;p193"/>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75" name="Google Shape;1575;p193"/>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76" name="Google Shape;1576;p193"/>
          <p:cNvSpPr/>
          <p:nvPr/>
        </p:nvSpPr>
        <p:spPr>
          <a:xfrm>
            <a:off x="-1" y="1"/>
            <a:ext cx="408498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1"/>
              </a:solidFill>
              <a:latin typeface="Arial"/>
              <a:ea typeface="Arial"/>
              <a:cs typeface="Arial"/>
              <a:sym typeface="Arial"/>
            </a:endParaRPr>
          </a:p>
        </p:txBody>
      </p:sp>
      <p:sp>
        <p:nvSpPr>
          <p:cNvPr id="1577" name="Google Shape;1577;p193"/>
          <p:cNvSpPr txBox="1"/>
          <p:nvPr>
            <p:ph type="title"/>
          </p:nvPr>
        </p:nvSpPr>
        <p:spPr>
          <a:xfrm>
            <a:off x="643467" y="640080"/>
            <a:ext cx="3096427" cy="56132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C65E1"/>
              </a:buClr>
              <a:buSzPts val="4400"/>
              <a:buNone/>
            </a:pPr>
            <a:r>
              <a:rPr lang="en-US">
                <a:solidFill>
                  <a:srgbClr val="FFFFFF"/>
                </a:solidFill>
              </a:rPr>
              <a:t>Data-driven Design</a:t>
            </a:r>
            <a:endParaRPr/>
          </a:p>
        </p:txBody>
      </p:sp>
      <p:pic>
        <p:nvPicPr>
          <p:cNvPr descr="Tầm quan trọng của data-driven trong hoạt động marketing" id="1578" name="Google Shape;1578;p193"/>
          <p:cNvPicPr preferRelativeResize="0"/>
          <p:nvPr/>
        </p:nvPicPr>
        <p:blipFill rotWithShape="1">
          <a:blip r:embed="rId3">
            <a:alphaModFix/>
          </a:blip>
          <a:srcRect b="0" l="0" r="0" t="0"/>
          <a:stretch/>
        </p:blipFill>
        <p:spPr>
          <a:xfrm>
            <a:off x="4735318" y="652413"/>
            <a:ext cx="7096339" cy="4399568"/>
          </a:xfrm>
          <a:prstGeom prst="rect">
            <a:avLst/>
          </a:prstGeom>
          <a:noFill/>
          <a:ln>
            <a:noFill/>
          </a:ln>
        </p:spPr>
      </p:pic>
      <p:sp>
        <p:nvSpPr>
          <p:cNvPr id="1579" name="Google Shape;1579;p193"/>
          <p:cNvSpPr txBox="1"/>
          <p:nvPr/>
        </p:nvSpPr>
        <p:spPr>
          <a:xfrm>
            <a:off x="5222735" y="5265399"/>
            <a:ext cx="6641916" cy="1186204"/>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2C65E1"/>
              </a:buClr>
              <a:buSzPts val="4400"/>
              <a:buFont typeface="Calibri"/>
              <a:buNone/>
            </a:pPr>
            <a:r>
              <a:rPr b="0" i="1" lang="en-US" sz="2000" u="none" cap="none" strike="noStrike">
                <a:solidFill>
                  <a:schemeClr val="dk1"/>
                </a:solidFill>
                <a:latin typeface="Calibri"/>
                <a:ea typeface="Calibri"/>
                <a:cs typeface="Calibri"/>
                <a:sym typeface="Calibri"/>
              </a:rPr>
              <a:t>“Data has a better idea”</a:t>
            </a:r>
            <a:br>
              <a:rPr b="0" i="1" lang="en-US" sz="2000" u="none" cap="none" strike="noStrike">
                <a:solidFill>
                  <a:schemeClr val="dk1"/>
                </a:solidFill>
                <a:latin typeface="Calibri"/>
                <a:ea typeface="Calibri"/>
                <a:cs typeface="Calibri"/>
                <a:sym typeface="Calibri"/>
              </a:rPr>
            </a:br>
            <a:r>
              <a:rPr b="0" i="1" lang="en-US" sz="2000" u="none" cap="none" strike="noStrike">
                <a:solidFill>
                  <a:schemeClr val="dk1"/>
                </a:solidFill>
                <a:latin typeface="Calibri"/>
                <a:ea typeface="Calibri"/>
                <a:cs typeface="Calibri"/>
                <a:sym typeface="Calibri"/>
              </a:rPr>
              <a:t>“Data beats emotions”</a:t>
            </a:r>
            <a:endParaRPr/>
          </a:p>
          <a:p>
            <a:pPr indent="0" lvl="0" marL="0" marR="0" rtl="0" algn="r">
              <a:lnSpc>
                <a:spcPct val="90000"/>
              </a:lnSpc>
              <a:spcBef>
                <a:spcPts val="0"/>
              </a:spcBef>
              <a:spcAft>
                <a:spcPts val="0"/>
              </a:spcAft>
              <a:buClr>
                <a:srgbClr val="2C65E1"/>
              </a:buClr>
              <a:buSzPts val="4400"/>
              <a:buFont typeface="Calibri"/>
              <a:buNone/>
            </a:pPr>
            <a:r>
              <a:rPr b="0" i="1" lang="en-US" sz="1400" u="none" cap="none" strike="noStrike">
                <a:solidFill>
                  <a:schemeClr val="dk1"/>
                </a:solidFill>
                <a:latin typeface="Calibri"/>
                <a:ea typeface="Calibri"/>
                <a:cs typeface="Calibri"/>
                <a:sym typeface="Calibri"/>
              </a:rPr>
              <a:t>Sean Rad</a:t>
            </a:r>
            <a:br>
              <a:rPr b="0" i="1" lang="en-US" sz="2000" u="none" cap="none" strike="noStrike">
                <a:solidFill>
                  <a:schemeClr val="dk1"/>
                </a:solidFill>
                <a:latin typeface="Calibri"/>
                <a:ea typeface="Calibri"/>
                <a:cs typeface="Calibri"/>
                <a:sym typeface="Calibri"/>
              </a:rPr>
            </a:br>
            <a:endParaRPr b="0" i="1" sz="2000" u="none" cap="none" strike="noStrike">
              <a:solidFill>
                <a:schemeClr val="dk1"/>
              </a:solidFill>
              <a:latin typeface="Calibri"/>
              <a:ea typeface="Calibri"/>
              <a:cs typeface="Calibri"/>
              <a:sym typeface="Calibri"/>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3" name="Shape 1583"/>
        <p:cNvGrpSpPr/>
        <p:nvPr/>
      </p:nvGrpSpPr>
      <p:grpSpPr>
        <a:xfrm>
          <a:off x="0" y="0"/>
          <a:ext cx="0" cy="0"/>
          <a:chOff x="0" y="0"/>
          <a:chExt cx="0" cy="0"/>
        </a:xfrm>
      </p:grpSpPr>
      <p:sp>
        <p:nvSpPr>
          <p:cNvPr id="1584" name="Google Shape;1584;p1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What is Data-driven</a:t>
            </a:r>
            <a:endParaRPr/>
          </a:p>
        </p:txBody>
      </p:sp>
      <p:sp>
        <p:nvSpPr>
          <p:cNvPr id="1585" name="Google Shape;1585;p194"/>
          <p:cNvSpPr txBox="1"/>
          <p:nvPr>
            <p:ph idx="1" type="body"/>
          </p:nvPr>
        </p:nvSpPr>
        <p:spPr>
          <a:xfrm>
            <a:off x="838200" y="3896139"/>
            <a:ext cx="10515600" cy="2280823"/>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US"/>
              <a:t>Data-driven is about building tools, abilities, and, most crucially, a </a:t>
            </a:r>
            <a:r>
              <a:rPr i="1" lang="en-US"/>
              <a:t>culture</a:t>
            </a:r>
            <a:r>
              <a:rPr lang="en-US"/>
              <a:t> that acts on data</a:t>
            </a:r>
            <a:endParaRPr/>
          </a:p>
        </p:txBody>
      </p:sp>
      <p:pic>
        <p:nvPicPr>
          <p:cNvPr descr="Alt Text" id="1586" name="Google Shape;1586;p194"/>
          <p:cNvPicPr preferRelativeResize="0"/>
          <p:nvPr/>
        </p:nvPicPr>
        <p:blipFill rotWithShape="1">
          <a:blip r:embed="rId3">
            <a:alphaModFix/>
          </a:blip>
          <a:srcRect b="0" l="0" r="0" t="0"/>
          <a:stretch/>
        </p:blipFill>
        <p:spPr>
          <a:xfrm>
            <a:off x="2323270" y="1650897"/>
            <a:ext cx="6869047" cy="1882119"/>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1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Why is Data-driven</a:t>
            </a:r>
            <a:endParaRPr/>
          </a:p>
        </p:txBody>
      </p:sp>
      <p:sp>
        <p:nvSpPr>
          <p:cNvPr id="1592" name="Google Shape;1592;p195"/>
          <p:cNvSpPr txBox="1"/>
          <p:nvPr>
            <p:ph idx="1" type="body"/>
          </p:nvPr>
        </p:nvSpPr>
        <p:spPr>
          <a:xfrm>
            <a:off x="773041" y="1604509"/>
            <a:ext cx="5449629" cy="444003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t>Spot (and predict) new market trends first</a:t>
            </a:r>
            <a:endParaRPr/>
          </a:p>
          <a:p>
            <a:pPr indent="-342900" lvl="0" marL="457200" rtl="0" algn="l">
              <a:lnSpc>
                <a:spcPct val="90000"/>
              </a:lnSpc>
              <a:spcBef>
                <a:spcPts val="1000"/>
              </a:spcBef>
              <a:spcAft>
                <a:spcPts val="0"/>
              </a:spcAft>
              <a:buClr>
                <a:schemeClr val="dk1"/>
              </a:buClr>
              <a:buSzPts val="1800"/>
              <a:buChar char="•"/>
            </a:pPr>
            <a:r>
              <a:rPr lang="en-US" sz="2400"/>
              <a:t>Identify customer experience improvements</a:t>
            </a:r>
            <a:endParaRPr/>
          </a:p>
          <a:p>
            <a:pPr indent="-342900" lvl="0" marL="457200" rtl="0" algn="l">
              <a:lnSpc>
                <a:spcPct val="90000"/>
              </a:lnSpc>
              <a:spcBef>
                <a:spcPts val="1000"/>
              </a:spcBef>
              <a:spcAft>
                <a:spcPts val="0"/>
              </a:spcAft>
              <a:buClr>
                <a:schemeClr val="dk1"/>
              </a:buClr>
              <a:buSzPts val="1800"/>
              <a:buChar char="•"/>
            </a:pPr>
            <a:r>
              <a:rPr lang="en-US" sz="2400"/>
              <a:t>Make smarter decisions with data </a:t>
            </a:r>
            <a:endParaRPr/>
          </a:p>
          <a:p>
            <a:pPr indent="-342900" lvl="0" marL="457200" rtl="0" algn="l">
              <a:lnSpc>
                <a:spcPct val="90000"/>
              </a:lnSpc>
              <a:spcBef>
                <a:spcPts val="1000"/>
              </a:spcBef>
              <a:spcAft>
                <a:spcPts val="0"/>
              </a:spcAft>
              <a:buClr>
                <a:schemeClr val="dk1"/>
              </a:buClr>
              <a:buSzPts val="1800"/>
              <a:buChar char="•"/>
            </a:pPr>
            <a:r>
              <a:rPr lang="en-US" sz="2400"/>
              <a:t>Make faster decisions with data</a:t>
            </a:r>
            <a:endParaRPr/>
          </a:p>
          <a:p>
            <a:pPr indent="-342900" lvl="0" marL="457200" rtl="0" algn="l">
              <a:lnSpc>
                <a:spcPct val="90000"/>
              </a:lnSpc>
              <a:spcBef>
                <a:spcPts val="1000"/>
              </a:spcBef>
              <a:spcAft>
                <a:spcPts val="0"/>
              </a:spcAft>
              <a:buClr>
                <a:schemeClr val="dk1"/>
              </a:buClr>
              <a:buSzPts val="1800"/>
              <a:buChar char="•"/>
            </a:pPr>
            <a:r>
              <a:rPr lang="en-US" sz="2400"/>
              <a:t>Identify the right growth opportunities</a:t>
            </a:r>
            <a:endParaRPr/>
          </a:p>
          <a:p>
            <a:pPr indent="0" lvl="0" marL="114300" rtl="0" algn="l">
              <a:lnSpc>
                <a:spcPct val="90000"/>
              </a:lnSpc>
              <a:spcBef>
                <a:spcPts val="1000"/>
              </a:spcBef>
              <a:spcAft>
                <a:spcPts val="0"/>
              </a:spcAft>
              <a:buSzPts val="1800"/>
              <a:buNone/>
            </a:pPr>
            <a:r>
              <a:t/>
            </a:r>
            <a:endParaRPr sz="2400"/>
          </a:p>
          <a:p>
            <a:pPr indent="-228600" lvl="0" marL="457200" rtl="0" algn="l">
              <a:lnSpc>
                <a:spcPct val="90000"/>
              </a:lnSpc>
              <a:spcBef>
                <a:spcPts val="1000"/>
              </a:spcBef>
              <a:spcAft>
                <a:spcPts val="0"/>
              </a:spcAft>
              <a:buClr>
                <a:schemeClr val="dk1"/>
              </a:buClr>
              <a:buSzPts val="1800"/>
              <a:buNone/>
            </a:pPr>
            <a:r>
              <a:t/>
            </a:r>
            <a:endParaRPr sz="2400"/>
          </a:p>
        </p:txBody>
      </p:sp>
      <p:graphicFrame>
        <p:nvGraphicFramePr>
          <p:cNvPr id="1593" name="Google Shape;1593;p195"/>
          <p:cNvGraphicFramePr/>
          <p:nvPr/>
        </p:nvGraphicFramePr>
        <p:xfrm>
          <a:off x="6615875" y="365125"/>
          <a:ext cx="5164447" cy="5418667"/>
        </p:xfrm>
        <a:graphic>
          <a:graphicData uri="http://schemas.openxmlformats.org/drawingml/2006/chart">
            <c:chart r:id="rId3"/>
          </a:graphicData>
        </a:graphic>
      </p:graphicFrame>
      <p:sp>
        <p:nvSpPr>
          <p:cNvPr id="1594" name="Google Shape;1594;p195"/>
          <p:cNvSpPr txBox="1"/>
          <p:nvPr/>
        </p:nvSpPr>
        <p:spPr>
          <a:xfrm>
            <a:off x="6792686" y="5937662"/>
            <a:ext cx="4667002" cy="52322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6% more profitable and 5% more productive</a:t>
            </a:r>
            <a:r>
              <a:rPr b="0" i="0" lang="en-US" sz="1600" u="none" cap="none" strike="noStrike">
                <a:solidFill>
                  <a:srgbClr val="000000"/>
                </a:solidFill>
                <a:latin typeface="Arial"/>
                <a:ea typeface="Arial"/>
                <a:cs typeface="Arial"/>
                <a:sym typeface="Arial"/>
              </a:rPr>
              <a:t>”</a:t>
            </a:r>
            <a:endParaRPr/>
          </a:p>
          <a:p>
            <a:pPr indent="0" lvl="0" marL="0" marR="0" rtl="0" algn="r">
              <a:lnSpc>
                <a:spcPct val="100000"/>
              </a:lnSpc>
              <a:spcBef>
                <a:spcPts val="0"/>
              </a:spcBef>
              <a:spcAft>
                <a:spcPts val="0"/>
              </a:spcAft>
              <a:buNone/>
            </a:pPr>
            <a:r>
              <a:rPr b="0" i="1" lang="en-US" sz="1200" u="none" cap="none" strike="noStrike">
                <a:solidFill>
                  <a:srgbClr val="000000"/>
                </a:solidFill>
                <a:latin typeface="Arial"/>
                <a:ea typeface="Arial"/>
                <a:cs typeface="Arial"/>
                <a:sym typeface="Arial"/>
              </a:rPr>
              <a:t>Research from MIT Center of Digital Business</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8" name="Shape 1598"/>
        <p:cNvGrpSpPr/>
        <p:nvPr/>
      </p:nvGrpSpPr>
      <p:grpSpPr>
        <a:xfrm>
          <a:off x="0" y="0"/>
          <a:ext cx="0" cy="0"/>
          <a:chOff x="0" y="0"/>
          <a:chExt cx="0" cy="0"/>
        </a:xfrm>
      </p:grpSpPr>
      <p:sp>
        <p:nvSpPr>
          <p:cNvPr id="1599" name="Google Shape;1599;p19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0" name="Google Shape;1600;p196"/>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1" name="Google Shape;1601;p196"/>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2" name="Google Shape;1602;p196"/>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3" name="Google Shape;1603;p196"/>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04" name="Google Shape;1604;p19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What Makes A Digital Company</a:t>
            </a:r>
            <a:endParaRPr/>
          </a:p>
        </p:txBody>
      </p:sp>
      <p:sp>
        <p:nvSpPr>
          <p:cNvPr id="1605" name="Google Shape;1605;p19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t>Data-driven decision making</a:t>
            </a:r>
            <a:endParaRPr/>
          </a:p>
          <a:p>
            <a:pPr indent="-342900" lvl="0" marL="457200" rtl="0" algn="l">
              <a:lnSpc>
                <a:spcPct val="90000"/>
              </a:lnSpc>
              <a:spcBef>
                <a:spcPts val="1000"/>
              </a:spcBef>
              <a:spcAft>
                <a:spcPts val="0"/>
              </a:spcAft>
              <a:buClr>
                <a:schemeClr val="dk1"/>
              </a:buClr>
              <a:buSzPts val="1800"/>
              <a:buChar char="•"/>
            </a:pPr>
            <a:r>
              <a:rPr lang="en-US" sz="2400"/>
              <a:t>Relentless experimentation (e.g A/B testing)</a:t>
            </a:r>
            <a:endParaRPr/>
          </a:p>
          <a:p>
            <a:pPr indent="-342900" lvl="0" marL="457200" rtl="0" algn="l">
              <a:lnSpc>
                <a:spcPct val="90000"/>
              </a:lnSpc>
              <a:spcBef>
                <a:spcPts val="1000"/>
              </a:spcBef>
              <a:spcAft>
                <a:spcPts val="0"/>
              </a:spcAft>
              <a:buClr>
                <a:schemeClr val="dk1"/>
              </a:buClr>
              <a:buSzPts val="1800"/>
              <a:buChar char="•"/>
            </a:pPr>
            <a:r>
              <a:rPr lang="en-US" sz="2400"/>
              <a:t>Short feedback cycles</a:t>
            </a:r>
            <a:endParaRPr/>
          </a:p>
          <a:p>
            <a:pPr indent="-342900" lvl="0" marL="457200" rtl="0" algn="l">
              <a:lnSpc>
                <a:spcPct val="90000"/>
              </a:lnSpc>
              <a:spcBef>
                <a:spcPts val="1000"/>
              </a:spcBef>
              <a:spcAft>
                <a:spcPts val="0"/>
              </a:spcAft>
              <a:buClr>
                <a:schemeClr val="dk1"/>
              </a:buClr>
              <a:buSzPts val="1800"/>
              <a:buChar char="•"/>
            </a:pPr>
            <a:r>
              <a:rPr lang="en-US" sz="2400"/>
              <a:t>Decision making pushed down in organization</a:t>
            </a:r>
            <a:endParaRPr/>
          </a:p>
          <a:p>
            <a:pPr indent="-342900" lvl="0" marL="457200" rtl="0" algn="l">
              <a:lnSpc>
                <a:spcPct val="90000"/>
              </a:lnSpc>
              <a:spcBef>
                <a:spcPts val="1000"/>
              </a:spcBef>
              <a:spcAft>
                <a:spcPts val="0"/>
              </a:spcAft>
              <a:buClr>
                <a:schemeClr val="dk1"/>
              </a:buClr>
              <a:buSzPts val="1800"/>
              <a:buChar char="•"/>
            </a:pPr>
            <a:r>
              <a:rPr lang="en-US" sz="2400"/>
              <a:t>Strategic data collection</a:t>
            </a:r>
            <a:endParaRPr/>
          </a:p>
          <a:p>
            <a:pPr indent="-342900" lvl="0" marL="457200" rtl="0" algn="l">
              <a:lnSpc>
                <a:spcPct val="90000"/>
              </a:lnSpc>
              <a:spcBef>
                <a:spcPts val="1000"/>
              </a:spcBef>
              <a:spcAft>
                <a:spcPts val="0"/>
              </a:spcAft>
              <a:buClr>
                <a:schemeClr val="dk1"/>
              </a:buClr>
              <a:buSzPts val="1800"/>
              <a:buChar char="•"/>
            </a:pPr>
            <a:r>
              <a:rPr lang="en-US" sz="2400"/>
              <a:t>Unified data warehouse</a:t>
            </a:r>
            <a:endParaRPr/>
          </a:p>
          <a:p>
            <a:pPr indent="-342900" lvl="0" marL="457200" rtl="0" algn="l">
              <a:lnSpc>
                <a:spcPct val="90000"/>
              </a:lnSpc>
              <a:spcBef>
                <a:spcPts val="1000"/>
              </a:spcBef>
              <a:spcAft>
                <a:spcPts val="0"/>
              </a:spcAft>
              <a:buClr>
                <a:schemeClr val="dk1"/>
              </a:buClr>
              <a:buSzPts val="1800"/>
              <a:buChar char="•"/>
            </a:pPr>
            <a:r>
              <a:rPr lang="en-US" sz="2400"/>
              <a:t>Pervasive use of AI automation</a:t>
            </a:r>
            <a:endParaRPr/>
          </a:p>
          <a:p>
            <a:pPr indent="-228600" lvl="0" marL="457200" rtl="0" algn="l">
              <a:lnSpc>
                <a:spcPct val="90000"/>
              </a:lnSpc>
              <a:spcBef>
                <a:spcPts val="1000"/>
              </a:spcBef>
              <a:spcAft>
                <a:spcPts val="0"/>
              </a:spcAft>
              <a:buClr>
                <a:schemeClr val="dk1"/>
              </a:buClr>
              <a:buSzPts val="1800"/>
              <a:buNone/>
            </a:pPr>
            <a:r>
              <a:t/>
            </a:r>
            <a:endParaRPr sz="2400"/>
          </a:p>
          <a:p>
            <a:pPr indent="-228600" lvl="0" marL="457200" rtl="0" algn="l">
              <a:lnSpc>
                <a:spcPct val="90000"/>
              </a:lnSpc>
              <a:spcBef>
                <a:spcPts val="1000"/>
              </a:spcBef>
              <a:spcAft>
                <a:spcPts val="0"/>
              </a:spcAft>
              <a:buClr>
                <a:schemeClr val="dk1"/>
              </a:buClr>
              <a:buSzPts val="1800"/>
              <a:buNone/>
            </a:pPr>
            <a:r>
              <a:t/>
            </a:r>
            <a:endParaRPr sz="2400"/>
          </a:p>
          <a:p>
            <a:pPr indent="-228600" lvl="0" marL="457200" rtl="0" algn="l">
              <a:lnSpc>
                <a:spcPct val="90000"/>
              </a:lnSpc>
              <a:spcBef>
                <a:spcPts val="1000"/>
              </a:spcBef>
              <a:spcAft>
                <a:spcPts val="0"/>
              </a:spcAft>
              <a:buClr>
                <a:schemeClr val="dk1"/>
              </a:buClr>
              <a:buSzPts val="1800"/>
              <a:buNone/>
            </a:pPr>
            <a:r>
              <a:t/>
            </a:r>
            <a:endParaRPr sz="2400"/>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9" name="Shape 1609"/>
        <p:cNvGrpSpPr/>
        <p:nvPr/>
      </p:nvGrpSpPr>
      <p:grpSpPr>
        <a:xfrm>
          <a:off x="0" y="0"/>
          <a:ext cx="0" cy="0"/>
          <a:chOff x="0" y="0"/>
          <a:chExt cx="0" cy="0"/>
        </a:xfrm>
      </p:grpSpPr>
      <p:sp>
        <p:nvSpPr>
          <p:cNvPr id="1610" name="Google Shape;1610;p19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11" name="Google Shape;1611;p197"/>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12" name="Google Shape;1612;p197"/>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13" name="Google Shape;1613;p197"/>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14" name="Google Shape;1614;p197"/>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15" name="Google Shape;1615;p1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a:p>
        </p:txBody>
      </p:sp>
      <p:pic>
        <p:nvPicPr>
          <p:cNvPr id="1616" name="Google Shape;1616;p197"/>
          <p:cNvPicPr preferRelativeResize="0"/>
          <p:nvPr/>
        </p:nvPicPr>
        <p:blipFill rotWithShape="1">
          <a:blip r:embed="rId3">
            <a:alphaModFix/>
          </a:blip>
          <a:srcRect b="0" l="0" r="0" t="0"/>
          <a:stretch/>
        </p:blipFill>
        <p:spPr>
          <a:xfrm>
            <a:off x="-1" y="-20120"/>
            <a:ext cx="12192002" cy="6878120"/>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0" name="Shape 1620"/>
        <p:cNvGrpSpPr/>
        <p:nvPr/>
      </p:nvGrpSpPr>
      <p:grpSpPr>
        <a:xfrm>
          <a:off x="0" y="0"/>
          <a:ext cx="0" cy="0"/>
          <a:chOff x="0" y="0"/>
          <a:chExt cx="0" cy="0"/>
        </a:xfrm>
      </p:grpSpPr>
      <p:sp>
        <p:nvSpPr>
          <p:cNvPr id="1621" name="Google Shape;1621;p19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22" name="Google Shape;1622;p198"/>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23" name="Google Shape;1623;p198"/>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24" name="Google Shape;1624;p198"/>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25" name="Google Shape;1625;p198"/>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26" name="Google Shape;1626;p198"/>
          <p:cNvSpPr txBox="1"/>
          <p:nvPr>
            <p:ph type="title"/>
          </p:nvPr>
        </p:nvSpPr>
        <p:spPr>
          <a:xfrm>
            <a:off x="838200" y="365125"/>
            <a:ext cx="3812675" cy="59497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solidFill>
                  <a:schemeClr val="accent1"/>
                </a:solidFill>
              </a:rPr>
              <a:t>Use-case</a:t>
            </a:r>
            <a:endParaRPr/>
          </a:p>
        </p:txBody>
      </p:sp>
      <p:pic>
        <p:nvPicPr>
          <p:cNvPr descr="A screenshot of a cell phone&#10;&#10;Description automatically generated" id="1627" name="Google Shape;1627;p198"/>
          <p:cNvPicPr preferRelativeResize="0"/>
          <p:nvPr/>
        </p:nvPicPr>
        <p:blipFill rotWithShape="1">
          <a:blip r:embed="rId3">
            <a:alphaModFix/>
          </a:blip>
          <a:srcRect b="0" l="0" r="0" t="0"/>
          <a:stretch/>
        </p:blipFill>
        <p:spPr>
          <a:xfrm>
            <a:off x="5128733" y="394010"/>
            <a:ext cx="6225067" cy="6225067"/>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1" name="Shape 1631"/>
        <p:cNvGrpSpPr/>
        <p:nvPr/>
      </p:nvGrpSpPr>
      <p:grpSpPr>
        <a:xfrm>
          <a:off x="0" y="0"/>
          <a:ext cx="0" cy="0"/>
          <a:chOff x="0" y="0"/>
          <a:chExt cx="0" cy="0"/>
        </a:xfrm>
      </p:grpSpPr>
      <p:sp>
        <p:nvSpPr>
          <p:cNvPr id="1632" name="Google Shape;1632;p19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633" name="Google Shape;1633;p199"/>
          <p:cNvPicPr preferRelativeResize="0"/>
          <p:nvPr/>
        </p:nvPicPr>
        <p:blipFill rotWithShape="1">
          <a:blip r:embed="rId3">
            <a:alphaModFix amt="40000"/>
          </a:blip>
          <a:srcRect b="-1" l="0" r="2130" t="0"/>
          <a:stretch/>
        </p:blipFill>
        <p:spPr>
          <a:xfrm>
            <a:off x="1341409" y="2566620"/>
            <a:ext cx="9630529" cy="5415280"/>
          </a:xfrm>
          <a:prstGeom prst="rect">
            <a:avLst/>
          </a:prstGeom>
          <a:noFill/>
          <a:ln>
            <a:noFill/>
          </a:ln>
          <a:effectLst>
            <a:outerShdw sx="1000" rotWithShape="0" algn="ctr" dir="5400000" dist="50800" sy="1000">
              <a:schemeClr val="lt1">
                <a:alpha val="0"/>
              </a:schemeClr>
            </a:outerShdw>
            <a:reflection blurRad="0" dir="5400000" dist="50800" endA="0" endPos="65000" fadeDir="5400000" kx="0" rotWithShape="0" algn="bl" stA="97000" stPos="0" sy="-100000" ky="0"/>
          </a:effectLst>
        </p:spPr>
      </p:pic>
      <p:sp>
        <p:nvSpPr>
          <p:cNvPr id="1634" name="Google Shape;1634;p199"/>
          <p:cNvSpPr txBox="1"/>
          <p:nvPr>
            <p:ph type="title"/>
          </p:nvPr>
        </p:nvSpPr>
        <p:spPr>
          <a:xfrm>
            <a:off x="3528907" y="1442720"/>
            <a:ext cx="3542453" cy="91269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solidFill>
                  <a:schemeClr val="accent1"/>
                </a:solidFill>
              </a:rPr>
              <a:t>Thank you</a:t>
            </a:r>
            <a:endParaRPr/>
          </a:p>
        </p:txBody>
      </p:sp>
      <p:sp>
        <p:nvSpPr>
          <p:cNvPr id="1635" name="Google Shape;1635;p199"/>
          <p:cNvSpPr/>
          <p:nvPr/>
        </p:nvSpPr>
        <p:spPr>
          <a:xfrm rot="2700000">
            <a:off x="11052629" y="2120024"/>
            <a:ext cx="645368" cy="645368"/>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36" name="Google Shape;1636;p199"/>
          <p:cNvSpPr/>
          <p:nvPr/>
        </p:nvSpPr>
        <p:spPr>
          <a:xfrm rot="-5400000">
            <a:off x="10289068" y="1343027"/>
            <a:ext cx="2532832" cy="1273032"/>
          </a:xfrm>
          <a:prstGeom prst="triangle">
            <a:avLst>
              <a:gd fmla="val 50000" name="adj"/>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37" name="Google Shape;1637;p199"/>
          <p:cNvSpPr/>
          <p:nvPr/>
        </p:nvSpPr>
        <p:spPr>
          <a:xfrm rot="5400000">
            <a:off x="-501760" y="5103257"/>
            <a:ext cx="2017580" cy="1014060"/>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38" name="Google Shape;1638;p199"/>
          <p:cNvSpPr/>
          <p:nvPr/>
        </p:nvSpPr>
        <p:spPr>
          <a:xfrm rot="2700000">
            <a:off x="427916" y="5728708"/>
            <a:ext cx="485578" cy="48557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Smiling face with no fill" id="1639" name="Google Shape;1639;p199"/>
          <p:cNvPicPr preferRelativeResize="0"/>
          <p:nvPr/>
        </p:nvPicPr>
        <p:blipFill rotWithShape="1">
          <a:blip r:embed="rId4">
            <a:alphaModFix/>
          </a:blip>
          <a:srcRect b="0" l="0" r="0" t="0"/>
          <a:stretch/>
        </p:blipFill>
        <p:spPr>
          <a:xfrm>
            <a:off x="6614160" y="1362092"/>
            <a:ext cx="914400" cy="914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2020-07-10T02:28:35Z</dcterms:created>
  <dc:creator>Nham Cung Dinh(DinhNC)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550b433-701f-4307-b53a-1ac34aad3d23_Enabled">
    <vt:lpwstr>True</vt:lpwstr>
  </property>
  <property fmtid="{D5CDD505-2E9C-101B-9397-08002B2CF9AE}" pid="3" name="MSIP_Label_c550b433-701f-4307-b53a-1ac34aad3d23_SiteId">
    <vt:lpwstr>76529cbb-482f-4415-b366-251e1c034e34</vt:lpwstr>
  </property>
  <property fmtid="{D5CDD505-2E9C-101B-9397-08002B2CF9AE}" pid="4" name="MSIP_Label_c550b433-701f-4307-b53a-1ac34aad3d23_Owner">
    <vt:lpwstr>dinhnc@techvn.mti.co.jp</vt:lpwstr>
  </property>
  <property fmtid="{D5CDD505-2E9C-101B-9397-08002B2CF9AE}" pid="5" name="MSIP_Label_c550b433-701f-4307-b53a-1ac34aad3d23_SetDate">
    <vt:lpwstr>2020-07-10T02:28:48.8181660Z</vt:lpwstr>
  </property>
  <property fmtid="{D5CDD505-2E9C-101B-9397-08002B2CF9AE}" pid="6" name="MSIP_Label_c550b433-701f-4307-b53a-1ac34aad3d23_Name">
    <vt:lpwstr>Public</vt:lpwstr>
  </property>
  <property fmtid="{D5CDD505-2E9C-101B-9397-08002B2CF9AE}" pid="7" name="MSIP_Label_c550b433-701f-4307-b53a-1ac34aad3d23_Application">
    <vt:lpwstr>Microsoft Azure Information Protection</vt:lpwstr>
  </property>
  <property fmtid="{D5CDD505-2E9C-101B-9397-08002B2CF9AE}" pid="8" name="MSIP_Label_c550b433-701f-4307-b53a-1ac34aad3d23_ActionId">
    <vt:lpwstr>08198e48-6820-4cf8-84f6-92eb8d632063</vt:lpwstr>
  </property>
  <property fmtid="{D5CDD505-2E9C-101B-9397-08002B2CF9AE}" pid="9" name="MSIP_Label_c550b433-701f-4307-b53a-1ac34aad3d23_Extended_MSFT_Method">
    <vt:lpwstr>Manual</vt:lpwstr>
  </property>
  <property fmtid="{D5CDD505-2E9C-101B-9397-08002B2CF9AE}" pid="10" name="Sensitivity">
    <vt:lpwstr>Public</vt:lpwstr>
  </property>
  <property fmtid="{D5CDD505-2E9C-101B-9397-08002B2CF9AE}" pid="11" name="ContentTypeId">
    <vt:lpwstr>0x01010002ACBEF88BD6E548AD423640D1764E15</vt:lpwstr>
  </property>
</Properties>
</file>